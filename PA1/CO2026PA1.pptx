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handoutMasterIdLst>
    <p:handoutMasterId r:id="rId25"/>
  </p:handoutMasterIdLst>
  <p:sldIdLst>
    <p:sldId id="268" r:id="rId2"/>
    <p:sldId id="283" r:id="rId3"/>
    <p:sldId id="269" r:id="rId4"/>
    <p:sldId id="270" r:id="rId5"/>
    <p:sldId id="271" r:id="rId6"/>
    <p:sldId id="273" r:id="rId7"/>
    <p:sldId id="256" r:id="rId8"/>
    <p:sldId id="258" r:id="rId9"/>
    <p:sldId id="259" r:id="rId10"/>
    <p:sldId id="261" r:id="rId11"/>
    <p:sldId id="262" r:id="rId12"/>
    <p:sldId id="277" r:id="rId13"/>
    <p:sldId id="265" r:id="rId14"/>
    <p:sldId id="278" r:id="rId15"/>
    <p:sldId id="263" r:id="rId16"/>
    <p:sldId id="264" r:id="rId17"/>
    <p:sldId id="279" r:id="rId18"/>
    <p:sldId id="267" r:id="rId19"/>
    <p:sldId id="266" r:id="rId20"/>
    <p:sldId id="275" r:id="rId21"/>
    <p:sldId id="276" r:id="rId22"/>
    <p:sldId id="280" r:id="rId2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BDAFA"/>
    <a:srgbClr val="E5CFF9"/>
    <a:srgbClr val="FF7171"/>
    <a:srgbClr val="FF8B8B"/>
    <a:srgbClr val="FFC5C5"/>
    <a:srgbClr val="FF9F9F"/>
    <a:srgbClr val="CAFEF0"/>
    <a:srgbClr val="B1FDE9"/>
    <a:srgbClr val="FF4343"/>
    <a:srgbClr val="FFD5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1032" y="84"/>
      </p:cViewPr>
      <p:guideLst/>
    </p:cSldViewPr>
  </p:slid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100" d="100"/>
        <a:sy n="100" d="100"/>
      </p:scale>
      <p:origin x="0" y="-235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357C7B71-830B-133A-20FE-6E6CA2FE19F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AAF913F3-4DCF-6B5C-EC22-7BDA043B3FD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5759C9-3757-4E5F-A6FD-4E4D6990A365}" type="datetimeFigureOut">
              <a:rPr lang="zh-TW" altLang="en-US" smtClean="0"/>
              <a:t>2026/3/19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137CE81D-910E-518E-A8DA-D067C76168E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6C7C45FB-588D-DC4D-7CD9-1BF76094ECF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6C46F8-97F8-4354-991C-A92C0DC88A1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0428177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BE3937-A001-4F5F-B9D4-F33635134542}" type="datetimeFigureOut">
              <a:rPr lang="zh-TW" altLang="en-US" smtClean="0"/>
              <a:t>2026/3/19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98AD94-21E8-432C-8B8C-B8BFD44753C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6849390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0CFB758B-F753-2217-5C45-025B12FAE7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98AD94-21E8-432C-8B8C-B8BFD44753C7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735401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5DBE9E-6AD0-7B97-DAA4-EE38A8C660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4A44E45-A6B7-E581-D663-0B7C906290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782759FF-6995-3171-D64A-92B1C8E156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A9A915C5-46E4-8929-5CD7-57E6271FCD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98AD94-21E8-432C-8B8C-B8BFD44753C7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626330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EE1993-35D9-5DE7-0E37-919EEE53BF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809C80AA-A607-6B48-C818-C5C2EF65A8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CAA0802-C6DD-1E46-0776-AE0EC5D54D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9ECA302-8040-02B7-799C-129D451792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98AD94-21E8-432C-8B8C-B8BFD44753C7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831100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72C76A-CAF1-E9B1-D646-A7A1C23A60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CEEDA25-2031-D3C2-83C9-055F7F616D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17E5D6B8-4A82-63D2-6F2A-534205AACE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EAA901EA-BF69-2D9A-6764-F4A5439347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98AD94-21E8-432C-8B8C-B8BFD44753C7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892507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98AD94-21E8-432C-8B8C-B8BFD44753C7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99552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98AD94-21E8-432C-8B8C-B8BFD44753C7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103330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98AD94-21E8-432C-8B8C-B8BFD44753C7}" type="slidenum">
              <a:rPr lang="zh-TW" altLang="en-US" smtClean="0"/>
              <a:t>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97478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98AD94-21E8-432C-8B8C-B8BFD44753C7}" type="slidenum">
              <a:rPr lang="zh-TW" altLang="en-US" smtClean="0"/>
              <a:t>22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964785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D2B07B5-BF61-8B3D-2E55-276267B0F4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F9745588-9AE0-6FC4-BA27-5D75F1B987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ED9F145-5362-7B20-C0AC-D64C735F2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D17BE-A98A-42E7-AC02-05F869E77ABF}" type="datetime1">
              <a:rPr lang="zh-TW" altLang="en-US" smtClean="0"/>
              <a:t>2026/3/19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8748DFB-5693-FD42-143D-13FE72F54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10A40F5-EE5A-59D2-CDA7-11C992C7A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3C46D-CB0F-4644-9DD9-8F746F03420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031791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F29BCC6-836F-DC89-3791-5F78879CA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1F58F22-D6DA-F5B1-53D5-0F65A58514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9ADEF33-DF5C-F2B5-2330-AEB4EB0690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BD0A2-FDEB-4B0A-BD9C-9D3B6A5022D8}" type="datetime1">
              <a:rPr lang="zh-TW" altLang="en-US" smtClean="0"/>
              <a:t>2026/3/19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9AF472E-17E6-855A-2F04-79AC0CB05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42D3847-9512-46EC-3BD1-9F02BCC98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3C46D-CB0F-4644-9DD9-8F746F03420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075215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70C8BE-CFB5-64A1-A9FA-8C3A136F5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5257830-705A-17F3-B672-0DE9B1771E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7090C89-1DAE-4676-C2AB-090D4FB2D7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BFFC4-6B0C-4357-958E-CED705DA512B}" type="datetime1">
              <a:rPr lang="zh-TW" altLang="en-US" smtClean="0"/>
              <a:t>2026/3/19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C58D7F5-DEFD-C1AB-65A6-0EFEBB4FE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A2DC76B-7CA6-38BB-8FFC-A32F51AA7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3C46D-CB0F-4644-9DD9-8F746F03420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50590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C6E7D3E-7B9F-14C9-FD0D-AD99C4DA6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834776B-A8E0-EC4E-270C-198AB61E60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1D63AC6-B19C-59F7-E06A-2D8EBE545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336E81B-2FE5-6D5A-1F75-A1C9E2D9E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D518D-55EB-4537-A869-E92CB8F9BA95}" type="datetime1">
              <a:rPr lang="zh-TW" altLang="en-US" smtClean="0"/>
              <a:t>2026/3/19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715434A-386C-94C8-3A22-3C79606BF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A753CBE-C062-5BB8-256C-A8498B808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3C46D-CB0F-4644-9DD9-8F746F03420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153099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A7A41CC-ECDF-87EA-9DC1-717EE5F05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E648156-4D30-5058-98FB-65EFA5EA6F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5E5A01E-8425-DC27-123C-4665080CB4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C84DA528-4B15-EEE8-DCF1-675108E12F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DE870D94-5070-2A14-D596-1F4BE0ABC4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5CECEC72-340B-7986-DBB6-A9A3FB591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860AF-344E-4DD4-B8B9-66D0398A5022}" type="datetime1">
              <a:rPr lang="zh-TW" altLang="en-US" smtClean="0"/>
              <a:t>2026/3/19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D09F4517-2EAD-71DB-E9D7-84F9D0E39E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ADC545AF-D8FE-2DB4-E741-CFBF75AEF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3C46D-CB0F-4644-9DD9-8F746F03420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27874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8ABCD71-7250-BC57-1D20-084E18FAD1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3AE677B6-5C8A-DEEC-0D7E-67213C3DE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32242-6D76-4574-8848-5FF4C83E0579}" type="datetime1">
              <a:rPr lang="zh-TW" altLang="en-US" smtClean="0"/>
              <a:t>2026/3/19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070485BB-E922-20CE-C975-CAD70840A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3449738C-8F5A-086C-F274-D134C48E1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3C46D-CB0F-4644-9DD9-8F746F03420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959452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E415C093-C310-FF4B-46BD-5426C7656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6A962-6748-4761-8010-62AEF2E0E574}" type="datetime1">
              <a:rPr lang="zh-TW" altLang="en-US" smtClean="0"/>
              <a:t>2026/3/19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804146F3-3A58-85F9-6C60-18FF39CDD3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C5D070D-E8F7-9454-1B1A-114722E7C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3C46D-CB0F-4644-9DD9-8F746F03420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409254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86DF3DD-1E59-DC72-6D5B-F4E4DC73A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2CC80F2-5782-23A9-7EBC-00B5194249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E592FA9E-0E18-6BAD-A966-7D6565F77F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FFC781B-0ABD-D741-BB54-C504A0B966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02B7C-00F1-47EB-8024-1C1C42324D60}" type="datetime1">
              <a:rPr lang="zh-TW" altLang="en-US" smtClean="0"/>
              <a:t>2026/3/19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ED4BD1F-689A-4BB6-EC1F-20D908DCFC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5A8FF60-E084-6519-01AC-DF8DD6433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3C46D-CB0F-4644-9DD9-8F746F03420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58292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C77B67B-3AF5-03CB-13AD-54BEC0FF4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4627EB98-DB89-75F3-2EAE-E833FF4D1C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EB5B9A16-A684-3F09-92BC-FD9972E079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453BDE9-0CC1-E900-76DF-FAC55F72E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3510D-07AF-44A2-9FB3-4EE47B47D5AA}" type="datetime1">
              <a:rPr lang="zh-TW" altLang="en-US" smtClean="0"/>
              <a:t>2026/3/19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EAB8157-E7CF-630B-C7CD-99DC27867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BDDAFDC-62E3-1F7D-0EF5-2C4935EEA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3C46D-CB0F-4644-9DD9-8F746F03420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665454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6659775-29B0-888F-6DC1-F3B04629D7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AD7615A9-6800-3331-E81A-2BD8206363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35B5316-F304-6817-16C4-D21E75AF2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729F6-5087-4750-9F92-7B6688AE7AE1}" type="datetime1">
              <a:rPr lang="zh-TW" altLang="en-US" smtClean="0"/>
              <a:t>2026/3/19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51B3A64-4956-BEAA-A4ED-F089B8B92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927AC6C-C47A-F915-07AC-0ACBAA40E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3C46D-CB0F-4644-9DD9-8F746F03420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972808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8656B9E9-4925-4966-7F87-B60CE5BC14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0F800B33-22D5-2EDF-D274-4BC5E92EDE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D677E2B-CD5D-D410-5A3B-C9140B8EB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9C13B-F4B3-4D3B-907E-C8594F6A8854}" type="datetime1">
              <a:rPr lang="zh-TW" altLang="en-US" smtClean="0"/>
              <a:t>2026/3/19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9FC8E9E-A191-5FD8-7DBA-B252AD740D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4BFC290-E3F2-B756-AA73-8DE633E6F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3C46D-CB0F-4644-9DD9-8F746F03420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908053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C99687CD-704D-3D6F-3604-6F51F8608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0704AB5-D5E2-0156-68BF-29C9F6B358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FB5EBDD-E424-B6F4-FE86-3F084E37C6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DA80B1-CA82-412B-9F9F-CE27FF1607D1}" type="datetime1">
              <a:rPr lang="zh-TW" altLang="en-US" smtClean="0"/>
              <a:t>2026/3/19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839E356-5521-96F0-19B1-A12331B7C3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C58B251-F9B7-E129-CF76-0FE7A26C6B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33C46D-CB0F-4644-9DD9-8F746F03420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067730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13E44A1A-1B2D-567C-21A1-F4BAE206528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TW" sz="4800" b="1" dirty="0"/>
              <a:t>Computer Organization 2026</a:t>
            </a:r>
            <a:br>
              <a:rPr lang="en-US" altLang="zh-TW" sz="4800" b="1" dirty="0"/>
            </a:br>
            <a:r>
              <a:rPr lang="en-US" altLang="zh-TW" sz="4800" b="1" dirty="0"/>
              <a:t>Quiz 1 &amp; Programming Assessment I</a:t>
            </a:r>
            <a:endParaRPr lang="zh-TW" altLang="en-US" sz="4800" b="1" dirty="0"/>
          </a:p>
        </p:txBody>
      </p:sp>
      <p:sp>
        <p:nvSpPr>
          <p:cNvPr id="6" name="副標題 5">
            <a:extLst>
              <a:ext uri="{FF2B5EF4-FFF2-40B4-BE49-F238E27FC236}">
                <a16:creationId xmlns:a16="http://schemas.microsoft.com/office/drawing/2014/main" id="{FB832B64-362A-3128-D764-FE5AF066539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/>
              <a:t>Announce date: 2026.3.19</a:t>
            </a:r>
          </a:p>
          <a:p>
            <a:r>
              <a:rPr lang="en-US" altLang="zh-TW" dirty="0"/>
              <a:t>Assessment date: 2026.3.26 &amp; 2026.3.27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4B23AA5-BFF7-CF2D-B2EC-E473D84B0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3C46D-CB0F-4644-9DD9-8F746F034205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126270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1B0DD33-2A85-F5D1-F426-314C3B353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Quiz1</a:t>
            </a:r>
            <a:r>
              <a:rPr lang="zh-TW" altLang="en-US" b="1" dirty="0"/>
              <a:t> </a:t>
            </a:r>
            <a:r>
              <a:rPr lang="en-US" altLang="zh-TW" b="1" dirty="0"/>
              <a:t>Overview</a:t>
            </a:r>
            <a:endParaRPr lang="zh-TW" altLang="en-US" b="1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CFA7A89-0839-28F4-CEAA-C6143BE60D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Date: 3/26 </a:t>
            </a:r>
          </a:p>
          <a:p>
            <a:r>
              <a:rPr lang="en-US" altLang="zh-TW" dirty="0"/>
              <a:t>Time: 09:00 - 09:30</a:t>
            </a:r>
          </a:p>
          <a:p>
            <a:r>
              <a:rPr lang="en-US" altLang="zh-TW" dirty="0"/>
              <a:t>Rooms: A1302</a:t>
            </a:r>
            <a:r>
              <a:rPr lang="zh-TW" altLang="en-US" dirty="0"/>
              <a:t> </a:t>
            </a:r>
            <a:r>
              <a:rPr lang="en-US" altLang="zh-TW" dirty="0"/>
              <a:t>(For 3/27</a:t>
            </a:r>
            <a:r>
              <a:rPr lang="zh-TW" altLang="en-US" dirty="0"/>
              <a:t> </a:t>
            </a:r>
            <a:r>
              <a:rPr lang="en-US" altLang="zh-TW" dirty="0"/>
              <a:t>PA1</a:t>
            </a:r>
            <a:r>
              <a:rPr lang="zh-TW" altLang="en-US" dirty="0"/>
              <a:t> </a:t>
            </a:r>
            <a:r>
              <a:rPr lang="en-US" altLang="zh-TW" dirty="0"/>
              <a:t>Students), 65203, 65304</a:t>
            </a:r>
          </a:p>
          <a:p>
            <a:r>
              <a:rPr lang="en-US" altLang="zh-TW" dirty="0"/>
              <a:t>Regardless of whether your PA1 is on 3/26 or 3/27, </a:t>
            </a:r>
            <a:r>
              <a:rPr lang="en-US" altLang="zh-TW" b="1" dirty="0"/>
              <a:t>all must attend Quiz1 on 3/26</a:t>
            </a:r>
            <a:r>
              <a:rPr lang="en-US" altLang="zh-TW" dirty="0"/>
              <a:t>.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60F3045-926C-EB5B-F62B-C5E338403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3C46D-CB0F-4644-9DD9-8F746F034205}" type="slidenum">
              <a:rPr lang="zh-TW" altLang="en-US" smtClean="0"/>
              <a:t>2</a:t>
            </a:fld>
            <a:endParaRPr lang="zh-TW" altLang="en-US"/>
          </a:p>
        </p:txBody>
      </p:sp>
      <p:grpSp>
        <p:nvGrpSpPr>
          <p:cNvPr id="37" name="群組 36">
            <a:extLst>
              <a:ext uri="{FF2B5EF4-FFF2-40B4-BE49-F238E27FC236}">
                <a16:creationId xmlns:a16="http://schemas.microsoft.com/office/drawing/2014/main" id="{F358A4A4-8E3B-A71B-36B7-9CBC272653A8}"/>
              </a:ext>
            </a:extLst>
          </p:cNvPr>
          <p:cNvGrpSpPr/>
          <p:nvPr/>
        </p:nvGrpSpPr>
        <p:grpSpPr>
          <a:xfrm>
            <a:off x="2678210" y="4631055"/>
            <a:ext cx="6835579" cy="1253648"/>
            <a:chOff x="1187546" y="4985016"/>
            <a:chExt cx="6835579" cy="1253648"/>
          </a:xfrm>
        </p:grpSpPr>
        <p:sp>
          <p:nvSpPr>
            <p:cNvPr id="5" name="矩形: 圓角 4">
              <a:extLst>
                <a:ext uri="{FF2B5EF4-FFF2-40B4-BE49-F238E27FC236}">
                  <a16:creationId xmlns:a16="http://schemas.microsoft.com/office/drawing/2014/main" id="{AF194D01-591C-6987-2C93-F86F97F7CFBA}"/>
                </a:ext>
              </a:extLst>
            </p:cNvPr>
            <p:cNvSpPr/>
            <p:nvPr/>
          </p:nvSpPr>
          <p:spPr>
            <a:xfrm>
              <a:off x="2672766" y="5533736"/>
              <a:ext cx="516187" cy="100720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6" name="矩形: 圓角 5">
              <a:extLst>
                <a:ext uri="{FF2B5EF4-FFF2-40B4-BE49-F238E27FC236}">
                  <a16:creationId xmlns:a16="http://schemas.microsoft.com/office/drawing/2014/main" id="{4DEAE439-BC01-A415-718C-20D1DC6951F2}"/>
                </a:ext>
              </a:extLst>
            </p:cNvPr>
            <p:cNvSpPr/>
            <p:nvPr/>
          </p:nvSpPr>
          <p:spPr>
            <a:xfrm>
              <a:off x="2068080" y="5533736"/>
              <a:ext cx="516191" cy="110268"/>
            </a:xfrm>
            <a:prstGeom prst="roundRect">
              <a:avLst>
                <a:gd name="adj" fmla="val 50000"/>
              </a:avLst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9" name="文字方塊 8">
              <a:extLst>
                <a:ext uri="{FF2B5EF4-FFF2-40B4-BE49-F238E27FC236}">
                  <a16:creationId xmlns:a16="http://schemas.microsoft.com/office/drawing/2014/main" id="{E4CA3F3D-8A59-D046-87DC-73AFDD7C668A}"/>
                </a:ext>
              </a:extLst>
            </p:cNvPr>
            <p:cNvSpPr txBox="1"/>
            <p:nvPr/>
          </p:nvSpPr>
          <p:spPr>
            <a:xfrm>
              <a:off x="1193690" y="5395921"/>
              <a:ext cx="6351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/>
                <a:t>3/26</a:t>
              </a:r>
              <a:endParaRPr lang="zh-TW" altLang="en-US" b="1" dirty="0"/>
            </a:p>
          </p:txBody>
        </p:sp>
        <p:sp>
          <p:nvSpPr>
            <p:cNvPr id="10" name="文字方塊 9">
              <a:extLst>
                <a:ext uri="{FF2B5EF4-FFF2-40B4-BE49-F238E27FC236}">
                  <a16:creationId xmlns:a16="http://schemas.microsoft.com/office/drawing/2014/main" id="{0C2B7EE9-15B9-9015-1FF5-BD9EA6EA363B}"/>
                </a:ext>
              </a:extLst>
            </p:cNvPr>
            <p:cNvSpPr txBox="1"/>
            <p:nvPr/>
          </p:nvSpPr>
          <p:spPr>
            <a:xfrm>
              <a:off x="1187546" y="5807631"/>
              <a:ext cx="6351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/>
                <a:t>3/27</a:t>
              </a:r>
              <a:endParaRPr lang="zh-TW" altLang="en-US" b="1" dirty="0"/>
            </a:p>
          </p:txBody>
        </p:sp>
        <p:sp>
          <p:nvSpPr>
            <p:cNvPr id="11" name="文字方塊 10">
              <a:extLst>
                <a:ext uri="{FF2B5EF4-FFF2-40B4-BE49-F238E27FC236}">
                  <a16:creationId xmlns:a16="http://schemas.microsoft.com/office/drawing/2014/main" id="{0305C214-6E67-A171-D325-3F18A0F0D3AE}"/>
                </a:ext>
              </a:extLst>
            </p:cNvPr>
            <p:cNvSpPr txBox="1"/>
            <p:nvPr/>
          </p:nvSpPr>
          <p:spPr>
            <a:xfrm>
              <a:off x="2024116" y="4985016"/>
              <a:ext cx="19494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/>
                <a:t>3/26 PA1 Students</a:t>
              </a:r>
              <a:endParaRPr lang="zh-TW" altLang="en-US" b="1" dirty="0"/>
            </a:p>
          </p:txBody>
        </p:sp>
        <p:sp>
          <p:nvSpPr>
            <p:cNvPr id="12" name="文字方塊 11">
              <a:extLst>
                <a:ext uri="{FF2B5EF4-FFF2-40B4-BE49-F238E27FC236}">
                  <a16:creationId xmlns:a16="http://schemas.microsoft.com/office/drawing/2014/main" id="{64CD7F0C-207C-8A30-248B-4BA8589B0963}"/>
                </a:ext>
              </a:extLst>
            </p:cNvPr>
            <p:cNvSpPr txBox="1"/>
            <p:nvPr/>
          </p:nvSpPr>
          <p:spPr>
            <a:xfrm>
              <a:off x="4339613" y="4985016"/>
              <a:ext cx="19494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/>
                <a:t>3/27 PA1 Students</a:t>
              </a:r>
              <a:endParaRPr lang="zh-TW" altLang="en-US" b="1" dirty="0"/>
            </a:p>
          </p:txBody>
        </p:sp>
        <p:cxnSp>
          <p:nvCxnSpPr>
            <p:cNvPr id="14" name="直線接點 13">
              <a:extLst>
                <a:ext uri="{FF2B5EF4-FFF2-40B4-BE49-F238E27FC236}">
                  <a16:creationId xmlns:a16="http://schemas.microsoft.com/office/drawing/2014/main" id="{C8D461EE-3A26-3770-E855-78D5CA8520B0}"/>
                </a:ext>
              </a:extLst>
            </p:cNvPr>
            <p:cNvCxnSpPr>
              <a:cxnSpLocks/>
            </p:cNvCxnSpPr>
            <p:nvPr/>
          </p:nvCxnSpPr>
          <p:spPr>
            <a:xfrm>
              <a:off x="1189703" y="5354348"/>
              <a:ext cx="5270090" cy="0"/>
            </a:xfrm>
            <a:prstGeom prst="line">
              <a:avLst/>
            </a:prstGeom>
            <a:ln w="28575">
              <a:solidFill>
                <a:schemeClr val="bg2">
                  <a:lumMod val="9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線接點 14">
              <a:extLst>
                <a:ext uri="{FF2B5EF4-FFF2-40B4-BE49-F238E27FC236}">
                  <a16:creationId xmlns:a16="http://schemas.microsoft.com/office/drawing/2014/main" id="{7F9C6FC1-5F9C-CAFC-7C77-2A3645AF3611}"/>
                </a:ext>
              </a:extLst>
            </p:cNvPr>
            <p:cNvCxnSpPr>
              <a:cxnSpLocks/>
            </p:cNvCxnSpPr>
            <p:nvPr/>
          </p:nvCxnSpPr>
          <p:spPr>
            <a:xfrm>
              <a:off x="1828800" y="5049341"/>
              <a:ext cx="0" cy="1189323"/>
            </a:xfrm>
            <a:prstGeom prst="line">
              <a:avLst/>
            </a:prstGeom>
            <a:ln w="28575">
              <a:solidFill>
                <a:schemeClr val="bg2">
                  <a:lumMod val="9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線接點 19">
              <a:extLst>
                <a:ext uri="{FF2B5EF4-FFF2-40B4-BE49-F238E27FC236}">
                  <a16:creationId xmlns:a16="http://schemas.microsoft.com/office/drawing/2014/main" id="{68CED20A-2942-7597-81D1-7945E29B6E9D}"/>
                </a:ext>
              </a:extLst>
            </p:cNvPr>
            <p:cNvCxnSpPr>
              <a:cxnSpLocks/>
            </p:cNvCxnSpPr>
            <p:nvPr/>
          </p:nvCxnSpPr>
          <p:spPr>
            <a:xfrm>
              <a:off x="4168876" y="5049341"/>
              <a:ext cx="0" cy="1189323"/>
            </a:xfrm>
            <a:prstGeom prst="line">
              <a:avLst/>
            </a:prstGeom>
            <a:ln w="28575">
              <a:solidFill>
                <a:schemeClr val="bg2">
                  <a:lumMod val="9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6" name="群組 35">
              <a:extLst>
                <a:ext uri="{FF2B5EF4-FFF2-40B4-BE49-F238E27FC236}">
                  <a16:creationId xmlns:a16="http://schemas.microsoft.com/office/drawing/2014/main" id="{A47D6A21-BB19-E0E9-64E7-C11462A52410}"/>
                </a:ext>
              </a:extLst>
            </p:cNvPr>
            <p:cNvGrpSpPr/>
            <p:nvPr/>
          </p:nvGrpSpPr>
          <p:grpSpPr>
            <a:xfrm>
              <a:off x="7042356" y="5294066"/>
              <a:ext cx="980769" cy="369332"/>
              <a:chOff x="7005481" y="5049341"/>
              <a:chExt cx="980769" cy="369332"/>
            </a:xfrm>
          </p:grpSpPr>
          <p:sp>
            <p:nvSpPr>
              <p:cNvPr id="22" name="矩形: 圓角 21">
                <a:extLst>
                  <a:ext uri="{FF2B5EF4-FFF2-40B4-BE49-F238E27FC236}">
                    <a16:creationId xmlns:a16="http://schemas.microsoft.com/office/drawing/2014/main" id="{0B2C4824-910D-C058-0763-72A0E3E81F06}"/>
                  </a:ext>
                </a:extLst>
              </p:cNvPr>
              <p:cNvSpPr/>
              <p:nvPr/>
            </p:nvSpPr>
            <p:spPr>
              <a:xfrm>
                <a:off x="7005481" y="5143214"/>
                <a:ext cx="174524" cy="181587"/>
              </a:xfrm>
              <a:prstGeom prst="roundRect">
                <a:avLst>
                  <a:gd name="adj" fmla="val 50000"/>
                </a:avLst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93E4D192-35C5-48DB-1966-33920473616C}"/>
                  </a:ext>
                </a:extLst>
              </p:cNvPr>
              <p:cNvSpPr txBox="1"/>
              <p:nvPr/>
            </p:nvSpPr>
            <p:spPr>
              <a:xfrm>
                <a:off x="7180005" y="5049341"/>
                <a:ext cx="80624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TW" sz="1800" b="1" dirty="0"/>
                  <a:t>Quiz1</a:t>
                </a:r>
              </a:p>
            </p:txBody>
          </p:sp>
        </p:grpSp>
        <p:grpSp>
          <p:nvGrpSpPr>
            <p:cNvPr id="35" name="群組 34">
              <a:extLst>
                <a:ext uri="{FF2B5EF4-FFF2-40B4-BE49-F238E27FC236}">
                  <a16:creationId xmlns:a16="http://schemas.microsoft.com/office/drawing/2014/main" id="{3428E5B2-275E-0294-5D02-8B1940832B95}"/>
                </a:ext>
              </a:extLst>
            </p:cNvPr>
            <p:cNvGrpSpPr/>
            <p:nvPr/>
          </p:nvGrpSpPr>
          <p:grpSpPr>
            <a:xfrm>
              <a:off x="7042356" y="5658119"/>
              <a:ext cx="722671" cy="369332"/>
              <a:chOff x="8236972" y="4950189"/>
              <a:chExt cx="722671" cy="369332"/>
            </a:xfrm>
          </p:grpSpPr>
          <p:sp>
            <p:nvSpPr>
              <p:cNvPr id="23" name="矩形: 圓角 22">
                <a:extLst>
                  <a:ext uri="{FF2B5EF4-FFF2-40B4-BE49-F238E27FC236}">
                    <a16:creationId xmlns:a16="http://schemas.microsoft.com/office/drawing/2014/main" id="{58827B9B-4A7E-3A5E-50A2-514518EBCAC9}"/>
                  </a:ext>
                </a:extLst>
              </p:cNvPr>
              <p:cNvSpPr/>
              <p:nvPr/>
            </p:nvSpPr>
            <p:spPr>
              <a:xfrm>
                <a:off x="8236972" y="5044062"/>
                <a:ext cx="174524" cy="181587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C3056ED6-4BCA-290D-BE3B-9276298DAC3B}"/>
                  </a:ext>
                </a:extLst>
              </p:cNvPr>
              <p:cNvSpPr txBox="1"/>
              <p:nvPr/>
            </p:nvSpPr>
            <p:spPr>
              <a:xfrm>
                <a:off x="8411496" y="4950189"/>
                <a:ext cx="54814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TW" sz="1800" b="1" dirty="0"/>
                  <a:t>PA1</a:t>
                </a:r>
                <a:endParaRPr lang="zh-TW" altLang="en-US" dirty="0"/>
              </a:p>
            </p:txBody>
          </p:sp>
        </p:grpSp>
        <p:sp>
          <p:nvSpPr>
            <p:cNvPr id="29" name="矩形: 圓角 28">
              <a:extLst>
                <a:ext uri="{FF2B5EF4-FFF2-40B4-BE49-F238E27FC236}">
                  <a16:creationId xmlns:a16="http://schemas.microsoft.com/office/drawing/2014/main" id="{02C930AB-69EE-8408-FD77-0C91B768C7E5}"/>
                </a:ext>
              </a:extLst>
            </p:cNvPr>
            <p:cNvSpPr/>
            <p:nvPr/>
          </p:nvSpPr>
          <p:spPr>
            <a:xfrm>
              <a:off x="4385187" y="5533736"/>
              <a:ext cx="516191" cy="110268"/>
            </a:xfrm>
            <a:prstGeom prst="roundRect">
              <a:avLst>
                <a:gd name="adj" fmla="val 50000"/>
              </a:avLst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30" name="矩形: 圓角 29">
              <a:extLst>
                <a:ext uri="{FF2B5EF4-FFF2-40B4-BE49-F238E27FC236}">
                  <a16:creationId xmlns:a16="http://schemas.microsoft.com/office/drawing/2014/main" id="{6824D647-556D-C130-6C91-76A707257D3C}"/>
                </a:ext>
              </a:extLst>
            </p:cNvPr>
            <p:cNvSpPr/>
            <p:nvPr/>
          </p:nvSpPr>
          <p:spPr>
            <a:xfrm>
              <a:off x="4385187" y="5941937"/>
              <a:ext cx="516187" cy="100720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cxnSp>
          <p:nvCxnSpPr>
            <p:cNvPr id="34" name="直線接點 33">
              <a:extLst>
                <a:ext uri="{FF2B5EF4-FFF2-40B4-BE49-F238E27FC236}">
                  <a16:creationId xmlns:a16="http://schemas.microsoft.com/office/drawing/2014/main" id="{8A1C4062-DC5E-B2DA-49D2-366A274D619E}"/>
                </a:ext>
              </a:extLst>
            </p:cNvPr>
            <p:cNvCxnSpPr>
              <a:cxnSpLocks/>
            </p:cNvCxnSpPr>
            <p:nvPr/>
          </p:nvCxnSpPr>
          <p:spPr>
            <a:xfrm>
              <a:off x="1189703" y="5798689"/>
              <a:ext cx="5270090" cy="0"/>
            </a:xfrm>
            <a:prstGeom prst="line">
              <a:avLst/>
            </a:prstGeom>
            <a:ln w="28575">
              <a:solidFill>
                <a:schemeClr val="bg2">
                  <a:lumMod val="9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5211003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275D9D0-BBED-4E5D-FCE8-A87953411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PA1 Overview</a:t>
            </a:r>
            <a:endParaRPr lang="zh-TW" altLang="en-US" b="1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7732313-F659-5A3B-D90A-C5132DD5D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3C46D-CB0F-4644-9DD9-8F746F034205}" type="slidenum">
              <a:rPr lang="zh-TW" altLang="en-US" smtClean="0"/>
              <a:t>3</a:t>
            </a:fld>
            <a:endParaRPr lang="zh-TW" altLang="en-US"/>
          </a:p>
        </p:txBody>
      </p:sp>
      <p:sp>
        <p:nvSpPr>
          <p:cNvPr id="10" name="內容版面配置區 9">
            <a:extLst>
              <a:ext uri="{FF2B5EF4-FFF2-40B4-BE49-F238E27FC236}">
                <a16:creationId xmlns:a16="http://schemas.microsoft.com/office/drawing/2014/main" id="{00DE226E-E5DB-B9D2-CAB5-ACDB9AC3C5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Date: 3/26, 3/27</a:t>
            </a:r>
          </a:p>
          <a:p>
            <a:r>
              <a:rPr lang="en-US" altLang="zh-TW" dirty="0"/>
              <a:t>Time: 09:30 - 13:00</a:t>
            </a:r>
          </a:p>
          <a:p>
            <a:r>
              <a:rPr lang="en-US" altLang="zh-TW" dirty="0"/>
              <a:t>Rooms: 65203, 65304</a:t>
            </a:r>
          </a:p>
          <a:p>
            <a:pPr fontAlgn="base"/>
            <a:r>
              <a:rPr lang="en-US" altLang="zh-TW" dirty="0"/>
              <a:t>You are asked to write </a:t>
            </a:r>
            <a:r>
              <a:rPr lang="en-US" altLang="zh-TW" b="1" dirty="0"/>
              <a:t>inline assembly code</a:t>
            </a:r>
            <a:r>
              <a:rPr lang="en-US" altLang="zh-TW" dirty="0"/>
              <a:t> and run it on RISC-V Spike simulator to get results.</a:t>
            </a:r>
          </a:p>
          <a:p>
            <a:pPr fontAlgn="base"/>
            <a:r>
              <a:rPr lang="en-US" altLang="zh-TW" dirty="0"/>
              <a:t>The goal is to practice low-level programming and understand how assembly interacts with C.</a:t>
            </a:r>
          </a:p>
          <a:p>
            <a:pPr fontAlgn="base"/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2828669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823654D-CAA9-2335-775D-561B03DE5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Prerequisite: HW0 – Environment Setup</a:t>
            </a:r>
            <a:endParaRPr lang="zh-TW" altLang="en-US" b="1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BCE5216-CC83-368C-9DEA-102E5D3B6D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You have to follow the procedures listed in the </a:t>
            </a:r>
            <a:r>
              <a:rPr lang="en-US" altLang="zh-TW" b="1" dirty="0"/>
              <a:t>HW0</a:t>
            </a:r>
            <a:r>
              <a:rPr lang="en-US" altLang="zh-TW" dirty="0"/>
              <a:t> document to set up your development environment.</a:t>
            </a:r>
          </a:p>
          <a:p>
            <a:r>
              <a:rPr lang="en-US" altLang="zh-TW" dirty="0"/>
              <a:t>We will use </a:t>
            </a:r>
            <a:r>
              <a:rPr lang="en-US" altLang="zh-TW" b="1" dirty="0"/>
              <a:t>Docker</a:t>
            </a:r>
            <a:r>
              <a:rPr lang="en-US" altLang="zh-TW" dirty="0"/>
              <a:t> for 3/26 &amp; 3/27 programming assessment. Make sure you're familiar with basic Docker operations.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7A1EF20-6DB4-CF28-55D6-028CA9A0A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3C46D-CB0F-4644-9DD9-8F746F034205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217336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1F459ED-3078-E48B-6354-7089937EF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Assessment</a:t>
            </a:r>
            <a:r>
              <a:rPr lang="en-US" altLang="zh-TW" dirty="0"/>
              <a:t> - </a:t>
            </a:r>
            <a:r>
              <a:rPr lang="en-US" altLang="zh-TW" b="1" dirty="0"/>
              <a:t>3 Coding Problems</a:t>
            </a:r>
            <a:endParaRPr lang="zh-TW" altLang="en-US" b="1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39F494D-0C73-C462-032F-98A205CCBB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098876" cy="4351338"/>
          </a:xfrm>
        </p:spPr>
        <p:txBody>
          <a:bodyPr>
            <a:normAutofit/>
          </a:bodyPr>
          <a:lstStyle/>
          <a:p>
            <a:pPr fontAlgn="base"/>
            <a:r>
              <a:rPr lang="en-US" altLang="zh-TW" dirty="0"/>
              <a:t>Problem 1: Insertion Sort, 30%</a:t>
            </a:r>
          </a:p>
          <a:p>
            <a:pPr fontAlgn="base"/>
            <a:r>
              <a:rPr lang="en-US" altLang="zh-TW" dirty="0"/>
              <a:t>Problem 2: Binary Search, 30%</a:t>
            </a:r>
          </a:p>
          <a:p>
            <a:pPr fontAlgn="base"/>
            <a:r>
              <a:rPr lang="en-US" altLang="zh-TW" dirty="0"/>
              <a:t>Problem 3: Linked-List Cycle, 40%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EF72F41-0869-9E79-C8AA-9D8C28C08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3C46D-CB0F-4644-9DD9-8F746F034205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784212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6FF99CF-9A45-856F-EDE4-30D49ABE2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Problem 1. Insertion Sort (30%)</a:t>
            </a:r>
            <a:br>
              <a:rPr lang="en-US" altLang="zh-TW" b="1" dirty="0"/>
            </a:br>
            <a:r>
              <a:rPr lang="en-US" altLang="zh-TW" sz="3200" b="1" dirty="0">
                <a:solidFill>
                  <a:schemeClr val="bg1"/>
                </a:solidFill>
              </a:rPr>
              <a:t>.</a:t>
            </a:r>
            <a:endParaRPr lang="zh-TW" altLang="en-US" b="1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6203A09-87E7-CE38-F9D1-C671F71AD0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400" dirty="0"/>
              <a:t>Input: </a:t>
            </a:r>
          </a:p>
          <a:p>
            <a:pPr lvl="1"/>
            <a:r>
              <a:rPr lang="en-US" altLang="zh-TW" sz="2000" dirty="0"/>
              <a:t>The first line contains an integer, the </a:t>
            </a:r>
            <a:r>
              <a:rPr lang="en-US" altLang="zh-TW" sz="2000" b="1" dirty="0"/>
              <a:t>size of the array</a:t>
            </a:r>
            <a:r>
              <a:rPr lang="en-US" altLang="zh-TW" sz="2000" dirty="0"/>
              <a:t>.</a:t>
            </a:r>
          </a:p>
          <a:p>
            <a:pPr lvl="1"/>
            <a:r>
              <a:rPr lang="en-US" altLang="zh-TW" sz="2000" dirty="0"/>
              <a:t>The second line contains floating point </a:t>
            </a:r>
            <a:r>
              <a:rPr lang="en-US" altLang="zh-TW" sz="2000" b="1" dirty="0"/>
              <a:t>key values</a:t>
            </a:r>
            <a:r>
              <a:rPr lang="en-US" altLang="zh-TW" sz="2000" dirty="0"/>
              <a:t>.</a:t>
            </a:r>
          </a:p>
          <a:p>
            <a:r>
              <a:rPr lang="en-US" altLang="zh-TW" sz="2400" dirty="0"/>
              <a:t>Output: </a:t>
            </a:r>
          </a:p>
          <a:p>
            <a:pPr lvl="1"/>
            <a:r>
              <a:rPr lang="en-US" altLang="zh-TW" sz="2000" dirty="0"/>
              <a:t>The first line contains sorted array. </a:t>
            </a:r>
          </a:p>
          <a:p>
            <a:pPr lvl="1"/>
            <a:r>
              <a:rPr lang="en-US" altLang="zh-TW" sz="2000" dirty="0"/>
              <a:t>The second line contains an integer, shift count, which is the times of elements shifted.</a:t>
            </a:r>
            <a:endParaRPr lang="zh-TW" altLang="en-US" sz="20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8E355A7-EF68-A510-0BB6-F8220DF85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3C46D-CB0F-4644-9DD9-8F746F034205}" type="slidenum">
              <a:rPr lang="zh-TW" altLang="en-US" smtClean="0"/>
              <a:t>6</a:t>
            </a:fld>
            <a:endParaRPr lang="zh-TW" altLang="en-US"/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5C210B74-F4F6-6302-430D-AADF261244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7087" y="4214488"/>
            <a:ext cx="6868484" cy="2324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65635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3CB34593-ABF7-B4A8-9A3C-44844A0F0B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0920775"/>
              </p:ext>
            </p:extLst>
          </p:nvPr>
        </p:nvGraphicFramePr>
        <p:xfrm>
          <a:off x="5991078" y="1859921"/>
          <a:ext cx="5362722" cy="28808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62722">
                  <a:extLst>
                    <a:ext uri="{9D8B030D-6E8A-4147-A177-3AD203B41FA5}">
                      <a16:colId xmlns:a16="http://schemas.microsoft.com/office/drawing/2014/main" val="1864138722"/>
                    </a:ext>
                  </a:extLst>
                </a:gridCol>
              </a:tblGrid>
              <a:tr h="331338"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Main array</a:t>
                      </a:r>
                      <a:endParaRPr lang="zh-TW" altLang="en-US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1714300"/>
                  </a:ext>
                </a:extLst>
              </a:tr>
              <a:tr h="2515049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1058671"/>
                  </a:ext>
                </a:extLst>
              </a:tr>
            </a:tbl>
          </a:graphicData>
        </a:graphic>
      </p:graphicFrame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CA083BF0-199C-9ED8-A228-B1D656A3B7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730" r="39468" b="693"/>
          <a:stretch>
            <a:fillRect/>
          </a:stretch>
        </p:blipFill>
        <p:spPr>
          <a:xfrm>
            <a:off x="787599" y="1859920"/>
            <a:ext cx="4761125" cy="4500000"/>
          </a:xfrm>
          <a:prstGeom prst="rect">
            <a:avLst/>
          </a:prstGeom>
        </p:spPr>
      </p:pic>
      <p:sp>
        <p:nvSpPr>
          <p:cNvPr id="33" name="標題 32">
            <a:extLst>
              <a:ext uri="{FF2B5EF4-FFF2-40B4-BE49-F238E27FC236}">
                <a16:creationId xmlns:a16="http://schemas.microsoft.com/office/drawing/2014/main" id="{872431AA-047B-DA7C-986E-D3C8734BF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Problem 1. Insertion Sort</a:t>
            </a:r>
            <a:r>
              <a:rPr lang="zh-TW" altLang="en-US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altLang="zh-TW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(Cont.)</a:t>
            </a:r>
            <a:br>
              <a:rPr lang="en-US" altLang="zh-TW" b="1" dirty="0"/>
            </a:br>
            <a:r>
              <a:rPr lang="en-US" altLang="zh-TW" sz="3200" b="1" dirty="0">
                <a:solidFill>
                  <a:schemeClr val="bg1"/>
                </a:solidFill>
              </a:rPr>
              <a:t>.</a:t>
            </a:r>
            <a:endParaRPr lang="zh-TW" altLang="en-US" b="1" dirty="0">
              <a:solidFill>
                <a:schemeClr val="bg1"/>
              </a:solidFill>
            </a:endParaRPr>
          </a:p>
        </p:txBody>
      </p:sp>
      <p:grpSp>
        <p:nvGrpSpPr>
          <p:cNvPr id="30" name="群組 29">
            <a:extLst>
              <a:ext uri="{FF2B5EF4-FFF2-40B4-BE49-F238E27FC236}">
                <a16:creationId xmlns:a16="http://schemas.microsoft.com/office/drawing/2014/main" id="{46E7E18D-6090-86B7-EF2D-D381F84E1BF9}"/>
              </a:ext>
            </a:extLst>
          </p:cNvPr>
          <p:cNvGrpSpPr/>
          <p:nvPr/>
        </p:nvGrpSpPr>
        <p:grpSpPr>
          <a:xfrm>
            <a:off x="6420632" y="2361732"/>
            <a:ext cx="4503610" cy="2232856"/>
            <a:chOff x="6096000" y="1882256"/>
            <a:chExt cx="4503610" cy="2232856"/>
          </a:xfrm>
        </p:grpSpPr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CFB8F831-1B93-1213-5F67-99701322FEAC}"/>
                </a:ext>
              </a:extLst>
            </p:cNvPr>
            <p:cNvSpPr/>
            <p:nvPr/>
          </p:nvSpPr>
          <p:spPr>
            <a:xfrm>
              <a:off x="6096000" y="2172929"/>
              <a:ext cx="1937391" cy="115037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FF829684-264E-FD13-A48A-EB3FC51BA0CB}"/>
                </a:ext>
              </a:extLst>
            </p:cNvPr>
            <p:cNvSpPr/>
            <p:nvPr/>
          </p:nvSpPr>
          <p:spPr>
            <a:xfrm>
              <a:off x="6175095" y="2251588"/>
              <a:ext cx="884903" cy="993058"/>
            </a:xfrm>
            <a:prstGeom prst="rect">
              <a:avLst/>
            </a:prstGeom>
            <a:noFill/>
            <a:ln w="2857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4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5</a:t>
              </a:r>
              <a:endParaRPr lang="zh-TW" altLang="en-US" sz="48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A8DF8529-F98B-C0E5-EDBE-F36AC64279B6}"/>
                </a:ext>
              </a:extLst>
            </p:cNvPr>
            <p:cNvSpPr/>
            <p:nvPr/>
          </p:nvSpPr>
          <p:spPr>
            <a:xfrm>
              <a:off x="7059998" y="2251588"/>
              <a:ext cx="884903" cy="993058"/>
            </a:xfrm>
            <a:prstGeom prst="rect">
              <a:avLst/>
            </a:prstGeom>
            <a:noFill/>
            <a:ln w="2857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4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2</a:t>
              </a:r>
              <a:endParaRPr lang="zh-TW" altLang="en-US" sz="48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49C5C140-2AAA-E940-B7F0-255022C42AD0}"/>
                </a:ext>
              </a:extLst>
            </p:cNvPr>
            <p:cNvSpPr/>
            <p:nvPr/>
          </p:nvSpPr>
          <p:spPr>
            <a:xfrm>
              <a:off x="7944901" y="2251588"/>
              <a:ext cx="884903" cy="993058"/>
            </a:xfrm>
            <a:prstGeom prst="rect">
              <a:avLst/>
            </a:prstGeom>
            <a:noFill/>
            <a:ln w="2857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4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4</a:t>
              </a:r>
              <a:endParaRPr lang="zh-TW" altLang="en-US" sz="48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9E03159B-1715-C3DF-3742-62EF5D17D6F6}"/>
                </a:ext>
              </a:extLst>
            </p:cNvPr>
            <p:cNvSpPr/>
            <p:nvPr/>
          </p:nvSpPr>
          <p:spPr>
            <a:xfrm>
              <a:off x="8829804" y="2251588"/>
              <a:ext cx="884903" cy="993058"/>
            </a:xfrm>
            <a:prstGeom prst="rect">
              <a:avLst/>
            </a:prstGeom>
            <a:noFill/>
            <a:ln w="2857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4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6</a:t>
              </a:r>
              <a:endParaRPr lang="zh-TW" altLang="en-US" sz="48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6454B62F-A04F-8CAF-3AF1-0F275B7A54E6}"/>
                </a:ext>
              </a:extLst>
            </p:cNvPr>
            <p:cNvSpPr/>
            <p:nvPr/>
          </p:nvSpPr>
          <p:spPr>
            <a:xfrm>
              <a:off x="9714707" y="2251588"/>
              <a:ext cx="884903" cy="993058"/>
            </a:xfrm>
            <a:prstGeom prst="rect">
              <a:avLst/>
            </a:prstGeom>
            <a:noFill/>
            <a:ln w="2857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4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1</a:t>
              </a:r>
              <a:endParaRPr lang="zh-TW" altLang="en-US" sz="48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16" name="文字方塊 15">
              <a:extLst>
                <a:ext uri="{FF2B5EF4-FFF2-40B4-BE49-F238E27FC236}">
                  <a16:creationId xmlns:a16="http://schemas.microsoft.com/office/drawing/2014/main" id="{9488C549-66DA-5747-CCDE-71E30D99D779}"/>
                </a:ext>
              </a:extLst>
            </p:cNvPr>
            <p:cNvSpPr txBox="1"/>
            <p:nvPr/>
          </p:nvSpPr>
          <p:spPr>
            <a:xfrm>
              <a:off x="6470500" y="1882256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>
                  <a:solidFill>
                    <a:schemeClr val="bg2">
                      <a:lumMod val="75000"/>
                    </a:schemeClr>
                  </a:solidFill>
                </a:rPr>
                <a:t>0</a:t>
              </a:r>
              <a:endParaRPr lang="zh-TW" altLang="en-US" dirty="0"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17" name="文字方塊 16">
              <a:extLst>
                <a:ext uri="{FF2B5EF4-FFF2-40B4-BE49-F238E27FC236}">
                  <a16:creationId xmlns:a16="http://schemas.microsoft.com/office/drawing/2014/main" id="{B5FA20A5-66DC-7EA2-1101-9A8973401737}"/>
                </a:ext>
              </a:extLst>
            </p:cNvPr>
            <p:cNvSpPr txBox="1"/>
            <p:nvPr/>
          </p:nvSpPr>
          <p:spPr>
            <a:xfrm>
              <a:off x="7355403" y="1882256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>
                  <a:solidFill>
                    <a:schemeClr val="bg2">
                      <a:lumMod val="75000"/>
                    </a:schemeClr>
                  </a:solidFill>
                </a:rPr>
                <a:t>1</a:t>
              </a:r>
              <a:endParaRPr lang="zh-TW" altLang="en-US" dirty="0"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18" name="文字方塊 17">
              <a:extLst>
                <a:ext uri="{FF2B5EF4-FFF2-40B4-BE49-F238E27FC236}">
                  <a16:creationId xmlns:a16="http://schemas.microsoft.com/office/drawing/2014/main" id="{590F15C8-771E-7925-09CB-9D561E030904}"/>
                </a:ext>
              </a:extLst>
            </p:cNvPr>
            <p:cNvSpPr txBox="1"/>
            <p:nvPr/>
          </p:nvSpPr>
          <p:spPr>
            <a:xfrm>
              <a:off x="8240306" y="1882256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>
                  <a:solidFill>
                    <a:schemeClr val="bg2">
                      <a:lumMod val="75000"/>
                    </a:schemeClr>
                  </a:solidFill>
                </a:rPr>
                <a:t>2</a:t>
              </a:r>
              <a:endParaRPr lang="zh-TW" altLang="en-US" dirty="0"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19" name="文字方塊 18">
              <a:extLst>
                <a:ext uri="{FF2B5EF4-FFF2-40B4-BE49-F238E27FC236}">
                  <a16:creationId xmlns:a16="http://schemas.microsoft.com/office/drawing/2014/main" id="{A5B2445D-4148-1B9E-AA59-0EDB524DA70F}"/>
                </a:ext>
              </a:extLst>
            </p:cNvPr>
            <p:cNvSpPr txBox="1"/>
            <p:nvPr/>
          </p:nvSpPr>
          <p:spPr>
            <a:xfrm>
              <a:off x="9111335" y="1882256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>
                  <a:solidFill>
                    <a:schemeClr val="bg2">
                      <a:lumMod val="75000"/>
                    </a:schemeClr>
                  </a:solidFill>
                </a:rPr>
                <a:t>3</a:t>
              </a:r>
              <a:endParaRPr lang="zh-TW" altLang="en-US" dirty="0"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20" name="文字方塊 19">
              <a:extLst>
                <a:ext uri="{FF2B5EF4-FFF2-40B4-BE49-F238E27FC236}">
                  <a16:creationId xmlns:a16="http://schemas.microsoft.com/office/drawing/2014/main" id="{ED438EE5-61B1-D8A4-D9D6-B8C6758BF276}"/>
                </a:ext>
              </a:extLst>
            </p:cNvPr>
            <p:cNvSpPr txBox="1"/>
            <p:nvPr/>
          </p:nvSpPr>
          <p:spPr>
            <a:xfrm>
              <a:off x="10006315" y="1882256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>
                  <a:solidFill>
                    <a:schemeClr val="bg2">
                      <a:lumMod val="75000"/>
                    </a:schemeClr>
                  </a:solidFill>
                </a:rPr>
                <a:t>4</a:t>
              </a:r>
              <a:endParaRPr lang="zh-TW" altLang="en-US" dirty="0"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cxnSp>
          <p:nvCxnSpPr>
            <p:cNvPr id="27" name="直線單箭頭接點 26">
              <a:extLst>
                <a:ext uri="{FF2B5EF4-FFF2-40B4-BE49-F238E27FC236}">
                  <a16:creationId xmlns:a16="http://schemas.microsoft.com/office/drawing/2014/main" id="{D39EE705-A5B3-814B-9983-E2AD5C0E13D0}"/>
                </a:ext>
              </a:extLst>
            </p:cNvPr>
            <p:cNvCxnSpPr/>
            <p:nvPr/>
          </p:nvCxnSpPr>
          <p:spPr>
            <a:xfrm flipV="1">
              <a:off x="7522114" y="3362632"/>
              <a:ext cx="0" cy="410497"/>
            </a:xfrm>
            <a:prstGeom prst="straightConnector1">
              <a:avLst/>
            </a:prstGeom>
            <a:ln w="19050">
              <a:solidFill>
                <a:srgbClr val="0070C0"/>
              </a:solidFill>
              <a:headEnd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文字方塊 27">
              <a:extLst>
                <a:ext uri="{FF2B5EF4-FFF2-40B4-BE49-F238E27FC236}">
                  <a16:creationId xmlns:a16="http://schemas.microsoft.com/office/drawing/2014/main" id="{EA725AC1-E47F-2DC3-9682-9052EF89D817}"/>
                </a:ext>
              </a:extLst>
            </p:cNvPr>
            <p:cNvSpPr txBox="1"/>
            <p:nvPr/>
          </p:nvSpPr>
          <p:spPr>
            <a:xfrm>
              <a:off x="7227802" y="3745780"/>
              <a:ext cx="58862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err="1">
                  <a:solidFill>
                    <a:srgbClr val="0070C0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i</a:t>
              </a:r>
              <a:r>
                <a:rPr lang="en-US" altLang="zh-TW" dirty="0">
                  <a:solidFill>
                    <a:srgbClr val="0070C0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=1</a:t>
              </a:r>
              <a:endParaRPr lang="zh-TW" altLang="en-US" dirty="0">
                <a:solidFill>
                  <a:srgbClr val="0070C0"/>
                </a:solidFill>
                <a:latin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  <p:cxnSp>
          <p:nvCxnSpPr>
            <p:cNvPr id="31" name="直線單箭頭接點 30">
              <a:extLst>
                <a:ext uri="{FF2B5EF4-FFF2-40B4-BE49-F238E27FC236}">
                  <a16:creationId xmlns:a16="http://schemas.microsoft.com/office/drawing/2014/main" id="{B50DBCF4-5165-A042-AF3A-A0D193EAC80A}"/>
                </a:ext>
              </a:extLst>
            </p:cNvPr>
            <p:cNvCxnSpPr/>
            <p:nvPr/>
          </p:nvCxnSpPr>
          <p:spPr>
            <a:xfrm flipV="1">
              <a:off x="6628035" y="3362632"/>
              <a:ext cx="0" cy="410497"/>
            </a:xfrm>
            <a:prstGeom prst="straightConnector1">
              <a:avLst/>
            </a:prstGeom>
            <a:ln w="19050">
              <a:solidFill>
                <a:srgbClr val="0070C0"/>
              </a:solidFill>
              <a:headEnd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文字方塊 31">
              <a:extLst>
                <a:ext uri="{FF2B5EF4-FFF2-40B4-BE49-F238E27FC236}">
                  <a16:creationId xmlns:a16="http://schemas.microsoft.com/office/drawing/2014/main" id="{9E9500A2-E2FA-8A89-D442-0762543C6F9F}"/>
                </a:ext>
              </a:extLst>
            </p:cNvPr>
            <p:cNvSpPr txBox="1"/>
            <p:nvPr/>
          </p:nvSpPr>
          <p:spPr>
            <a:xfrm>
              <a:off x="6333723" y="3745780"/>
              <a:ext cx="58862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>
                  <a:solidFill>
                    <a:srgbClr val="0070C0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j=0</a:t>
              </a:r>
              <a:endParaRPr lang="zh-TW" altLang="en-US" dirty="0">
                <a:solidFill>
                  <a:srgbClr val="0070C0"/>
                </a:solidFill>
                <a:latin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</p:grp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8230E268-5603-B888-BBB2-EBCF46E1C6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3000555"/>
              </p:ext>
            </p:extLst>
          </p:nvPr>
        </p:nvGraphicFramePr>
        <p:xfrm>
          <a:off x="5991076" y="4881967"/>
          <a:ext cx="5362722" cy="1474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62722">
                  <a:extLst>
                    <a:ext uri="{9D8B030D-6E8A-4147-A177-3AD203B41FA5}">
                      <a16:colId xmlns:a16="http://schemas.microsoft.com/office/drawing/2014/main" val="1049483232"/>
                    </a:ext>
                  </a:extLst>
                </a:gridCol>
              </a:tblGrid>
              <a:tr h="368596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altLang="zh-TW" dirty="0"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Inputs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2406759"/>
                  </a:ext>
                </a:extLst>
              </a:tr>
              <a:tr h="368596"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array</a:t>
                      </a:r>
                      <a:r>
                        <a:rPr lang="en-US" altLang="zh-TW" dirty="0">
                          <a:solidFill>
                            <a:srgbClr val="0070C0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 A</a:t>
                      </a:r>
                      <a:r>
                        <a:rPr lang="en-US" altLang="zh-TW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:</a:t>
                      </a:r>
                      <a:r>
                        <a:rPr lang="en-US" altLang="zh-TW" dirty="0">
                          <a:solidFill>
                            <a:srgbClr val="0070C0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 </a:t>
                      </a:r>
                      <a:r>
                        <a:rPr lang="en-US" altLang="zh-TW" dirty="0">
                          <a:solidFill>
                            <a:srgbClr val="00B050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[5, 2, 4, 6, 1]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4046559"/>
                  </a:ext>
                </a:extLst>
              </a:tr>
              <a:tr h="368596"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rgbClr val="0070C0"/>
                          </a:solidFill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n</a:t>
                      </a:r>
                      <a:r>
                        <a:rPr lang="en-US" altLang="zh-TW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:</a:t>
                      </a:r>
                      <a:r>
                        <a:rPr lang="en-US" altLang="zh-TW" b="0" dirty="0">
                          <a:solidFill>
                            <a:srgbClr val="0070C0"/>
                          </a:solidFill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 </a:t>
                      </a:r>
                      <a:r>
                        <a:rPr lang="en-US" altLang="zh-TW" b="0" dirty="0">
                          <a:solidFill>
                            <a:srgbClr val="00B050"/>
                          </a:solidFill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5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3911669"/>
                  </a:ext>
                </a:extLst>
              </a:tr>
              <a:tr h="368596">
                <a:tc>
                  <a:txBody>
                    <a:bodyPr/>
                    <a:lstStyle/>
                    <a:p>
                      <a:r>
                        <a:rPr lang="en-US" altLang="zh-TW" dirty="0" err="1">
                          <a:solidFill>
                            <a:srgbClr val="7030A0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shift_cnt</a:t>
                      </a:r>
                      <a:r>
                        <a:rPr lang="en-US" altLang="zh-TW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: </a:t>
                      </a:r>
                      <a:r>
                        <a:rPr lang="en-US" altLang="zh-TW" dirty="0">
                          <a:solidFill>
                            <a:srgbClr val="00B050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0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4284814"/>
                  </a:ext>
                </a:extLst>
              </a:tr>
            </a:tbl>
          </a:graphicData>
        </a:graphic>
      </p:graphicFrame>
      <p:sp>
        <p:nvSpPr>
          <p:cNvPr id="21" name="投影片編號版面配置區 20">
            <a:extLst>
              <a:ext uri="{FF2B5EF4-FFF2-40B4-BE49-F238E27FC236}">
                <a16:creationId xmlns:a16="http://schemas.microsoft.com/office/drawing/2014/main" id="{C0AFEB6A-AEAB-5F01-5115-F798D9D01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3C46D-CB0F-4644-9DD9-8F746F034205}" type="slidenum">
              <a:rPr lang="zh-TW" altLang="en-US" smtClean="0"/>
              <a:pPr/>
              <a:t>7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7008331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5637465B-8DE3-BF67-12DB-A70ADDDCB8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2576437"/>
              </p:ext>
            </p:extLst>
          </p:nvPr>
        </p:nvGraphicFramePr>
        <p:xfrm>
          <a:off x="7552652" y="1211808"/>
          <a:ext cx="4309806" cy="36172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09806">
                  <a:extLst>
                    <a:ext uri="{9D8B030D-6E8A-4147-A177-3AD203B41FA5}">
                      <a16:colId xmlns:a16="http://schemas.microsoft.com/office/drawing/2014/main" val="1864138722"/>
                    </a:ext>
                  </a:extLst>
                </a:gridCol>
              </a:tblGrid>
              <a:tr h="421073"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Main array</a:t>
                      </a:r>
                      <a:endParaRPr lang="zh-TW" altLang="en-US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1714300"/>
                  </a:ext>
                </a:extLst>
              </a:tr>
              <a:tr h="3196196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1058671"/>
                  </a:ext>
                </a:extLst>
              </a:tr>
            </a:tbl>
          </a:graphicData>
        </a:graphic>
      </p:graphicFrame>
      <p:sp>
        <p:nvSpPr>
          <p:cNvPr id="2" name="標題 1">
            <a:extLst>
              <a:ext uri="{FF2B5EF4-FFF2-40B4-BE49-F238E27FC236}">
                <a16:creationId xmlns:a16="http://schemas.microsoft.com/office/drawing/2014/main" id="{A073F401-334F-C331-D5F5-0FE9686FCE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Problem 1. Insertion Sort (Cont.)</a:t>
            </a:r>
            <a:br>
              <a:rPr lang="en-US" altLang="zh-TW" b="1" dirty="0"/>
            </a:br>
            <a:r>
              <a:rPr lang="en-US" altLang="zh-TW" sz="3200" dirty="0"/>
              <a:t>1</a:t>
            </a:r>
            <a:r>
              <a:rPr lang="en-US" altLang="zh-TW" sz="3200" baseline="30000" dirty="0"/>
              <a:t>st</a:t>
            </a:r>
            <a:r>
              <a:rPr lang="zh-TW" altLang="en-US" sz="3200" dirty="0"/>
              <a:t> </a:t>
            </a:r>
            <a:r>
              <a:rPr lang="en-US" altLang="zh-TW" sz="3200" dirty="0"/>
              <a:t>iteration:</a:t>
            </a:r>
            <a:r>
              <a:rPr lang="zh-TW" altLang="en-US" sz="3200" dirty="0"/>
              <a:t> </a:t>
            </a:r>
            <a:r>
              <a:rPr lang="en-US" altLang="zh-TW" sz="3200" dirty="0"/>
              <a:t>Insert 2</a:t>
            </a:r>
            <a:r>
              <a:rPr lang="zh-TW" altLang="en-US" sz="3200" dirty="0"/>
              <a:t> </a:t>
            </a:r>
            <a:r>
              <a:rPr lang="en-US" altLang="zh-TW" sz="3200" dirty="0"/>
              <a:t>(</a:t>
            </a:r>
            <a:r>
              <a:rPr lang="en-US" altLang="zh-TW" sz="3200" dirty="0" err="1"/>
              <a:t>i</a:t>
            </a:r>
            <a:r>
              <a:rPr lang="en-US" altLang="zh-TW" sz="3200" dirty="0"/>
              <a:t> = 1)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635BE03-4695-1F76-6646-D1E87AA273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altLang="zh-TW" dirty="0">
                <a:solidFill>
                  <a:srgbClr val="0070C0"/>
                </a:solidFill>
              </a:rPr>
              <a:t>key </a:t>
            </a:r>
            <a:r>
              <a:rPr lang="en-US" altLang="zh-TW" dirty="0"/>
              <a:t>=</a:t>
            </a:r>
            <a:r>
              <a:rPr lang="en-US" altLang="zh-TW" dirty="0">
                <a:solidFill>
                  <a:srgbClr val="0070C0"/>
                </a:solidFill>
              </a:rPr>
              <a:t> A</a:t>
            </a:r>
            <a:r>
              <a:rPr lang="en-US" altLang="zh-TW" dirty="0"/>
              <a:t>[</a:t>
            </a:r>
            <a:r>
              <a:rPr lang="en-US" altLang="zh-TW" dirty="0">
                <a:solidFill>
                  <a:srgbClr val="00B050"/>
                </a:solidFill>
              </a:rPr>
              <a:t>1</a:t>
            </a:r>
            <a:r>
              <a:rPr lang="en-US" altLang="zh-TW" dirty="0"/>
              <a:t>]</a:t>
            </a:r>
            <a:r>
              <a:rPr lang="en-US" altLang="zh-TW" dirty="0">
                <a:solidFill>
                  <a:srgbClr val="00B050"/>
                </a:solidFill>
              </a:rPr>
              <a:t> </a:t>
            </a:r>
            <a:r>
              <a:rPr lang="en-US" altLang="zh-TW" dirty="0"/>
              <a:t>= </a:t>
            </a:r>
            <a:r>
              <a:rPr lang="en-US" altLang="zh-TW" dirty="0">
                <a:solidFill>
                  <a:srgbClr val="00B050"/>
                </a:solidFill>
              </a:rPr>
              <a:t>2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dirty="0"/>
              <a:t>Compare: </a:t>
            </a:r>
            <a:r>
              <a:rPr lang="en-US" altLang="zh-TW" dirty="0">
                <a:solidFill>
                  <a:srgbClr val="0070C0"/>
                </a:solidFill>
              </a:rPr>
              <a:t>A</a:t>
            </a:r>
            <a:r>
              <a:rPr lang="en-US" altLang="zh-TW" dirty="0"/>
              <a:t>[</a:t>
            </a:r>
            <a:r>
              <a:rPr lang="en-US" altLang="zh-TW" dirty="0">
                <a:solidFill>
                  <a:srgbClr val="00B050"/>
                </a:solidFill>
              </a:rPr>
              <a:t>0</a:t>
            </a:r>
            <a:r>
              <a:rPr lang="en-US" altLang="zh-TW" dirty="0"/>
              <a:t>]</a:t>
            </a:r>
            <a:r>
              <a:rPr lang="zh-TW" altLang="en-US" dirty="0">
                <a:solidFill>
                  <a:srgbClr val="00B050"/>
                </a:solidFill>
              </a:rPr>
              <a:t> </a:t>
            </a:r>
            <a:r>
              <a:rPr lang="en-US" altLang="zh-TW" dirty="0"/>
              <a:t>=</a:t>
            </a:r>
            <a:r>
              <a:rPr lang="zh-TW" altLang="en-US" dirty="0">
                <a:solidFill>
                  <a:srgbClr val="00B050"/>
                </a:solidFill>
              </a:rPr>
              <a:t> </a:t>
            </a:r>
            <a:r>
              <a:rPr lang="en-US" altLang="zh-TW" dirty="0">
                <a:solidFill>
                  <a:srgbClr val="00B050"/>
                </a:solidFill>
              </a:rPr>
              <a:t>5</a:t>
            </a:r>
            <a:r>
              <a:rPr lang="zh-TW" altLang="en-US" dirty="0">
                <a:solidFill>
                  <a:srgbClr val="00B050"/>
                </a:solidFill>
              </a:rPr>
              <a:t> </a:t>
            </a:r>
            <a:r>
              <a:rPr lang="en-US" altLang="zh-TW" dirty="0"/>
              <a:t>&amp; </a:t>
            </a:r>
            <a:r>
              <a:rPr lang="en-US" altLang="zh-TW" dirty="0">
                <a:solidFill>
                  <a:srgbClr val="0070C0"/>
                </a:solidFill>
              </a:rPr>
              <a:t>key</a:t>
            </a:r>
            <a:r>
              <a:rPr lang="zh-TW" altLang="en-US" dirty="0"/>
              <a:t> </a:t>
            </a:r>
            <a:r>
              <a:rPr lang="en-US" altLang="zh-TW" dirty="0"/>
              <a:t>=</a:t>
            </a:r>
            <a:r>
              <a:rPr lang="zh-TW" altLang="en-US" dirty="0">
                <a:solidFill>
                  <a:srgbClr val="00B050"/>
                </a:solidFill>
              </a:rPr>
              <a:t> </a:t>
            </a:r>
            <a:r>
              <a:rPr lang="en-US" altLang="zh-TW" dirty="0">
                <a:solidFill>
                  <a:srgbClr val="00B050"/>
                </a:solidFill>
              </a:rPr>
              <a:t>2</a:t>
            </a:r>
            <a:r>
              <a:rPr lang="zh-TW" altLang="en-US" dirty="0">
                <a:solidFill>
                  <a:srgbClr val="00B050"/>
                </a:solidFill>
              </a:rPr>
              <a:t> </a:t>
            </a:r>
            <a:r>
              <a:rPr lang="en-US" altLang="zh-TW" dirty="0"/>
              <a:t>(</a:t>
            </a:r>
            <a:r>
              <a:rPr lang="en-US" altLang="zh-TW" dirty="0">
                <a:solidFill>
                  <a:srgbClr val="00B050"/>
                </a:solidFill>
              </a:rPr>
              <a:t>5</a:t>
            </a:r>
            <a:r>
              <a:rPr lang="zh-TW" altLang="en-US" dirty="0">
                <a:solidFill>
                  <a:srgbClr val="00B050"/>
                </a:solidFill>
              </a:rPr>
              <a:t> </a:t>
            </a:r>
            <a:r>
              <a:rPr lang="en-US" altLang="zh-TW" dirty="0"/>
              <a:t>&gt;</a:t>
            </a:r>
            <a:r>
              <a:rPr lang="zh-TW" altLang="en-US" dirty="0"/>
              <a:t> </a:t>
            </a:r>
            <a:r>
              <a:rPr lang="en-US" altLang="zh-TW" dirty="0">
                <a:solidFill>
                  <a:srgbClr val="00B050"/>
                </a:solidFill>
              </a:rPr>
              <a:t>2</a:t>
            </a:r>
            <a:r>
              <a:rPr lang="en-US" altLang="zh-TW" dirty="0"/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dirty="0"/>
              <a:t>Shift:</a:t>
            </a:r>
            <a:r>
              <a:rPr lang="zh-TW" altLang="en-US" dirty="0"/>
              <a:t> </a:t>
            </a:r>
            <a:r>
              <a:rPr lang="en-US" altLang="zh-TW" dirty="0"/>
              <a:t>5</a:t>
            </a:r>
            <a:r>
              <a:rPr lang="zh-TW" altLang="en-US" dirty="0"/>
              <a:t> </a:t>
            </a:r>
            <a:r>
              <a:rPr lang="en-US" altLang="zh-TW" dirty="0"/>
              <a:t>shift to </a:t>
            </a:r>
            <a:r>
              <a:rPr lang="en-US" altLang="zh-TW" dirty="0">
                <a:solidFill>
                  <a:srgbClr val="0070C0"/>
                </a:solidFill>
              </a:rPr>
              <a:t>A</a:t>
            </a:r>
            <a:r>
              <a:rPr lang="en-US" altLang="zh-TW" dirty="0"/>
              <a:t>[</a:t>
            </a:r>
            <a:r>
              <a:rPr lang="en-US" altLang="zh-TW" dirty="0">
                <a:solidFill>
                  <a:srgbClr val="00B050"/>
                </a:solidFill>
              </a:rPr>
              <a:t>1</a:t>
            </a:r>
            <a:r>
              <a:rPr lang="en-US" altLang="zh-TW" dirty="0"/>
              <a:t>]</a:t>
            </a:r>
            <a:r>
              <a:rPr lang="en-US" altLang="zh-TW" dirty="0">
                <a:solidFill>
                  <a:srgbClr val="00B050"/>
                </a:solidFill>
              </a:rPr>
              <a:t> 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dirty="0" err="1">
                <a:solidFill>
                  <a:srgbClr val="7030A0"/>
                </a:solidFill>
              </a:rPr>
              <a:t>shift_cnt</a:t>
            </a:r>
            <a:r>
              <a:rPr lang="zh-TW" altLang="en-US" dirty="0">
                <a:solidFill>
                  <a:srgbClr val="7030A0"/>
                </a:solidFill>
              </a:rPr>
              <a:t> </a:t>
            </a:r>
            <a:r>
              <a:rPr lang="en-US" altLang="zh-TW" dirty="0"/>
              <a:t>+</a:t>
            </a:r>
            <a:r>
              <a:rPr lang="zh-TW" altLang="en-US" dirty="0"/>
              <a:t> </a:t>
            </a:r>
            <a:r>
              <a:rPr lang="en-US" altLang="zh-TW" dirty="0">
                <a:solidFill>
                  <a:srgbClr val="00B050"/>
                </a:solidFill>
              </a:rPr>
              <a:t>1 </a:t>
            </a:r>
            <a:r>
              <a:rPr lang="en-US" altLang="zh-TW" dirty="0"/>
              <a:t>=</a:t>
            </a:r>
            <a:r>
              <a:rPr lang="en-US" altLang="zh-TW" dirty="0">
                <a:solidFill>
                  <a:srgbClr val="00B050"/>
                </a:solidFill>
              </a:rPr>
              <a:t> 0 </a:t>
            </a:r>
            <a:r>
              <a:rPr lang="en-US" altLang="zh-TW" dirty="0"/>
              <a:t>+</a:t>
            </a:r>
            <a:r>
              <a:rPr lang="en-US" altLang="zh-TW" dirty="0">
                <a:solidFill>
                  <a:srgbClr val="00B050"/>
                </a:solidFill>
              </a:rPr>
              <a:t> 1 </a:t>
            </a:r>
            <a:r>
              <a:rPr lang="en-US" altLang="zh-TW" dirty="0"/>
              <a:t>=</a:t>
            </a:r>
            <a:r>
              <a:rPr lang="en-US" altLang="zh-TW" dirty="0">
                <a:solidFill>
                  <a:srgbClr val="00B050"/>
                </a:solidFill>
              </a:rPr>
              <a:t> 1</a:t>
            </a:r>
            <a:endParaRPr lang="en-US" altLang="zh-TW" dirty="0"/>
          </a:p>
          <a:p>
            <a:pPr marL="514350" indent="-514350">
              <a:buFont typeface="+mj-lt"/>
              <a:buAutoNum type="arabicPeriod"/>
            </a:pPr>
            <a:r>
              <a:rPr lang="en-US" altLang="zh-TW" dirty="0"/>
              <a:t>Insert:</a:t>
            </a:r>
            <a:r>
              <a:rPr lang="zh-TW" altLang="en-US" dirty="0"/>
              <a:t> </a:t>
            </a:r>
            <a:r>
              <a:rPr lang="en-US" altLang="zh-TW" dirty="0">
                <a:solidFill>
                  <a:srgbClr val="00B050"/>
                </a:solidFill>
              </a:rPr>
              <a:t>2</a:t>
            </a:r>
            <a:r>
              <a:rPr lang="zh-TW" altLang="en-US" dirty="0"/>
              <a:t> </a:t>
            </a:r>
            <a:r>
              <a:rPr lang="en-US" altLang="zh-TW" dirty="0"/>
              <a:t>insert to </a:t>
            </a:r>
            <a:r>
              <a:rPr lang="en-US" altLang="zh-TW" dirty="0">
                <a:solidFill>
                  <a:srgbClr val="0070C0"/>
                </a:solidFill>
              </a:rPr>
              <a:t>A</a:t>
            </a:r>
            <a:r>
              <a:rPr lang="en-US" altLang="zh-TW" dirty="0"/>
              <a:t>[</a:t>
            </a:r>
            <a:r>
              <a:rPr lang="en-US" altLang="zh-TW" dirty="0">
                <a:solidFill>
                  <a:srgbClr val="00B050"/>
                </a:solidFill>
              </a:rPr>
              <a:t>0</a:t>
            </a:r>
            <a:r>
              <a:rPr lang="en-US" altLang="zh-TW" dirty="0"/>
              <a:t>]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B2B3A073-BE41-A691-4B84-342E9BA1B3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0350089"/>
              </p:ext>
            </p:extLst>
          </p:nvPr>
        </p:nvGraphicFramePr>
        <p:xfrm>
          <a:off x="7552652" y="5056294"/>
          <a:ext cx="4309806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09806">
                  <a:extLst>
                    <a:ext uri="{9D8B030D-6E8A-4147-A177-3AD203B41FA5}">
                      <a16:colId xmlns:a16="http://schemas.microsoft.com/office/drawing/2014/main" val="10494832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bg1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State</a:t>
                      </a:r>
                      <a:endParaRPr lang="zh-TW" altLang="en-US" dirty="0">
                        <a:solidFill>
                          <a:schemeClr val="bg1"/>
                        </a:solidFill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24067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Current array: </a:t>
                      </a:r>
                      <a:r>
                        <a:rPr lang="en-US" altLang="zh-TW" dirty="0">
                          <a:solidFill>
                            <a:srgbClr val="00B050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[2, 5, 4, 6, 1]</a:t>
                      </a:r>
                      <a:endParaRPr lang="zh-TW" altLang="en-US" dirty="0">
                        <a:solidFill>
                          <a:srgbClr val="00B050"/>
                        </a:solidFill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40465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err="1">
                          <a:solidFill>
                            <a:srgbClr val="7030A0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shift_cnt</a:t>
                      </a:r>
                      <a:r>
                        <a:rPr lang="en-US" altLang="zh-TW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:</a:t>
                      </a:r>
                      <a:r>
                        <a:rPr lang="en-US" altLang="zh-TW" dirty="0">
                          <a:solidFill>
                            <a:srgbClr val="0070C0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 </a:t>
                      </a:r>
                      <a:r>
                        <a:rPr lang="en-US" altLang="zh-TW" b="0" dirty="0">
                          <a:solidFill>
                            <a:srgbClr val="00B050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1</a:t>
                      </a:r>
                      <a:endParaRPr lang="zh-TW" altLang="en-US" b="0" dirty="0">
                        <a:solidFill>
                          <a:srgbClr val="00B050"/>
                        </a:solidFill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3911669"/>
                  </a:ext>
                </a:extLst>
              </a:tr>
            </a:tbl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82AC18A9-C1F3-A595-0CD4-D2F9D3C7EF11}"/>
              </a:ext>
            </a:extLst>
          </p:cNvPr>
          <p:cNvSpPr/>
          <p:nvPr/>
        </p:nvSpPr>
        <p:spPr>
          <a:xfrm>
            <a:off x="8492230" y="2163106"/>
            <a:ext cx="600376" cy="673756"/>
          </a:xfrm>
          <a:prstGeom prst="rect">
            <a:avLst/>
          </a:prstGeom>
          <a:noFill/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5</a:t>
            </a:r>
            <a:endParaRPr lang="zh-TW" altLang="en-US" sz="3200" dirty="0">
              <a:solidFill>
                <a:schemeClr val="tx1">
                  <a:lumMod val="65000"/>
                  <a:lumOff val="35000"/>
                </a:schemeClr>
              </a:solidFill>
              <a:effectLst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336781D-B8FC-0BF4-3D19-A107C9C776FC}"/>
              </a:ext>
            </a:extLst>
          </p:cNvPr>
          <p:cNvSpPr/>
          <p:nvPr/>
        </p:nvSpPr>
        <p:spPr>
          <a:xfrm>
            <a:off x="9092317" y="2163105"/>
            <a:ext cx="604800" cy="673756"/>
          </a:xfrm>
          <a:prstGeom prst="rect">
            <a:avLst/>
          </a:prstGeom>
          <a:noFill/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</a:t>
            </a:r>
            <a:endParaRPr lang="zh-TW" altLang="en-US" sz="3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D30E164-B2A5-2F5C-F8A6-7EC44A3167A8}"/>
              </a:ext>
            </a:extLst>
          </p:cNvPr>
          <p:cNvSpPr/>
          <p:nvPr/>
        </p:nvSpPr>
        <p:spPr>
          <a:xfrm>
            <a:off x="9694876" y="2163105"/>
            <a:ext cx="594920" cy="673756"/>
          </a:xfrm>
          <a:prstGeom prst="rect">
            <a:avLst/>
          </a:prstGeom>
          <a:noFill/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4</a:t>
            </a:r>
            <a:endParaRPr lang="zh-TW" altLang="en-US" sz="3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24" name="接點: 肘形 23">
            <a:extLst>
              <a:ext uri="{FF2B5EF4-FFF2-40B4-BE49-F238E27FC236}">
                <a16:creationId xmlns:a16="http://schemas.microsoft.com/office/drawing/2014/main" id="{7FEA12E6-21D3-D508-7A16-F28EC6D79F95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9092460" y="4078342"/>
            <a:ext cx="1" cy="600087"/>
          </a:xfrm>
          <a:prstGeom prst="bentConnector3">
            <a:avLst>
              <a:gd name="adj1" fmla="val -22860000000"/>
            </a:avLst>
          </a:prstGeom>
          <a:ln w="2857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矩形 25">
            <a:extLst>
              <a:ext uri="{FF2B5EF4-FFF2-40B4-BE49-F238E27FC236}">
                <a16:creationId xmlns:a16="http://schemas.microsoft.com/office/drawing/2014/main" id="{6A9A36C6-CF45-DB46-79A5-6AF4329E7936}"/>
              </a:ext>
            </a:extLst>
          </p:cNvPr>
          <p:cNvSpPr/>
          <p:nvPr/>
        </p:nvSpPr>
        <p:spPr>
          <a:xfrm>
            <a:off x="7802534" y="2932823"/>
            <a:ext cx="600376" cy="673756"/>
          </a:xfrm>
          <a:prstGeom prst="rect">
            <a:avLst/>
          </a:prstGeom>
          <a:noFill/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</a:t>
            </a:r>
            <a:endParaRPr lang="zh-TW" altLang="en-US" sz="3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28" name="接點: 肘形 27">
            <a:extLst>
              <a:ext uri="{FF2B5EF4-FFF2-40B4-BE49-F238E27FC236}">
                <a16:creationId xmlns:a16="http://schemas.microsoft.com/office/drawing/2014/main" id="{B49CA136-2A36-EF5D-33F5-39D9286FCDCF}"/>
              </a:ext>
            </a:extLst>
          </p:cNvPr>
          <p:cNvCxnSpPr>
            <a:cxnSpLocks/>
            <a:stCxn id="26" idx="3"/>
          </p:cNvCxnSpPr>
          <p:nvPr/>
        </p:nvCxnSpPr>
        <p:spPr>
          <a:xfrm>
            <a:off x="8402910" y="3269701"/>
            <a:ext cx="389507" cy="434929"/>
          </a:xfrm>
          <a:prstGeom prst="bentConnector2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矩形 29">
            <a:extLst>
              <a:ext uri="{FF2B5EF4-FFF2-40B4-BE49-F238E27FC236}">
                <a16:creationId xmlns:a16="http://schemas.microsoft.com/office/drawing/2014/main" id="{CA05ABE6-7914-ECEF-FD0C-E8DAC59C9588}"/>
              </a:ext>
            </a:extLst>
          </p:cNvPr>
          <p:cNvSpPr/>
          <p:nvPr/>
        </p:nvSpPr>
        <p:spPr>
          <a:xfrm>
            <a:off x="8492230" y="3704632"/>
            <a:ext cx="600376" cy="673756"/>
          </a:xfrm>
          <a:prstGeom prst="rect">
            <a:avLst/>
          </a:prstGeom>
          <a:noFill/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5</a:t>
            </a:r>
            <a:endParaRPr lang="zh-TW" altLang="en-US" sz="3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C2998EAC-258E-6DDB-6891-EC18890FC638}"/>
              </a:ext>
            </a:extLst>
          </p:cNvPr>
          <p:cNvSpPr/>
          <p:nvPr/>
        </p:nvSpPr>
        <p:spPr>
          <a:xfrm>
            <a:off x="9092317" y="3704631"/>
            <a:ext cx="600376" cy="673756"/>
          </a:xfrm>
          <a:prstGeom prst="rect">
            <a:avLst/>
          </a:prstGeom>
          <a:noFill/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</a:t>
            </a:r>
            <a:endParaRPr lang="zh-TW" altLang="en-US" sz="3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B64E02A2-E1EA-6DAE-E3CA-FA6A7CB12705}"/>
              </a:ext>
            </a:extLst>
          </p:cNvPr>
          <p:cNvSpPr/>
          <p:nvPr/>
        </p:nvSpPr>
        <p:spPr>
          <a:xfrm>
            <a:off x="9692148" y="3704631"/>
            <a:ext cx="593687" cy="673756"/>
          </a:xfrm>
          <a:prstGeom prst="rect">
            <a:avLst/>
          </a:prstGeom>
          <a:noFill/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4</a:t>
            </a:r>
            <a:endParaRPr lang="zh-TW" altLang="en-US" sz="3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82B51898-F7D5-A1F0-7222-14BE14838C95}"/>
              </a:ext>
            </a:extLst>
          </p:cNvPr>
          <p:cNvSpPr/>
          <p:nvPr/>
        </p:nvSpPr>
        <p:spPr>
          <a:xfrm>
            <a:off x="8488813" y="3704630"/>
            <a:ext cx="600376" cy="673756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</a:t>
            </a:r>
            <a:endParaRPr lang="zh-TW" altLang="en-US" sz="3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9" name="文字方塊 38">
            <a:extLst>
              <a:ext uri="{FF2B5EF4-FFF2-40B4-BE49-F238E27FC236}">
                <a16:creationId xmlns:a16="http://schemas.microsoft.com/office/drawing/2014/main" id="{16E3C8FF-0AAA-EDA9-2CB2-B01C2D7862D3}"/>
              </a:ext>
            </a:extLst>
          </p:cNvPr>
          <p:cNvSpPr txBox="1"/>
          <p:nvPr/>
        </p:nvSpPr>
        <p:spPr>
          <a:xfrm>
            <a:off x="8641574" y="180999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chemeClr val="bg2">
                    <a:lumMod val="75000"/>
                  </a:schemeClr>
                </a:solidFill>
              </a:rPr>
              <a:t>0</a:t>
            </a:r>
            <a:endParaRPr lang="zh-TW" alt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0241202C-7C94-15BD-05E7-FC0AADA6A07E}"/>
              </a:ext>
            </a:extLst>
          </p:cNvPr>
          <p:cNvSpPr txBox="1"/>
          <p:nvPr/>
        </p:nvSpPr>
        <p:spPr>
          <a:xfrm>
            <a:off x="9240042" y="180999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chemeClr val="bg2">
                    <a:lumMod val="75000"/>
                  </a:schemeClr>
                </a:solidFill>
              </a:rPr>
              <a:t>1</a:t>
            </a:r>
            <a:endParaRPr lang="zh-TW" alt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B8528C74-7761-1C5E-2794-C0ED001317A4}"/>
              </a:ext>
            </a:extLst>
          </p:cNvPr>
          <p:cNvSpPr txBox="1"/>
          <p:nvPr/>
        </p:nvSpPr>
        <p:spPr>
          <a:xfrm>
            <a:off x="9846387" y="180999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chemeClr val="bg2">
                    <a:lumMod val="75000"/>
                  </a:schemeClr>
                </a:solidFill>
              </a:rPr>
              <a:t>2</a:t>
            </a:r>
            <a:endParaRPr lang="zh-TW" alt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C7E7A738-CB35-D00D-0BF2-476B971C2BAA}"/>
              </a:ext>
            </a:extLst>
          </p:cNvPr>
          <p:cNvSpPr/>
          <p:nvPr/>
        </p:nvSpPr>
        <p:spPr>
          <a:xfrm>
            <a:off x="10289252" y="2163104"/>
            <a:ext cx="600377" cy="673757"/>
          </a:xfrm>
          <a:prstGeom prst="rect">
            <a:avLst/>
          </a:prstGeom>
          <a:noFill/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6</a:t>
            </a:r>
            <a:endParaRPr lang="zh-TW" altLang="en-US" sz="3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F4412BFF-83A4-41B6-B964-CC58E9822BB1}"/>
              </a:ext>
            </a:extLst>
          </p:cNvPr>
          <p:cNvSpPr/>
          <p:nvPr/>
        </p:nvSpPr>
        <p:spPr>
          <a:xfrm>
            <a:off x="10892357" y="2163105"/>
            <a:ext cx="600377" cy="673757"/>
          </a:xfrm>
          <a:prstGeom prst="rect">
            <a:avLst/>
          </a:prstGeom>
          <a:noFill/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  <a:endParaRPr lang="zh-TW" altLang="en-US" sz="3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A3339776-9F87-B386-4187-B149EE29D70D}"/>
              </a:ext>
            </a:extLst>
          </p:cNvPr>
          <p:cNvSpPr/>
          <p:nvPr/>
        </p:nvSpPr>
        <p:spPr>
          <a:xfrm>
            <a:off x="10285000" y="3704630"/>
            <a:ext cx="600377" cy="673757"/>
          </a:xfrm>
          <a:prstGeom prst="rect">
            <a:avLst/>
          </a:prstGeom>
          <a:noFill/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6</a:t>
            </a:r>
            <a:endParaRPr lang="zh-TW" altLang="en-US" sz="3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8" name="文字方塊 47">
            <a:extLst>
              <a:ext uri="{FF2B5EF4-FFF2-40B4-BE49-F238E27FC236}">
                <a16:creationId xmlns:a16="http://schemas.microsoft.com/office/drawing/2014/main" id="{2FF29D6E-FFB4-28AE-295C-56D74FE45EBC}"/>
              </a:ext>
            </a:extLst>
          </p:cNvPr>
          <p:cNvSpPr txBox="1"/>
          <p:nvPr/>
        </p:nvSpPr>
        <p:spPr>
          <a:xfrm>
            <a:off x="10437182" y="180999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chemeClr val="bg2">
                    <a:lumMod val="75000"/>
                  </a:schemeClr>
                </a:solidFill>
              </a:rPr>
              <a:t>3</a:t>
            </a:r>
            <a:endParaRPr lang="zh-TW" alt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49" name="文字方塊 48">
            <a:extLst>
              <a:ext uri="{FF2B5EF4-FFF2-40B4-BE49-F238E27FC236}">
                <a16:creationId xmlns:a16="http://schemas.microsoft.com/office/drawing/2014/main" id="{0A82A0B3-F173-6D07-64A7-A670C49B67E0}"/>
              </a:ext>
            </a:extLst>
          </p:cNvPr>
          <p:cNvSpPr txBox="1"/>
          <p:nvPr/>
        </p:nvSpPr>
        <p:spPr>
          <a:xfrm>
            <a:off x="11037015" y="180999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chemeClr val="bg2">
                    <a:lumMod val="75000"/>
                  </a:schemeClr>
                </a:solidFill>
              </a:rPr>
              <a:t>4</a:t>
            </a:r>
            <a:endParaRPr lang="zh-TW" alt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EB0EDA68-BF13-3C61-22F4-84A1DC44C2D6}"/>
              </a:ext>
            </a:extLst>
          </p:cNvPr>
          <p:cNvSpPr/>
          <p:nvPr/>
        </p:nvSpPr>
        <p:spPr>
          <a:xfrm>
            <a:off x="10884659" y="3704629"/>
            <a:ext cx="600377" cy="673757"/>
          </a:xfrm>
          <a:prstGeom prst="rect">
            <a:avLst/>
          </a:prstGeom>
          <a:noFill/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  <a:endParaRPr lang="zh-TW" altLang="en-US" sz="3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20" name="群組 19">
            <a:extLst>
              <a:ext uri="{FF2B5EF4-FFF2-40B4-BE49-F238E27FC236}">
                <a16:creationId xmlns:a16="http://schemas.microsoft.com/office/drawing/2014/main" id="{264FCC64-7C89-24BB-A9CC-39CDE93BD755}"/>
              </a:ext>
            </a:extLst>
          </p:cNvPr>
          <p:cNvGrpSpPr/>
          <p:nvPr/>
        </p:nvGrpSpPr>
        <p:grpSpPr>
          <a:xfrm>
            <a:off x="9222410" y="2998422"/>
            <a:ext cx="319318" cy="706207"/>
            <a:chOff x="9222410" y="2605142"/>
            <a:chExt cx="319318" cy="706207"/>
          </a:xfrm>
        </p:grpSpPr>
        <p:cxnSp>
          <p:nvCxnSpPr>
            <p:cNvPr id="9" name="直線單箭頭接點 8">
              <a:extLst>
                <a:ext uri="{FF2B5EF4-FFF2-40B4-BE49-F238E27FC236}">
                  <a16:creationId xmlns:a16="http://schemas.microsoft.com/office/drawing/2014/main" id="{22BB6BBC-D199-6417-2778-966E9D2676EB}"/>
                </a:ext>
              </a:extLst>
            </p:cNvPr>
            <p:cNvCxnSpPr>
              <a:cxnSpLocks/>
            </p:cNvCxnSpPr>
            <p:nvPr/>
          </p:nvCxnSpPr>
          <p:spPr>
            <a:xfrm>
              <a:off x="9393712" y="2986455"/>
              <a:ext cx="0" cy="324894"/>
            </a:xfrm>
            <a:prstGeom prst="straightConnector1">
              <a:avLst/>
            </a:prstGeom>
            <a:ln w="19050">
              <a:solidFill>
                <a:srgbClr val="0070C0"/>
              </a:solidFill>
              <a:headEnd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文字方塊 9">
              <a:extLst>
                <a:ext uri="{FF2B5EF4-FFF2-40B4-BE49-F238E27FC236}">
                  <a16:creationId xmlns:a16="http://schemas.microsoft.com/office/drawing/2014/main" id="{37DD95F5-95AB-6D12-F995-A41140891966}"/>
                </a:ext>
              </a:extLst>
            </p:cNvPr>
            <p:cNvSpPr txBox="1"/>
            <p:nvPr/>
          </p:nvSpPr>
          <p:spPr>
            <a:xfrm>
              <a:off x="9222410" y="2605142"/>
              <a:ext cx="3193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err="1">
                  <a:solidFill>
                    <a:srgbClr val="0070C0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i</a:t>
              </a:r>
              <a:endParaRPr lang="zh-TW" altLang="en-US" dirty="0">
                <a:solidFill>
                  <a:srgbClr val="0070C0"/>
                </a:solidFill>
                <a:latin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</p:grpSp>
      <p:grpSp>
        <p:nvGrpSpPr>
          <p:cNvPr id="19" name="群組 18">
            <a:extLst>
              <a:ext uri="{FF2B5EF4-FFF2-40B4-BE49-F238E27FC236}">
                <a16:creationId xmlns:a16="http://schemas.microsoft.com/office/drawing/2014/main" id="{EDDFB919-1F76-BB40-93AC-3FB78A07C926}"/>
              </a:ext>
            </a:extLst>
          </p:cNvPr>
          <p:cNvGrpSpPr/>
          <p:nvPr/>
        </p:nvGrpSpPr>
        <p:grpSpPr>
          <a:xfrm>
            <a:off x="8646099" y="2996315"/>
            <a:ext cx="319318" cy="708314"/>
            <a:chOff x="8646099" y="2603035"/>
            <a:chExt cx="319318" cy="708314"/>
          </a:xfrm>
        </p:grpSpPr>
        <p:sp>
          <p:nvSpPr>
            <p:cNvPr id="12" name="文字方塊 11">
              <a:extLst>
                <a:ext uri="{FF2B5EF4-FFF2-40B4-BE49-F238E27FC236}">
                  <a16:creationId xmlns:a16="http://schemas.microsoft.com/office/drawing/2014/main" id="{0E804AF7-1FA8-4699-FD6B-BEA5DF81443E}"/>
                </a:ext>
              </a:extLst>
            </p:cNvPr>
            <p:cNvSpPr txBox="1"/>
            <p:nvPr/>
          </p:nvSpPr>
          <p:spPr>
            <a:xfrm>
              <a:off x="8646099" y="2603035"/>
              <a:ext cx="3193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>
                  <a:solidFill>
                    <a:srgbClr val="0070C0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j</a:t>
              </a:r>
              <a:endParaRPr lang="zh-TW" altLang="en-US" dirty="0">
                <a:solidFill>
                  <a:srgbClr val="0070C0"/>
                </a:solidFill>
                <a:latin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  <p:cxnSp>
          <p:nvCxnSpPr>
            <p:cNvPr id="18" name="直線單箭頭接點 17">
              <a:extLst>
                <a:ext uri="{FF2B5EF4-FFF2-40B4-BE49-F238E27FC236}">
                  <a16:creationId xmlns:a16="http://schemas.microsoft.com/office/drawing/2014/main" id="{B3D0D37C-2F0E-D93A-56E9-B3E1C393EB12}"/>
                </a:ext>
              </a:extLst>
            </p:cNvPr>
            <p:cNvCxnSpPr>
              <a:cxnSpLocks/>
            </p:cNvCxnSpPr>
            <p:nvPr/>
          </p:nvCxnSpPr>
          <p:spPr>
            <a:xfrm>
              <a:off x="8812571" y="2986455"/>
              <a:ext cx="0" cy="324894"/>
            </a:xfrm>
            <a:prstGeom prst="straightConnector1">
              <a:avLst/>
            </a:prstGeom>
            <a:ln w="19050">
              <a:solidFill>
                <a:srgbClr val="0070C0"/>
              </a:solidFill>
              <a:headEnd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投影片編號版面配置區 22">
            <a:extLst>
              <a:ext uri="{FF2B5EF4-FFF2-40B4-BE49-F238E27FC236}">
                <a16:creationId xmlns:a16="http://schemas.microsoft.com/office/drawing/2014/main" id="{BBB31947-0D3B-8A1B-A076-91EFC2CDB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3C46D-CB0F-4644-9DD9-8F746F034205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82875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7 -1.85185E-6 L 0.04922 -1.85185E-6 " pathEditMode="relative" rAng="0" ptsTypes="AA">
                                      <p:cBhvr>
                                        <p:cTn id="34" dur="10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6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375E-6 4.07407E-6 L -0.04545 0.00208 " pathEditMode="relative" rAng="0" ptsTypes="AA">
                                      <p:cBhvr>
                                        <p:cTn id="3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279" y="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30" grpId="0" uiExpand="1" build="allAtOnce"/>
      <p:bldP spid="3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CF3CB0-1338-F90E-CD23-A9B449BEC4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59AA0647-3A54-0CF9-1955-F9D2FCFEAC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7080837"/>
              </p:ext>
            </p:extLst>
          </p:nvPr>
        </p:nvGraphicFramePr>
        <p:xfrm>
          <a:off x="7552652" y="1211808"/>
          <a:ext cx="4309806" cy="36172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09806">
                  <a:extLst>
                    <a:ext uri="{9D8B030D-6E8A-4147-A177-3AD203B41FA5}">
                      <a16:colId xmlns:a16="http://schemas.microsoft.com/office/drawing/2014/main" val="1864138722"/>
                    </a:ext>
                  </a:extLst>
                </a:gridCol>
              </a:tblGrid>
              <a:tr h="421073"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Main array</a:t>
                      </a:r>
                      <a:endParaRPr lang="zh-TW" altLang="en-US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1714300"/>
                  </a:ext>
                </a:extLst>
              </a:tr>
              <a:tr h="3196196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1058671"/>
                  </a:ext>
                </a:extLst>
              </a:tr>
            </a:tbl>
          </a:graphicData>
        </a:graphic>
      </p:graphicFrame>
      <p:sp>
        <p:nvSpPr>
          <p:cNvPr id="2" name="標題 1">
            <a:extLst>
              <a:ext uri="{FF2B5EF4-FFF2-40B4-BE49-F238E27FC236}">
                <a16:creationId xmlns:a16="http://schemas.microsoft.com/office/drawing/2014/main" id="{02C0A929-8D9B-9DCD-0954-3D4E95C3A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Problem 1. Insertion Sort (Cont.)</a:t>
            </a:r>
            <a:br>
              <a:rPr lang="en-US" altLang="zh-TW" b="1" dirty="0"/>
            </a:br>
            <a:r>
              <a:rPr lang="en-US" altLang="zh-TW" sz="3200" dirty="0"/>
              <a:t>2</a:t>
            </a:r>
            <a:r>
              <a:rPr lang="en-US" altLang="zh-TW" sz="3200" baseline="30000" dirty="0"/>
              <a:t>nd</a:t>
            </a:r>
            <a:r>
              <a:rPr lang="en-US" altLang="zh-TW" sz="3200" dirty="0"/>
              <a:t> iteration:</a:t>
            </a:r>
            <a:r>
              <a:rPr lang="zh-TW" altLang="en-US" sz="3200" dirty="0"/>
              <a:t> </a:t>
            </a:r>
            <a:r>
              <a:rPr lang="en-US" altLang="zh-TW" sz="3200" dirty="0"/>
              <a:t>Insert 4</a:t>
            </a:r>
            <a:r>
              <a:rPr lang="zh-TW" altLang="en-US" sz="3200" dirty="0"/>
              <a:t> </a:t>
            </a:r>
            <a:r>
              <a:rPr lang="en-US" altLang="zh-TW" sz="3200" dirty="0"/>
              <a:t>(</a:t>
            </a:r>
            <a:r>
              <a:rPr lang="en-US" altLang="zh-TW" sz="3200" dirty="0" err="1"/>
              <a:t>i</a:t>
            </a:r>
            <a:r>
              <a:rPr lang="en-US" altLang="zh-TW" sz="3200" dirty="0"/>
              <a:t> = 2)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3C97412-F116-4FFE-F3FD-7F0C05E527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altLang="zh-TW" dirty="0">
                <a:solidFill>
                  <a:srgbClr val="0070C0"/>
                </a:solidFill>
              </a:rPr>
              <a:t>key </a:t>
            </a:r>
            <a:r>
              <a:rPr lang="en-US" altLang="zh-TW" dirty="0"/>
              <a:t>=</a:t>
            </a:r>
            <a:r>
              <a:rPr lang="en-US" altLang="zh-TW" dirty="0">
                <a:solidFill>
                  <a:srgbClr val="0070C0"/>
                </a:solidFill>
              </a:rPr>
              <a:t> A</a:t>
            </a:r>
            <a:r>
              <a:rPr lang="en-US" altLang="zh-TW" dirty="0"/>
              <a:t>[</a:t>
            </a:r>
            <a:r>
              <a:rPr lang="en-US" altLang="zh-TW" dirty="0">
                <a:solidFill>
                  <a:srgbClr val="00B050"/>
                </a:solidFill>
              </a:rPr>
              <a:t>2</a:t>
            </a:r>
            <a:r>
              <a:rPr lang="en-US" altLang="zh-TW" dirty="0"/>
              <a:t>]</a:t>
            </a:r>
            <a:r>
              <a:rPr lang="en-US" altLang="zh-TW" dirty="0">
                <a:solidFill>
                  <a:srgbClr val="00B050"/>
                </a:solidFill>
              </a:rPr>
              <a:t> </a:t>
            </a:r>
            <a:r>
              <a:rPr lang="en-US" altLang="zh-TW" dirty="0"/>
              <a:t>= </a:t>
            </a:r>
            <a:r>
              <a:rPr lang="en-US" altLang="zh-TW" dirty="0">
                <a:solidFill>
                  <a:srgbClr val="00B050"/>
                </a:solidFill>
              </a:rPr>
              <a:t>4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dirty="0"/>
              <a:t>Compare: </a:t>
            </a:r>
            <a:r>
              <a:rPr lang="en-US" altLang="zh-TW" dirty="0">
                <a:solidFill>
                  <a:srgbClr val="00B050"/>
                </a:solidFill>
              </a:rPr>
              <a:t>5</a:t>
            </a:r>
            <a:r>
              <a:rPr lang="zh-TW" altLang="en-US" dirty="0">
                <a:solidFill>
                  <a:srgbClr val="00B050"/>
                </a:solidFill>
              </a:rPr>
              <a:t> </a:t>
            </a:r>
            <a:r>
              <a:rPr lang="en-US" altLang="zh-TW" dirty="0"/>
              <a:t>&gt;</a:t>
            </a:r>
            <a:r>
              <a:rPr lang="zh-TW" altLang="en-US" dirty="0"/>
              <a:t> </a:t>
            </a:r>
            <a:r>
              <a:rPr lang="en-US" altLang="zh-TW" dirty="0">
                <a:solidFill>
                  <a:srgbClr val="00B050"/>
                </a:solidFill>
              </a:rPr>
              <a:t>4</a:t>
            </a:r>
            <a:r>
              <a:rPr lang="en-US" altLang="zh-TW" dirty="0"/>
              <a:t> </a:t>
            </a:r>
            <a:r>
              <a:rPr lang="en-US" altLang="zh-TW" dirty="0">
                <a:sym typeface="Wingdings" panose="05000000000000000000" pitchFamily="2" charset="2"/>
              </a:rPr>
              <a:t> Shift </a:t>
            </a:r>
            <a:r>
              <a:rPr lang="en-US" altLang="zh-TW" dirty="0">
                <a:solidFill>
                  <a:srgbClr val="00B050"/>
                </a:solidFill>
                <a:sym typeface="Wingdings" panose="05000000000000000000" pitchFamily="2" charset="2"/>
              </a:rPr>
              <a:t>5 </a:t>
            </a:r>
            <a:r>
              <a:rPr lang="en-US" altLang="zh-TW" dirty="0">
                <a:sym typeface="Wingdings" panose="05000000000000000000" pitchFamily="2" charset="2"/>
              </a:rPr>
              <a:t>(</a:t>
            </a:r>
            <a:r>
              <a:rPr lang="en-US" altLang="zh-TW" dirty="0" err="1">
                <a:solidFill>
                  <a:srgbClr val="7030A0"/>
                </a:solidFill>
              </a:rPr>
              <a:t>shift_cnt</a:t>
            </a:r>
            <a:r>
              <a:rPr lang="zh-TW" altLang="en-US" dirty="0">
                <a:solidFill>
                  <a:srgbClr val="7030A0"/>
                </a:solidFill>
              </a:rPr>
              <a:t> </a:t>
            </a:r>
            <a:r>
              <a:rPr lang="en-US" altLang="zh-TW" dirty="0"/>
              <a:t>+</a:t>
            </a:r>
            <a:r>
              <a:rPr lang="zh-TW" altLang="en-US" dirty="0"/>
              <a:t> </a:t>
            </a:r>
            <a:r>
              <a:rPr lang="en-US" altLang="zh-TW" dirty="0">
                <a:solidFill>
                  <a:srgbClr val="00B050"/>
                </a:solidFill>
              </a:rPr>
              <a:t>1</a:t>
            </a:r>
            <a:r>
              <a:rPr lang="en-US" altLang="zh-TW" dirty="0"/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dirty="0"/>
              <a:t>Compare: </a:t>
            </a:r>
            <a:r>
              <a:rPr lang="en-US" altLang="zh-TW" dirty="0">
                <a:solidFill>
                  <a:srgbClr val="00B050"/>
                </a:solidFill>
              </a:rPr>
              <a:t>2</a:t>
            </a:r>
            <a:r>
              <a:rPr lang="zh-TW" altLang="en-US" dirty="0">
                <a:solidFill>
                  <a:srgbClr val="00B050"/>
                </a:solidFill>
              </a:rPr>
              <a:t> </a:t>
            </a:r>
            <a:r>
              <a:rPr lang="en-US" altLang="zh-TW" dirty="0"/>
              <a:t>&gt;</a:t>
            </a:r>
            <a:r>
              <a:rPr lang="zh-TW" altLang="en-US" dirty="0"/>
              <a:t> </a:t>
            </a:r>
            <a:r>
              <a:rPr lang="en-US" altLang="zh-TW" dirty="0">
                <a:solidFill>
                  <a:srgbClr val="00B050"/>
                </a:solidFill>
              </a:rPr>
              <a:t>4</a:t>
            </a:r>
            <a:r>
              <a:rPr lang="en-US" altLang="zh-TW" dirty="0"/>
              <a:t> </a:t>
            </a:r>
            <a:r>
              <a:rPr lang="en-US" altLang="zh-TW" dirty="0">
                <a:sym typeface="Wingdings" panose="05000000000000000000" pitchFamily="2" charset="2"/>
              </a:rPr>
              <a:t> False (stop)</a:t>
            </a:r>
            <a:endParaRPr lang="en-US" altLang="zh-TW" dirty="0">
              <a:solidFill>
                <a:srgbClr val="00B050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altLang="zh-TW" dirty="0"/>
              <a:t>Insert:</a:t>
            </a:r>
            <a:r>
              <a:rPr lang="zh-TW" altLang="en-US" dirty="0"/>
              <a:t> </a:t>
            </a:r>
            <a:r>
              <a:rPr lang="en-US" altLang="zh-TW" dirty="0">
                <a:solidFill>
                  <a:srgbClr val="00B050"/>
                </a:solidFill>
              </a:rPr>
              <a:t>4</a:t>
            </a:r>
            <a:r>
              <a:rPr lang="zh-TW" altLang="en-US" dirty="0"/>
              <a:t> </a:t>
            </a:r>
            <a:r>
              <a:rPr lang="en-US" altLang="zh-TW" dirty="0"/>
              <a:t>insert to </a:t>
            </a:r>
            <a:r>
              <a:rPr lang="en-US" altLang="zh-TW" dirty="0">
                <a:solidFill>
                  <a:srgbClr val="0070C0"/>
                </a:solidFill>
              </a:rPr>
              <a:t>A</a:t>
            </a:r>
            <a:r>
              <a:rPr lang="en-US" altLang="zh-TW" dirty="0"/>
              <a:t>[</a:t>
            </a:r>
            <a:r>
              <a:rPr lang="en-US" altLang="zh-TW" dirty="0">
                <a:solidFill>
                  <a:srgbClr val="00B050"/>
                </a:solidFill>
              </a:rPr>
              <a:t>1</a:t>
            </a:r>
            <a:r>
              <a:rPr lang="en-US" altLang="zh-TW" dirty="0"/>
              <a:t>]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59DB5BAC-61B5-4756-94DE-FB5A0FF701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8067250"/>
              </p:ext>
            </p:extLst>
          </p:nvPr>
        </p:nvGraphicFramePr>
        <p:xfrm>
          <a:off x="7552652" y="5056739"/>
          <a:ext cx="4309806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09806">
                  <a:extLst>
                    <a:ext uri="{9D8B030D-6E8A-4147-A177-3AD203B41FA5}">
                      <a16:colId xmlns:a16="http://schemas.microsoft.com/office/drawing/2014/main" val="10494832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bg1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State</a:t>
                      </a:r>
                      <a:endParaRPr lang="zh-TW" altLang="en-US" dirty="0">
                        <a:solidFill>
                          <a:schemeClr val="bg1"/>
                        </a:solidFill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24067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Current array: </a:t>
                      </a:r>
                      <a:r>
                        <a:rPr lang="en-US" altLang="zh-TW" dirty="0">
                          <a:solidFill>
                            <a:srgbClr val="00B050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[2, 4, 5, 6, 1]</a:t>
                      </a:r>
                      <a:endParaRPr lang="zh-TW" altLang="en-US" dirty="0">
                        <a:solidFill>
                          <a:srgbClr val="00B050"/>
                        </a:solidFill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40465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err="1">
                          <a:solidFill>
                            <a:srgbClr val="7030A0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shift_cnt</a:t>
                      </a:r>
                      <a:r>
                        <a:rPr lang="en-US" altLang="zh-TW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:</a:t>
                      </a:r>
                      <a:r>
                        <a:rPr lang="en-US" altLang="zh-TW" dirty="0">
                          <a:solidFill>
                            <a:srgbClr val="0070C0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 </a:t>
                      </a:r>
                      <a:r>
                        <a:rPr lang="en-US" altLang="zh-TW" b="0" dirty="0">
                          <a:solidFill>
                            <a:srgbClr val="00B050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2</a:t>
                      </a:r>
                      <a:endParaRPr lang="zh-TW" altLang="en-US" b="0" dirty="0">
                        <a:solidFill>
                          <a:srgbClr val="00B050"/>
                        </a:solidFill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3911669"/>
                  </a:ext>
                </a:extLst>
              </a:tr>
            </a:tbl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3A0C7C53-EC63-6861-B316-BDDF433B3D75}"/>
              </a:ext>
            </a:extLst>
          </p:cNvPr>
          <p:cNvSpPr/>
          <p:nvPr/>
        </p:nvSpPr>
        <p:spPr>
          <a:xfrm>
            <a:off x="8495043" y="2163552"/>
            <a:ext cx="600376" cy="673756"/>
          </a:xfrm>
          <a:prstGeom prst="rect">
            <a:avLst/>
          </a:prstGeom>
          <a:noFill/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2</a:t>
            </a:r>
            <a:endParaRPr lang="zh-TW" altLang="en-US" sz="3200" dirty="0">
              <a:solidFill>
                <a:schemeClr val="tx1">
                  <a:lumMod val="65000"/>
                  <a:lumOff val="35000"/>
                </a:schemeClr>
              </a:solidFill>
              <a:effectLst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B0DEF90-B532-BB44-514D-30903A14ADF3}"/>
              </a:ext>
            </a:extLst>
          </p:cNvPr>
          <p:cNvSpPr/>
          <p:nvPr/>
        </p:nvSpPr>
        <p:spPr>
          <a:xfrm>
            <a:off x="9095130" y="2163551"/>
            <a:ext cx="600376" cy="673756"/>
          </a:xfrm>
          <a:prstGeom prst="rect">
            <a:avLst/>
          </a:prstGeom>
          <a:noFill/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5</a:t>
            </a:r>
            <a:endParaRPr lang="zh-TW" altLang="en-US" sz="3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8F434B0-1E47-6963-6AE3-7559E52E792B}"/>
              </a:ext>
            </a:extLst>
          </p:cNvPr>
          <p:cNvSpPr/>
          <p:nvPr/>
        </p:nvSpPr>
        <p:spPr>
          <a:xfrm>
            <a:off x="9694961" y="2163551"/>
            <a:ext cx="597104" cy="673756"/>
          </a:xfrm>
          <a:prstGeom prst="rect">
            <a:avLst/>
          </a:prstGeom>
          <a:noFill/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4</a:t>
            </a:r>
            <a:endParaRPr lang="zh-TW" altLang="en-US" sz="3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F6903B8-9E4E-F28D-A8E2-72C5EC50E996}"/>
              </a:ext>
            </a:extLst>
          </p:cNvPr>
          <p:cNvSpPr/>
          <p:nvPr/>
        </p:nvSpPr>
        <p:spPr>
          <a:xfrm>
            <a:off x="10292065" y="2163550"/>
            <a:ext cx="600377" cy="673757"/>
          </a:xfrm>
          <a:prstGeom prst="rect">
            <a:avLst/>
          </a:prstGeom>
          <a:noFill/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6</a:t>
            </a:r>
            <a:endParaRPr lang="zh-TW" altLang="en-US" sz="3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BF31E67-892F-3C05-84C5-3BC41660FAD2}"/>
              </a:ext>
            </a:extLst>
          </p:cNvPr>
          <p:cNvSpPr/>
          <p:nvPr/>
        </p:nvSpPr>
        <p:spPr>
          <a:xfrm>
            <a:off x="10895170" y="2163551"/>
            <a:ext cx="600377" cy="673757"/>
          </a:xfrm>
          <a:prstGeom prst="rect">
            <a:avLst/>
          </a:prstGeom>
          <a:noFill/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  <a:endParaRPr lang="zh-TW" altLang="en-US" sz="3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24" name="接點: 肘形 23">
            <a:extLst>
              <a:ext uri="{FF2B5EF4-FFF2-40B4-BE49-F238E27FC236}">
                <a16:creationId xmlns:a16="http://schemas.microsoft.com/office/drawing/2014/main" id="{2AA1F98A-BF7A-5237-A964-0FEFE415F622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9673944" y="4078790"/>
            <a:ext cx="1" cy="600087"/>
          </a:xfrm>
          <a:prstGeom prst="bentConnector3">
            <a:avLst>
              <a:gd name="adj1" fmla="val -22860000000"/>
            </a:avLst>
          </a:prstGeom>
          <a:ln w="2857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矩形 25">
            <a:extLst>
              <a:ext uri="{FF2B5EF4-FFF2-40B4-BE49-F238E27FC236}">
                <a16:creationId xmlns:a16="http://schemas.microsoft.com/office/drawing/2014/main" id="{DA7C6405-52EC-69C8-669D-D281FB1F301E}"/>
              </a:ext>
            </a:extLst>
          </p:cNvPr>
          <p:cNvSpPr/>
          <p:nvPr/>
        </p:nvSpPr>
        <p:spPr>
          <a:xfrm>
            <a:off x="7805347" y="2933269"/>
            <a:ext cx="600376" cy="673756"/>
          </a:xfrm>
          <a:prstGeom prst="rect">
            <a:avLst/>
          </a:prstGeom>
          <a:noFill/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4</a:t>
            </a:r>
            <a:endParaRPr lang="zh-TW" altLang="en-US" sz="3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28" name="接點: 肘形 27">
            <a:extLst>
              <a:ext uri="{FF2B5EF4-FFF2-40B4-BE49-F238E27FC236}">
                <a16:creationId xmlns:a16="http://schemas.microsoft.com/office/drawing/2014/main" id="{07F686BD-FF54-B79C-207F-A67CCA50C233}"/>
              </a:ext>
            </a:extLst>
          </p:cNvPr>
          <p:cNvCxnSpPr>
            <a:cxnSpLocks/>
            <a:stCxn id="26" idx="3"/>
            <a:endCxn id="31" idx="0"/>
          </p:cNvCxnSpPr>
          <p:nvPr/>
        </p:nvCxnSpPr>
        <p:spPr>
          <a:xfrm>
            <a:off x="8405723" y="3270147"/>
            <a:ext cx="988207" cy="434930"/>
          </a:xfrm>
          <a:prstGeom prst="bentConnector2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矩形 29">
            <a:extLst>
              <a:ext uri="{FF2B5EF4-FFF2-40B4-BE49-F238E27FC236}">
                <a16:creationId xmlns:a16="http://schemas.microsoft.com/office/drawing/2014/main" id="{FA2F8CB8-A5D6-939C-2B23-9380200BEC14}"/>
              </a:ext>
            </a:extLst>
          </p:cNvPr>
          <p:cNvSpPr/>
          <p:nvPr/>
        </p:nvSpPr>
        <p:spPr>
          <a:xfrm>
            <a:off x="8495043" y="3705078"/>
            <a:ext cx="600376" cy="673756"/>
          </a:xfrm>
          <a:prstGeom prst="rect">
            <a:avLst/>
          </a:prstGeom>
          <a:noFill/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</a:t>
            </a:r>
            <a:endParaRPr lang="zh-TW" altLang="en-US" sz="3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BA8E107B-8CE8-78DC-71A3-EA5AAC5AD579}"/>
              </a:ext>
            </a:extLst>
          </p:cNvPr>
          <p:cNvSpPr/>
          <p:nvPr/>
        </p:nvSpPr>
        <p:spPr>
          <a:xfrm>
            <a:off x="9095130" y="3705077"/>
            <a:ext cx="597600" cy="673756"/>
          </a:xfrm>
          <a:prstGeom prst="rect">
            <a:avLst/>
          </a:prstGeom>
          <a:noFill/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5</a:t>
            </a:r>
            <a:endParaRPr lang="zh-TW" altLang="en-US" sz="3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8ABBCA4F-CF7C-C55E-D1A2-F538402B5CEC}"/>
              </a:ext>
            </a:extLst>
          </p:cNvPr>
          <p:cNvSpPr/>
          <p:nvPr/>
        </p:nvSpPr>
        <p:spPr>
          <a:xfrm>
            <a:off x="9692235" y="3705076"/>
            <a:ext cx="600376" cy="673756"/>
          </a:xfrm>
          <a:prstGeom prst="rect">
            <a:avLst/>
          </a:prstGeom>
          <a:noFill/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4</a:t>
            </a:r>
            <a:endParaRPr lang="zh-TW" altLang="en-US" sz="3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13E33ECA-2E6C-69EF-E2E9-65E73B8D9863}"/>
              </a:ext>
            </a:extLst>
          </p:cNvPr>
          <p:cNvSpPr/>
          <p:nvPr/>
        </p:nvSpPr>
        <p:spPr>
          <a:xfrm>
            <a:off x="10292064" y="3705076"/>
            <a:ext cx="604800" cy="673757"/>
          </a:xfrm>
          <a:prstGeom prst="rect">
            <a:avLst/>
          </a:prstGeom>
          <a:noFill/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6</a:t>
            </a:r>
            <a:endParaRPr lang="zh-TW" altLang="en-US" sz="3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B29783A1-40F8-EB0A-9FB0-746A52399B0F}"/>
              </a:ext>
            </a:extLst>
          </p:cNvPr>
          <p:cNvSpPr/>
          <p:nvPr/>
        </p:nvSpPr>
        <p:spPr>
          <a:xfrm>
            <a:off x="10895170" y="3705077"/>
            <a:ext cx="600377" cy="673757"/>
          </a:xfrm>
          <a:prstGeom prst="rect">
            <a:avLst/>
          </a:prstGeom>
          <a:noFill/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  <a:endParaRPr lang="zh-TW" altLang="en-US" sz="3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B3FAAF08-0807-B5E5-6453-869DE31C71B2}"/>
              </a:ext>
            </a:extLst>
          </p:cNvPr>
          <p:cNvSpPr/>
          <p:nvPr/>
        </p:nvSpPr>
        <p:spPr>
          <a:xfrm>
            <a:off x="9093511" y="3705076"/>
            <a:ext cx="600376" cy="673756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4</a:t>
            </a:r>
            <a:endParaRPr lang="zh-TW" altLang="en-US" sz="3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9" name="文字方塊 38">
            <a:extLst>
              <a:ext uri="{FF2B5EF4-FFF2-40B4-BE49-F238E27FC236}">
                <a16:creationId xmlns:a16="http://schemas.microsoft.com/office/drawing/2014/main" id="{239994B2-D45A-B922-14FD-591E6F7C6A79}"/>
              </a:ext>
            </a:extLst>
          </p:cNvPr>
          <p:cNvSpPr txBox="1"/>
          <p:nvPr/>
        </p:nvSpPr>
        <p:spPr>
          <a:xfrm>
            <a:off x="8644387" y="181044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chemeClr val="bg2">
                    <a:lumMod val="75000"/>
                  </a:schemeClr>
                </a:solidFill>
              </a:rPr>
              <a:t>0</a:t>
            </a:r>
            <a:endParaRPr lang="zh-TW" alt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08FB1783-D0FF-091E-D1F4-B9C8F2EC55B6}"/>
              </a:ext>
            </a:extLst>
          </p:cNvPr>
          <p:cNvSpPr txBox="1"/>
          <p:nvPr/>
        </p:nvSpPr>
        <p:spPr>
          <a:xfrm>
            <a:off x="9242855" y="181044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chemeClr val="bg2">
                    <a:lumMod val="75000"/>
                  </a:schemeClr>
                </a:solidFill>
              </a:rPr>
              <a:t>1</a:t>
            </a:r>
            <a:endParaRPr lang="zh-TW" alt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69A8325E-900C-954F-600D-AAF28CAA984C}"/>
              </a:ext>
            </a:extLst>
          </p:cNvPr>
          <p:cNvSpPr txBox="1"/>
          <p:nvPr/>
        </p:nvSpPr>
        <p:spPr>
          <a:xfrm>
            <a:off x="9849200" y="181044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chemeClr val="bg2">
                    <a:lumMod val="75000"/>
                  </a:schemeClr>
                </a:solidFill>
              </a:rPr>
              <a:t>2</a:t>
            </a:r>
            <a:endParaRPr lang="zh-TW" alt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9487CF05-11D8-E9B9-6167-8420E65CE86B}"/>
              </a:ext>
            </a:extLst>
          </p:cNvPr>
          <p:cNvSpPr txBox="1"/>
          <p:nvPr/>
        </p:nvSpPr>
        <p:spPr>
          <a:xfrm>
            <a:off x="10439995" y="181044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chemeClr val="bg2">
                    <a:lumMod val="75000"/>
                  </a:schemeClr>
                </a:solidFill>
              </a:rPr>
              <a:t>3</a:t>
            </a:r>
            <a:endParaRPr lang="zh-TW" alt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D2E83B57-FE85-8BCE-19F9-455F417F2D57}"/>
              </a:ext>
            </a:extLst>
          </p:cNvPr>
          <p:cNvSpPr txBox="1"/>
          <p:nvPr/>
        </p:nvSpPr>
        <p:spPr>
          <a:xfrm>
            <a:off x="11039828" y="181044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chemeClr val="bg2">
                    <a:lumMod val="75000"/>
                  </a:schemeClr>
                </a:solidFill>
              </a:rPr>
              <a:t>4</a:t>
            </a:r>
            <a:endParaRPr lang="zh-TW" alt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grpSp>
        <p:nvGrpSpPr>
          <p:cNvPr id="11" name="群組 10">
            <a:extLst>
              <a:ext uri="{FF2B5EF4-FFF2-40B4-BE49-F238E27FC236}">
                <a16:creationId xmlns:a16="http://schemas.microsoft.com/office/drawing/2014/main" id="{677DAFD0-BD7A-214B-E55D-23E768473543}"/>
              </a:ext>
            </a:extLst>
          </p:cNvPr>
          <p:cNvGrpSpPr/>
          <p:nvPr/>
        </p:nvGrpSpPr>
        <p:grpSpPr>
          <a:xfrm>
            <a:off x="9810944" y="3002798"/>
            <a:ext cx="319318" cy="706207"/>
            <a:chOff x="9222410" y="2605142"/>
            <a:chExt cx="319318" cy="706207"/>
          </a:xfrm>
        </p:grpSpPr>
        <p:cxnSp>
          <p:nvCxnSpPr>
            <p:cNvPr id="12" name="直線單箭頭接點 11">
              <a:extLst>
                <a:ext uri="{FF2B5EF4-FFF2-40B4-BE49-F238E27FC236}">
                  <a16:creationId xmlns:a16="http://schemas.microsoft.com/office/drawing/2014/main" id="{552EC1C3-2DCC-E122-1158-F59B9F7A67A7}"/>
                </a:ext>
              </a:extLst>
            </p:cNvPr>
            <p:cNvCxnSpPr>
              <a:cxnSpLocks/>
            </p:cNvCxnSpPr>
            <p:nvPr/>
          </p:nvCxnSpPr>
          <p:spPr>
            <a:xfrm>
              <a:off x="9393712" y="2986455"/>
              <a:ext cx="0" cy="324894"/>
            </a:xfrm>
            <a:prstGeom prst="straightConnector1">
              <a:avLst/>
            </a:prstGeom>
            <a:ln w="19050">
              <a:solidFill>
                <a:srgbClr val="0070C0"/>
              </a:solidFill>
              <a:headEnd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文字方塊 12">
              <a:extLst>
                <a:ext uri="{FF2B5EF4-FFF2-40B4-BE49-F238E27FC236}">
                  <a16:creationId xmlns:a16="http://schemas.microsoft.com/office/drawing/2014/main" id="{166B2DC3-0404-6C2E-C8CF-D7EAD6747459}"/>
                </a:ext>
              </a:extLst>
            </p:cNvPr>
            <p:cNvSpPr txBox="1"/>
            <p:nvPr/>
          </p:nvSpPr>
          <p:spPr>
            <a:xfrm>
              <a:off x="9222410" y="2605142"/>
              <a:ext cx="3193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err="1">
                  <a:solidFill>
                    <a:srgbClr val="0070C0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i</a:t>
              </a:r>
              <a:endParaRPr lang="zh-TW" altLang="en-US" dirty="0">
                <a:solidFill>
                  <a:srgbClr val="0070C0"/>
                </a:solidFill>
                <a:latin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</p:grpSp>
      <p:grpSp>
        <p:nvGrpSpPr>
          <p:cNvPr id="14" name="群組 13">
            <a:extLst>
              <a:ext uri="{FF2B5EF4-FFF2-40B4-BE49-F238E27FC236}">
                <a16:creationId xmlns:a16="http://schemas.microsoft.com/office/drawing/2014/main" id="{F0D22EC2-1B15-D8F7-E654-A2E21A3BAAC6}"/>
              </a:ext>
            </a:extLst>
          </p:cNvPr>
          <p:cNvGrpSpPr/>
          <p:nvPr/>
        </p:nvGrpSpPr>
        <p:grpSpPr>
          <a:xfrm>
            <a:off x="9234633" y="3000691"/>
            <a:ext cx="319318" cy="708314"/>
            <a:chOff x="8646099" y="2603035"/>
            <a:chExt cx="319318" cy="708314"/>
          </a:xfrm>
        </p:grpSpPr>
        <p:sp>
          <p:nvSpPr>
            <p:cNvPr id="15" name="文字方塊 14">
              <a:extLst>
                <a:ext uri="{FF2B5EF4-FFF2-40B4-BE49-F238E27FC236}">
                  <a16:creationId xmlns:a16="http://schemas.microsoft.com/office/drawing/2014/main" id="{3006F394-80DF-1678-FF39-B9F008DA0AA8}"/>
                </a:ext>
              </a:extLst>
            </p:cNvPr>
            <p:cNvSpPr txBox="1"/>
            <p:nvPr/>
          </p:nvSpPr>
          <p:spPr>
            <a:xfrm>
              <a:off x="8646099" y="2603035"/>
              <a:ext cx="3193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>
                  <a:solidFill>
                    <a:srgbClr val="0070C0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j</a:t>
              </a:r>
              <a:endParaRPr lang="zh-TW" altLang="en-US" dirty="0">
                <a:solidFill>
                  <a:srgbClr val="0070C0"/>
                </a:solidFill>
                <a:latin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  <p:cxnSp>
          <p:nvCxnSpPr>
            <p:cNvPr id="16" name="直線單箭頭接點 15">
              <a:extLst>
                <a:ext uri="{FF2B5EF4-FFF2-40B4-BE49-F238E27FC236}">
                  <a16:creationId xmlns:a16="http://schemas.microsoft.com/office/drawing/2014/main" id="{80C616C8-04F0-9ABF-EC11-DB38B3E86BF9}"/>
                </a:ext>
              </a:extLst>
            </p:cNvPr>
            <p:cNvCxnSpPr>
              <a:cxnSpLocks/>
            </p:cNvCxnSpPr>
            <p:nvPr/>
          </p:nvCxnSpPr>
          <p:spPr>
            <a:xfrm>
              <a:off x="8812571" y="2986455"/>
              <a:ext cx="0" cy="324894"/>
            </a:xfrm>
            <a:prstGeom prst="straightConnector1">
              <a:avLst/>
            </a:prstGeom>
            <a:ln w="19050">
              <a:solidFill>
                <a:srgbClr val="0070C0"/>
              </a:solidFill>
              <a:headEnd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投影片編號版面配置區 18">
            <a:extLst>
              <a:ext uri="{FF2B5EF4-FFF2-40B4-BE49-F238E27FC236}">
                <a16:creationId xmlns:a16="http://schemas.microsoft.com/office/drawing/2014/main" id="{F4A7879A-CC9C-3E17-FDA9-E91708D44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3C46D-CB0F-4644-9DD9-8F746F034205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72156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25E-6 -1.85185E-6 L 0.04922 -1.85185E-6 " pathEditMode="relative" rAng="0" ptsTypes="AA">
                                      <p:cBhvr>
                                        <p:cTn id="27" dur="10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61" y="0"/>
                                    </p:animMotion>
                                  </p:childTnLst>
                                </p:cTn>
                              </p:par>
                              <p:par>
                                <p:cTn id="2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0833E-6 -3.7037E-7 L -0.04922 -0.00046 " pathEditMode="relative" rAng="0" ptsTypes="AA">
                                      <p:cBhvr>
                                        <p:cTn id="3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461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000"/>
                            </p:stCondLst>
                            <p:childTnLst>
                              <p:par>
                                <p:cTn id="52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3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5BD934-629F-57AA-0F6B-8B2FD8CC86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E35E537A-4230-20A8-6762-7C315D5B60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4285538"/>
              </p:ext>
            </p:extLst>
          </p:nvPr>
        </p:nvGraphicFramePr>
        <p:xfrm>
          <a:off x="7552652" y="1211808"/>
          <a:ext cx="4309806" cy="36172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09806">
                  <a:extLst>
                    <a:ext uri="{9D8B030D-6E8A-4147-A177-3AD203B41FA5}">
                      <a16:colId xmlns:a16="http://schemas.microsoft.com/office/drawing/2014/main" val="1864138722"/>
                    </a:ext>
                  </a:extLst>
                </a:gridCol>
              </a:tblGrid>
              <a:tr h="421073"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Main array</a:t>
                      </a:r>
                      <a:endParaRPr lang="zh-TW" altLang="en-US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1714300"/>
                  </a:ext>
                </a:extLst>
              </a:tr>
              <a:tr h="3196196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1058671"/>
                  </a:ext>
                </a:extLst>
              </a:tr>
            </a:tbl>
          </a:graphicData>
        </a:graphic>
      </p:graphicFrame>
      <p:sp>
        <p:nvSpPr>
          <p:cNvPr id="2" name="標題 1">
            <a:extLst>
              <a:ext uri="{FF2B5EF4-FFF2-40B4-BE49-F238E27FC236}">
                <a16:creationId xmlns:a16="http://schemas.microsoft.com/office/drawing/2014/main" id="{22415495-64F0-D1B5-AD9A-0AE76C3B9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Problem 1. Insertion Sort (Cont.)</a:t>
            </a:r>
            <a:br>
              <a:rPr lang="en-US" altLang="zh-TW" b="1" dirty="0"/>
            </a:br>
            <a:r>
              <a:rPr lang="en-US" altLang="zh-TW" sz="3200" dirty="0"/>
              <a:t>3</a:t>
            </a:r>
            <a:r>
              <a:rPr lang="en-US" altLang="zh-TW" sz="3200" baseline="30000" dirty="0"/>
              <a:t>rd</a:t>
            </a:r>
            <a:r>
              <a:rPr lang="en-US" altLang="zh-TW" sz="3200" dirty="0"/>
              <a:t> iteration:</a:t>
            </a:r>
            <a:r>
              <a:rPr lang="zh-TW" altLang="en-US" sz="3200" dirty="0"/>
              <a:t> </a:t>
            </a:r>
            <a:r>
              <a:rPr lang="en-US" altLang="zh-TW" sz="3200" dirty="0"/>
              <a:t>Insert 6</a:t>
            </a:r>
            <a:r>
              <a:rPr lang="zh-TW" altLang="en-US" sz="3200" dirty="0"/>
              <a:t> </a:t>
            </a:r>
            <a:r>
              <a:rPr lang="en-US" altLang="zh-TW" sz="3200" dirty="0"/>
              <a:t>(</a:t>
            </a:r>
            <a:r>
              <a:rPr lang="en-US" altLang="zh-TW" sz="3200" dirty="0" err="1"/>
              <a:t>i</a:t>
            </a:r>
            <a:r>
              <a:rPr lang="en-US" altLang="zh-TW" sz="3200" dirty="0"/>
              <a:t> = 3)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31F8BFF-FEA9-67E0-D589-F872B6D781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altLang="zh-TW" dirty="0">
                <a:solidFill>
                  <a:srgbClr val="0070C0"/>
                </a:solidFill>
              </a:rPr>
              <a:t>key </a:t>
            </a:r>
            <a:r>
              <a:rPr lang="en-US" altLang="zh-TW" dirty="0"/>
              <a:t>=</a:t>
            </a:r>
            <a:r>
              <a:rPr lang="en-US" altLang="zh-TW" dirty="0">
                <a:solidFill>
                  <a:srgbClr val="0070C0"/>
                </a:solidFill>
              </a:rPr>
              <a:t> A</a:t>
            </a:r>
            <a:r>
              <a:rPr lang="en-US" altLang="zh-TW" dirty="0"/>
              <a:t>[</a:t>
            </a:r>
            <a:r>
              <a:rPr lang="en-US" altLang="zh-TW" dirty="0">
                <a:solidFill>
                  <a:srgbClr val="00B050"/>
                </a:solidFill>
              </a:rPr>
              <a:t>3</a:t>
            </a:r>
            <a:r>
              <a:rPr lang="en-US" altLang="zh-TW" dirty="0"/>
              <a:t>]</a:t>
            </a:r>
            <a:r>
              <a:rPr lang="en-US" altLang="zh-TW" dirty="0">
                <a:solidFill>
                  <a:srgbClr val="00B050"/>
                </a:solidFill>
              </a:rPr>
              <a:t> </a:t>
            </a:r>
            <a:r>
              <a:rPr lang="en-US" altLang="zh-TW" dirty="0"/>
              <a:t>= </a:t>
            </a:r>
            <a:r>
              <a:rPr lang="en-US" altLang="zh-TW" dirty="0">
                <a:solidFill>
                  <a:srgbClr val="00B050"/>
                </a:solidFill>
              </a:rPr>
              <a:t>6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dirty="0"/>
              <a:t>Compare: </a:t>
            </a:r>
            <a:r>
              <a:rPr lang="en-US" altLang="zh-TW" dirty="0">
                <a:solidFill>
                  <a:srgbClr val="00B050"/>
                </a:solidFill>
              </a:rPr>
              <a:t>5</a:t>
            </a:r>
            <a:r>
              <a:rPr lang="zh-TW" altLang="en-US" dirty="0">
                <a:solidFill>
                  <a:srgbClr val="00B050"/>
                </a:solidFill>
              </a:rPr>
              <a:t> </a:t>
            </a:r>
            <a:r>
              <a:rPr lang="en-US" altLang="zh-TW" dirty="0"/>
              <a:t>&gt;</a:t>
            </a:r>
            <a:r>
              <a:rPr lang="zh-TW" altLang="en-US" dirty="0"/>
              <a:t> </a:t>
            </a:r>
            <a:r>
              <a:rPr lang="en-US" altLang="zh-TW" dirty="0">
                <a:solidFill>
                  <a:srgbClr val="00B050"/>
                </a:solidFill>
              </a:rPr>
              <a:t>6</a:t>
            </a:r>
            <a:r>
              <a:rPr lang="en-US" altLang="zh-TW" dirty="0"/>
              <a:t> </a:t>
            </a:r>
            <a:r>
              <a:rPr lang="en-US" altLang="zh-TW" dirty="0">
                <a:sym typeface="Wingdings" panose="05000000000000000000" pitchFamily="2" charset="2"/>
              </a:rPr>
              <a:t> False (stop)</a:t>
            </a:r>
            <a:endParaRPr lang="en-US" altLang="zh-TW" dirty="0">
              <a:solidFill>
                <a:srgbClr val="00B050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altLang="zh-TW" dirty="0"/>
              <a:t>No shift</a:t>
            </a:r>
            <a:endParaRPr lang="en-US" altLang="zh-TW" dirty="0">
              <a:solidFill>
                <a:srgbClr val="00B050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altLang="zh-TW" dirty="0"/>
              <a:t>Insert:</a:t>
            </a:r>
            <a:r>
              <a:rPr lang="zh-TW" altLang="en-US" dirty="0"/>
              <a:t> </a:t>
            </a:r>
            <a:r>
              <a:rPr lang="en-US" altLang="zh-TW" dirty="0">
                <a:solidFill>
                  <a:srgbClr val="00B050"/>
                </a:solidFill>
              </a:rPr>
              <a:t>6</a:t>
            </a:r>
            <a:r>
              <a:rPr lang="zh-TW" altLang="en-US" dirty="0"/>
              <a:t> </a:t>
            </a:r>
            <a:r>
              <a:rPr lang="en-US" altLang="zh-TW" dirty="0"/>
              <a:t>insert to </a:t>
            </a:r>
            <a:r>
              <a:rPr lang="en-US" altLang="zh-TW" dirty="0">
                <a:solidFill>
                  <a:srgbClr val="0070C0"/>
                </a:solidFill>
              </a:rPr>
              <a:t>A</a:t>
            </a:r>
            <a:r>
              <a:rPr lang="en-US" altLang="zh-TW" dirty="0"/>
              <a:t>[</a:t>
            </a:r>
            <a:r>
              <a:rPr lang="en-US" altLang="zh-TW" dirty="0">
                <a:solidFill>
                  <a:srgbClr val="00B050"/>
                </a:solidFill>
              </a:rPr>
              <a:t>3</a:t>
            </a:r>
            <a:r>
              <a:rPr lang="en-US" altLang="zh-TW" dirty="0"/>
              <a:t>]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CE345D29-89EF-8551-279F-EADB4C5E90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5217967"/>
              </p:ext>
            </p:extLst>
          </p:nvPr>
        </p:nvGraphicFramePr>
        <p:xfrm>
          <a:off x="7552652" y="5056258"/>
          <a:ext cx="4309806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09806">
                  <a:extLst>
                    <a:ext uri="{9D8B030D-6E8A-4147-A177-3AD203B41FA5}">
                      <a16:colId xmlns:a16="http://schemas.microsoft.com/office/drawing/2014/main" val="10494832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bg1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State</a:t>
                      </a:r>
                      <a:endParaRPr lang="zh-TW" altLang="en-US" dirty="0">
                        <a:solidFill>
                          <a:schemeClr val="bg1"/>
                        </a:solidFill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24067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Current array: </a:t>
                      </a:r>
                      <a:r>
                        <a:rPr lang="en-US" altLang="zh-TW" dirty="0">
                          <a:solidFill>
                            <a:srgbClr val="00B050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[2, 4, 5, 6, 1]</a:t>
                      </a:r>
                      <a:endParaRPr lang="zh-TW" altLang="en-US" dirty="0">
                        <a:solidFill>
                          <a:srgbClr val="00B050"/>
                        </a:solidFill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40465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err="1">
                          <a:solidFill>
                            <a:srgbClr val="7030A0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shift_cnt</a:t>
                      </a:r>
                      <a:r>
                        <a:rPr lang="en-US" altLang="zh-TW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:</a:t>
                      </a:r>
                      <a:r>
                        <a:rPr lang="en-US" altLang="zh-TW" dirty="0">
                          <a:solidFill>
                            <a:srgbClr val="0070C0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 </a:t>
                      </a:r>
                      <a:r>
                        <a:rPr lang="en-US" altLang="zh-TW" b="0" dirty="0">
                          <a:solidFill>
                            <a:srgbClr val="00B050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2</a:t>
                      </a:r>
                      <a:endParaRPr lang="zh-TW" altLang="en-US" b="0" dirty="0">
                        <a:solidFill>
                          <a:srgbClr val="00B050"/>
                        </a:solidFill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3911669"/>
                  </a:ext>
                </a:extLst>
              </a:tr>
            </a:tbl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9D06C501-B020-C790-76F2-B15D241FF652}"/>
              </a:ext>
            </a:extLst>
          </p:cNvPr>
          <p:cNvSpPr/>
          <p:nvPr/>
        </p:nvSpPr>
        <p:spPr>
          <a:xfrm>
            <a:off x="8492226" y="2163070"/>
            <a:ext cx="600376" cy="673756"/>
          </a:xfrm>
          <a:prstGeom prst="rect">
            <a:avLst/>
          </a:prstGeom>
          <a:noFill/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2</a:t>
            </a:r>
            <a:endParaRPr lang="zh-TW" altLang="en-US" sz="3200" dirty="0">
              <a:solidFill>
                <a:schemeClr val="tx1">
                  <a:lumMod val="65000"/>
                  <a:lumOff val="35000"/>
                </a:schemeClr>
              </a:solidFill>
              <a:effectLst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56ADD7C-9942-1842-231D-F7F35CDE9C09}"/>
              </a:ext>
            </a:extLst>
          </p:cNvPr>
          <p:cNvSpPr/>
          <p:nvPr/>
        </p:nvSpPr>
        <p:spPr>
          <a:xfrm>
            <a:off x="9092313" y="2163069"/>
            <a:ext cx="600376" cy="673756"/>
          </a:xfrm>
          <a:prstGeom prst="rect">
            <a:avLst/>
          </a:prstGeom>
          <a:noFill/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4</a:t>
            </a:r>
            <a:endParaRPr lang="zh-TW" altLang="en-US" sz="3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A0F139D-F005-0053-4940-559622D9C595}"/>
              </a:ext>
            </a:extLst>
          </p:cNvPr>
          <p:cNvSpPr/>
          <p:nvPr/>
        </p:nvSpPr>
        <p:spPr>
          <a:xfrm>
            <a:off x="9692144" y="2163069"/>
            <a:ext cx="597104" cy="673756"/>
          </a:xfrm>
          <a:prstGeom prst="rect">
            <a:avLst/>
          </a:prstGeom>
          <a:noFill/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5</a:t>
            </a:r>
            <a:endParaRPr lang="zh-TW" altLang="en-US" sz="3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B4DDD0B-B22C-C9C4-0E8B-185AC18685AB}"/>
              </a:ext>
            </a:extLst>
          </p:cNvPr>
          <p:cNvSpPr/>
          <p:nvPr/>
        </p:nvSpPr>
        <p:spPr>
          <a:xfrm>
            <a:off x="10289248" y="2163068"/>
            <a:ext cx="600377" cy="673757"/>
          </a:xfrm>
          <a:prstGeom prst="rect">
            <a:avLst/>
          </a:prstGeom>
          <a:noFill/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6</a:t>
            </a:r>
            <a:endParaRPr lang="zh-TW" altLang="en-US" sz="3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55FB356-60AC-8875-D3A6-9ABC52785B00}"/>
              </a:ext>
            </a:extLst>
          </p:cNvPr>
          <p:cNvSpPr/>
          <p:nvPr/>
        </p:nvSpPr>
        <p:spPr>
          <a:xfrm>
            <a:off x="10892353" y="2163069"/>
            <a:ext cx="600377" cy="673757"/>
          </a:xfrm>
          <a:prstGeom prst="rect">
            <a:avLst/>
          </a:prstGeom>
          <a:noFill/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  <a:endParaRPr lang="zh-TW" altLang="en-US" sz="3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F4142B2-5547-B03F-B352-350CA30FAEF9}"/>
              </a:ext>
            </a:extLst>
          </p:cNvPr>
          <p:cNvSpPr/>
          <p:nvPr/>
        </p:nvSpPr>
        <p:spPr>
          <a:xfrm>
            <a:off x="7802530" y="2932787"/>
            <a:ext cx="600376" cy="673756"/>
          </a:xfrm>
          <a:prstGeom prst="rect">
            <a:avLst/>
          </a:prstGeom>
          <a:noFill/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6</a:t>
            </a:r>
            <a:endParaRPr lang="zh-TW" altLang="en-US" sz="3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28" name="接點: 肘形 27">
            <a:extLst>
              <a:ext uri="{FF2B5EF4-FFF2-40B4-BE49-F238E27FC236}">
                <a16:creationId xmlns:a16="http://schemas.microsoft.com/office/drawing/2014/main" id="{42894259-E540-390D-60EC-579313D57BCB}"/>
              </a:ext>
            </a:extLst>
          </p:cNvPr>
          <p:cNvCxnSpPr>
            <a:cxnSpLocks/>
            <a:stCxn id="26" idx="3"/>
            <a:endCxn id="33" idx="0"/>
          </p:cNvCxnSpPr>
          <p:nvPr/>
        </p:nvCxnSpPr>
        <p:spPr>
          <a:xfrm>
            <a:off x="8402906" y="3269665"/>
            <a:ext cx="2186531" cy="434929"/>
          </a:xfrm>
          <a:prstGeom prst="bentConnector2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矩形 29">
            <a:extLst>
              <a:ext uri="{FF2B5EF4-FFF2-40B4-BE49-F238E27FC236}">
                <a16:creationId xmlns:a16="http://schemas.microsoft.com/office/drawing/2014/main" id="{B931A030-2753-84B0-5616-231C3B9D8EAD}"/>
              </a:ext>
            </a:extLst>
          </p:cNvPr>
          <p:cNvSpPr/>
          <p:nvPr/>
        </p:nvSpPr>
        <p:spPr>
          <a:xfrm>
            <a:off x="8492226" y="3704596"/>
            <a:ext cx="600376" cy="673756"/>
          </a:xfrm>
          <a:prstGeom prst="rect">
            <a:avLst/>
          </a:prstGeom>
          <a:noFill/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</a:t>
            </a:r>
            <a:endParaRPr lang="zh-TW" altLang="en-US" sz="3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CA07DCAD-825F-9962-1C92-1DC5D5F30032}"/>
              </a:ext>
            </a:extLst>
          </p:cNvPr>
          <p:cNvSpPr/>
          <p:nvPr/>
        </p:nvSpPr>
        <p:spPr>
          <a:xfrm>
            <a:off x="9092313" y="3704595"/>
            <a:ext cx="600376" cy="673756"/>
          </a:xfrm>
          <a:prstGeom prst="rect">
            <a:avLst/>
          </a:prstGeom>
          <a:noFill/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4</a:t>
            </a:r>
            <a:endParaRPr lang="zh-TW" altLang="en-US" sz="3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EB836EAC-6B10-55B8-30FC-7F7B628E5C82}"/>
              </a:ext>
            </a:extLst>
          </p:cNvPr>
          <p:cNvSpPr/>
          <p:nvPr/>
        </p:nvSpPr>
        <p:spPr>
          <a:xfrm>
            <a:off x="9689418" y="3704594"/>
            <a:ext cx="600376" cy="673756"/>
          </a:xfrm>
          <a:prstGeom prst="rect">
            <a:avLst/>
          </a:prstGeom>
          <a:noFill/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5</a:t>
            </a:r>
            <a:endParaRPr lang="zh-TW" altLang="en-US" sz="3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DF5F37A3-723B-E6B8-03D6-82F02D204405}"/>
              </a:ext>
            </a:extLst>
          </p:cNvPr>
          <p:cNvSpPr/>
          <p:nvPr/>
        </p:nvSpPr>
        <p:spPr>
          <a:xfrm>
            <a:off x="10289248" y="3704594"/>
            <a:ext cx="600377" cy="673757"/>
          </a:xfrm>
          <a:prstGeom prst="rect">
            <a:avLst/>
          </a:prstGeom>
          <a:noFill/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6</a:t>
            </a:r>
            <a:endParaRPr lang="zh-TW" altLang="en-US" sz="3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FBD6AA9C-3F35-4B80-98B6-D2A5F0D07E0A}"/>
              </a:ext>
            </a:extLst>
          </p:cNvPr>
          <p:cNvSpPr/>
          <p:nvPr/>
        </p:nvSpPr>
        <p:spPr>
          <a:xfrm>
            <a:off x="10892353" y="3704595"/>
            <a:ext cx="600377" cy="673757"/>
          </a:xfrm>
          <a:prstGeom prst="rect">
            <a:avLst/>
          </a:prstGeom>
          <a:noFill/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  <a:endParaRPr lang="zh-TW" altLang="en-US" sz="3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9" name="文字方塊 38">
            <a:extLst>
              <a:ext uri="{FF2B5EF4-FFF2-40B4-BE49-F238E27FC236}">
                <a16:creationId xmlns:a16="http://schemas.microsoft.com/office/drawing/2014/main" id="{21FC4065-E0FA-F882-401F-9FBB1C967AF4}"/>
              </a:ext>
            </a:extLst>
          </p:cNvPr>
          <p:cNvSpPr txBox="1"/>
          <p:nvPr/>
        </p:nvSpPr>
        <p:spPr>
          <a:xfrm>
            <a:off x="8641570" y="180996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chemeClr val="bg2">
                    <a:lumMod val="75000"/>
                  </a:schemeClr>
                </a:solidFill>
              </a:rPr>
              <a:t>0</a:t>
            </a:r>
            <a:endParaRPr lang="zh-TW" alt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BD938CE4-00ED-AD8D-F15D-3088D66DB01A}"/>
              </a:ext>
            </a:extLst>
          </p:cNvPr>
          <p:cNvSpPr txBox="1"/>
          <p:nvPr/>
        </p:nvSpPr>
        <p:spPr>
          <a:xfrm>
            <a:off x="9240038" y="180996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chemeClr val="bg2">
                    <a:lumMod val="75000"/>
                  </a:schemeClr>
                </a:solidFill>
              </a:rPr>
              <a:t>1</a:t>
            </a:r>
            <a:endParaRPr lang="zh-TW" alt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DAAEA995-3752-DD41-993C-4F0C216FBC6C}"/>
              </a:ext>
            </a:extLst>
          </p:cNvPr>
          <p:cNvSpPr txBox="1"/>
          <p:nvPr/>
        </p:nvSpPr>
        <p:spPr>
          <a:xfrm>
            <a:off x="9846383" y="180996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chemeClr val="bg2">
                    <a:lumMod val="75000"/>
                  </a:schemeClr>
                </a:solidFill>
              </a:rPr>
              <a:t>2</a:t>
            </a:r>
            <a:endParaRPr lang="zh-TW" alt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ACC5E9F2-334A-FACB-D961-70E76141ED9E}"/>
              </a:ext>
            </a:extLst>
          </p:cNvPr>
          <p:cNvSpPr txBox="1"/>
          <p:nvPr/>
        </p:nvSpPr>
        <p:spPr>
          <a:xfrm>
            <a:off x="10437178" y="180996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chemeClr val="bg2">
                    <a:lumMod val="75000"/>
                  </a:schemeClr>
                </a:solidFill>
              </a:rPr>
              <a:t>3</a:t>
            </a:r>
            <a:endParaRPr lang="zh-TW" alt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803B80B4-BD4F-40CF-F0A3-46C95BF170DF}"/>
              </a:ext>
            </a:extLst>
          </p:cNvPr>
          <p:cNvSpPr txBox="1"/>
          <p:nvPr/>
        </p:nvSpPr>
        <p:spPr>
          <a:xfrm>
            <a:off x="11037011" y="180996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chemeClr val="bg2">
                    <a:lumMod val="75000"/>
                  </a:schemeClr>
                </a:solidFill>
              </a:rPr>
              <a:t>4</a:t>
            </a:r>
            <a:endParaRPr lang="zh-TW" alt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7E8C0E5-8F3B-8331-0442-9CA36CEE1DF3}"/>
              </a:ext>
            </a:extLst>
          </p:cNvPr>
          <p:cNvSpPr/>
          <p:nvPr/>
        </p:nvSpPr>
        <p:spPr>
          <a:xfrm>
            <a:off x="10285977" y="3704594"/>
            <a:ext cx="600376" cy="673756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6</a:t>
            </a:r>
            <a:endParaRPr lang="zh-TW" altLang="en-US" sz="3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12" name="群組 11">
            <a:extLst>
              <a:ext uri="{FF2B5EF4-FFF2-40B4-BE49-F238E27FC236}">
                <a16:creationId xmlns:a16="http://schemas.microsoft.com/office/drawing/2014/main" id="{0AD2AD7E-E166-0043-7398-7D3C4C3A3784}"/>
              </a:ext>
            </a:extLst>
          </p:cNvPr>
          <p:cNvGrpSpPr/>
          <p:nvPr/>
        </p:nvGrpSpPr>
        <p:grpSpPr>
          <a:xfrm>
            <a:off x="10419546" y="3003779"/>
            <a:ext cx="319318" cy="706207"/>
            <a:chOff x="9222410" y="2605142"/>
            <a:chExt cx="319318" cy="706207"/>
          </a:xfrm>
        </p:grpSpPr>
        <p:cxnSp>
          <p:nvCxnSpPr>
            <p:cNvPr id="13" name="直線單箭頭接點 12">
              <a:extLst>
                <a:ext uri="{FF2B5EF4-FFF2-40B4-BE49-F238E27FC236}">
                  <a16:creationId xmlns:a16="http://schemas.microsoft.com/office/drawing/2014/main" id="{117C92A8-3EC4-5628-B30E-B0071EC364F6}"/>
                </a:ext>
              </a:extLst>
            </p:cNvPr>
            <p:cNvCxnSpPr>
              <a:cxnSpLocks/>
            </p:cNvCxnSpPr>
            <p:nvPr/>
          </p:nvCxnSpPr>
          <p:spPr>
            <a:xfrm>
              <a:off x="9393712" y="2986455"/>
              <a:ext cx="0" cy="324894"/>
            </a:xfrm>
            <a:prstGeom prst="straightConnector1">
              <a:avLst/>
            </a:prstGeom>
            <a:ln w="19050">
              <a:solidFill>
                <a:srgbClr val="0070C0"/>
              </a:solidFill>
              <a:headEnd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文字方塊 13">
              <a:extLst>
                <a:ext uri="{FF2B5EF4-FFF2-40B4-BE49-F238E27FC236}">
                  <a16:creationId xmlns:a16="http://schemas.microsoft.com/office/drawing/2014/main" id="{42311405-EBE9-57E2-D945-649F56472E38}"/>
                </a:ext>
              </a:extLst>
            </p:cNvPr>
            <p:cNvSpPr txBox="1"/>
            <p:nvPr/>
          </p:nvSpPr>
          <p:spPr>
            <a:xfrm>
              <a:off x="9222410" y="2605142"/>
              <a:ext cx="3193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err="1">
                  <a:solidFill>
                    <a:srgbClr val="0070C0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i</a:t>
              </a:r>
              <a:endParaRPr lang="zh-TW" altLang="en-US" dirty="0">
                <a:solidFill>
                  <a:srgbClr val="0070C0"/>
                </a:solidFill>
                <a:latin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</p:grpSp>
      <p:grpSp>
        <p:nvGrpSpPr>
          <p:cNvPr id="15" name="群組 14">
            <a:extLst>
              <a:ext uri="{FF2B5EF4-FFF2-40B4-BE49-F238E27FC236}">
                <a16:creationId xmlns:a16="http://schemas.microsoft.com/office/drawing/2014/main" id="{A171E653-F8EE-6E83-FBFF-3CEDECF4C9AE}"/>
              </a:ext>
            </a:extLst>
          </p:cNvPr>
          <p:cNvGrpSpPr/>
          <p:nvPr/>
        </p:nvGrpSpPr>
        <p:grpSpPr>
          <a:xfrm>
            <a:off x="9843235" y="3001672"/>
            <a:ext cx="319318" cy="708314"/>
            <a:chOff x="8646099" y="2603035"/>
            <a:chExt cx="319318" cy="708314"/>
          </a:xfrm>
        </p:grpSpPr>
        <p:sp>
          <p:nvSpPr>
            <p:cNvPr id="16" name="文字方塊 15">
              <a:extLst>
                <a:ext uri="{FF2B5EF4-FFF2-40B4-BE49-F238E27FC236}">
                  <a16:creationId xmlns:a16="http://schemas.microsoft.com/office/drawing/2014/main" id="{3073FF00-2FEA-C2E7-9355-66BD259E3E7B}"/>
                </a:ext>
              </a:extLst>
            </p:cNvPr>
            <p:cNvSpPr txBox="1"/>
            <p:nvPr/>
          </p:nvSpPr>
          <p:spPr>
            <a:xfrm>
              <a:off x="8646099" y="2603035"/>
              <a:ext cx="3193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>
                  <a:solidFill>
                    <a:srgbClr val="0070C0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j</a:t>
              </a:r>
              <a:endParaRPr lang="zh-TW" altLang="en-US" dirty="0">
                <a:solidFill>
                  <a:srgbClr val="0070C0"/>
                </a:solidFill>
                <a:latin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  <p:cxnSp>
          <p:nvCxnSpPr>
            <p:cNvPr id="17" name="直線單箭頭接點 16">
              <a:extLst>
                <a:ext uri="{FF2B5EF4-FFF2-40B4-BE49-F238E27FC236}">
                  <a16:creationId xmlns:a16="http://schemas.microsoft.com/office/drawing/2014/main" id="{90D3CEAC-4E9B-2240-9445-FEC23D9F81E6}"/>
                </a:ext>
              </a:extLst>
            </p:cNvPr>
            <p:cNvCxnSpPr>
              <a:cxnSpLocks/>
            </p:cNvCxnSpPr>
            <p:nvPr/>
          </p:nvCxnSpPr>
          <p:spPr>
            <a:xfrm>
              <a:off x="8812571" y="2986455"/>
              <a:ext cx="0" cy="324894"/>
            </a:xfrm>
            <a:prstGeom prst="straightConnector1">
              <a:avLst/>
            </a:prstGeom>
            <a:ln w="19050">
              <a:solidFill>
                <a:srgbClr val="0070C0"/>
              </a:solidFill>
              <a:headEnd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投影片編號版面配置區 19">
            <a:extLst>
              <a:ext uri="{FF2B5EF4-FFF2-40B4-BE49-F238E27FC236}">
                <a16:creationId xmlns:a16="http://schemas.microsoft.com/office/drawing/2014/main" id="{E53DDF81-B785-D8F0-0E02-55A205BAD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3C46D-CB0F-4644-9DD9-8F746F034205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50520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500"/>
                            </p:stCondLst>
                            <p:childTnLst>
                              <p:par>
                                <p:cTn id="42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1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7BBB2B-693B-4854-0894-D17F17C46E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A6B1C637-4D55-F195-424A-B6DCACD69C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9409847"/>
              </p:ext>
            </p:extLst>
          </p:nvPr>
        </p:nvGraphicFramePr>
        <p:xfrm>
          <a:off x="7552652" y="1211808"/>
          <a:ext cx="4309806" cy="36172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09806">
                  <a:extLst>
                    <a:ext uri="{9D8B030D-6E8A-4147-A177-3AD203B41FA5}">
                      <a16:colId xmlns:a16="http://schemas.microsoft.com/office/drawing/2014/main" val="1864138722"/>
                    </a:ext>
                  </a:extLst>
                </a:gridCol>
              </a:tblGrid>
              <a:tr h="421073"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Main array</a:t>
                      </a:r>
                      <a:endParaRPr lang="zh-TW" altLang="en-US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1714300"/>
                  </a:ext>
                </a:extLst>
              </a:tr>
              <a:tr h="3196196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1058671"/>
                  </a:ext>
                </a:extLst>
              </a:tr>
            </a:tbl>
          </a:graphicData>
        </a:graphic>
      </p:graphicFrame>
      <p:sp>
        <p:nvSpPr>
          <p:cNvPr id="33" name="矩形 32">
            <a:extLst>
              <a:ext uri="{FF2B5EF4-FFF2-40B4-BE49-F238E27FC236}">
                <a16:creationId xmlns:a16="http://schemas.microsoft.com/office/drawing/2014/main" id="{12C28522-C38B-4161-35B1-887C72AA4829}"/>
              </a:ext>
            </a:extLst>
          </p:cNvPr>
          <p:cNvSpPr/>
          <p:nvPr/>
        </p:nvSpPr>
        <p:spPr>
          <a:xfrm>
            <a:off x="10290994" y="3702511"/>
            <a:ext cx="604800" cy="673757"/>
          </a:xfrm>
          <a:prstGeom prst="rect">
            <a:avLst/>
          </a:prstGeom>
          <a:noFill/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6</a:t>
            </a:r>
            <a:endParaRPr lang="zh-TW" altLang="en-US" sz="3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FC525F21-990E-F65F-CC40-66B00EACB7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Problem 1. Insertion Sort (Cont.)</a:t>
            </a:r>
            <a:br>
              <a:rPr lang="en-US" altLang="zh-TW" b="1" dirty="0"/>
            </a:br>
            <a:r>
              <a:rPr lang="en-US" altLang="zh-TW" sz="3200" dirty="0"/>
              <a:t>4</a:t>
            </a:r>
            <a:r>
              <a:rPr lang="en-US" altLang="zh-TW" sz="3200" baseline="30000" dirty="0"/>
              <a:t>th</a:t>
            </a:r>
            <a:r>
              <a:rPr lang="en-US" altLang="zh-TW" sz="3200" dirty="0"/>
              <a:t> iteration:</a:t>
            </a:r>
            <a:r>
              <a:rPr lang="zh-TW" altLang="en-US" sz="3200" dirty="0"/>
              <a:t> </a:t>
            </a:r>
            <a:r>
              <a:rPr lang="en-US" altLang="zh-TW" sz="3200" dirty="0"/>
              <a:t>Insert 1</a:t>
            </a:r>
            <a:r>
              <a:rPr lang="zh-TW" altLang="en-US" sz="3200" dirty="0"/>
              <a:t> </a:t>
            </a:r>
            <a:r>
              <a:rPr lang="en-US" altLang="zh-TW" sz="3200" dirty="0"/>
              <a:t>(</a:t>
            </a:r>
            <a:r>
              <a:rPr lang="en-US" altLang="zh-TW" sz="3200" dirty="0" err="1"/>
              <a:t>i</a:t>
            </a:r>
            <a:r>
              <a:rPr lang="en-US" altLang="zh-TW" sz="3200" dirty="0"/>
              <a:t> = 4)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E4E55C5-AB84-08C8-87F0-88C4B1B6F0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altLang="zh-TW" dirty="0">
                <a:solidFill>
                  <a:srgbClr val="0070C0"/>
                </a:solidFill>
              </a:rPr>
              <a:t>key </a:t>
            </a:r>
            <a:r>
              <a:rPr lang="en-US" altLang="zh-TW" dirty="0"/>
              <a:t>=</a:t>
            </a:r>
            <a:r>
              <a:rPr lang="en-US" altLang="zh-TW" dirty="0">
                <a:solidFill>
                  <a:srgbClr val="0070C0"/>
                </a:solidFill>
              </a:rPr>
              <a:t> A</a:t>
            </a:r>
            <a:r>
              <a:rPr lang="en-US" altLang="zh-TW" dirty="0"/>
              <a:t>[</a:t>
            </a:r>
            <a:r>
              <a:rPr lang="en-US" altLang="zh-TW" dirty="0">
                <a:solidFill>
                  <a:srgbClr val="00B050"/>
                </a:solidFill>
              </a:rPr>
              <a:t>4</a:t>
            </a:r>
            <a:r>
              <a:rPr lang="en-US" altLang="zh-TW" dirty="0"/>
              <a:t>]</a:t>
            </a:r>
            <a:r>
              <a:rPr lang="en-US" altLang="zh-TW" dirty="0">
                <a:solidFill>
                  <a:srgbClr val="00B050"/>
                </a:solidFill>
              </a:rPr>
              <a:t> </a:t>
            </a:r>
            <a:r>
              <a:rPr lang="en-US" altLang="zh-TW" dirty="0"/>
              <a:t>= </a:t>
            </a:r>
            <a:r>
              <a:rPr lang="en-US" altLang="zh-TW" dirty="0">
                <a:solidFill>
                  <a:srgbClr val="00B050"/>
                </a:solidFill>
              </a:rPr>
              <a:t>1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dirty="0"/>
              <a:t>Compare: </a:t>
            </a:r>
            <a:r>
              <a:rPr lang="en-US" altLang="zh-TW" dirty="0">
                <a:solidFill>
                  <a:srgbClr val="00B050"/>
                </a:solidFill>
              </a:rPr>
              <a:t>6</a:t>
            </a:r>
            <a:r>
              <a:rPr lang="zh-TW" altLang="en-US" dirty="0">
                <a:solidFill>
                  <a:srgbClr val="00B050"/>
                </a:solidFill>
              </a:rPr>
              <a:t> </a:t>
            </a:r>
            <a:r>
              <a:rPr lang="en-US" altLang="zh-TW" dirty="0"/>
              <a:t>&gt;</a:t>
            </a:r>
            <a:r>
              <a:rPr lang="zh-TW" altLang="en-US" dirty="0"/>
              <a:t> </a:t>
            </a:r>
            <a:r>
              <a:rPr lang="en-US" altLang="zh-TW" dirty="0">
                <a:solidFill>
                  <a:srgbClr val="00B050"/>
                </a:solidFill>
              </a:rPr>
              <a:t>1</a:t>
            </a:r>
            <a:r>
              <a:rPr lang="en-US" altLang="zh-TW" dirty="0"/>
              <a:t> </a:t>
            </a:r>
            <a:r>
              <a:rPr lang="en-US" altLang="zh-TW" dirty="0">
                <a:sym typeface="Wingdings" panose="05000000000000000000" pitchFamily="2" charset="2"/>
              </a:rPr>
              <a:t> Shift </a:t>
            </a:r>
            <a:r>
              <a:rPr lang="en-US" altLang="zh-TW" dirty="0">
                <a:solidFill>
                  <a:srgbClr val="00B050"/>
                </a:solidFill>
                <a:sym typeface="Wingdings" panose="05000000000000000000" pitchFamily="2" charset="2"/>
              </a:rPr>
              <a:t>6 </a:t>
            </a:r>
            <a:r>
              <a:rPr lang="en-US" altLang="zh-TW" dirty="0">
                <a:sym typeface="Wingdings" panose="05000000000000000000" pitchFamily="2" charset="2"/>
              </a:rPr>
              <a:t>(</a:t>
            </a:r>
            <a:r>
              <a:rPr lang="en-US" altLang="zh-TW" dirty="0" err="1">
                <a:solidFill>
                  <a:srgbClr val="7030A0"/>
                </a:solidFill>
              </a:rPr>
              <a:t>shift_cnt</a:t>
            </a:r>
            <a:r>
              <a:rPr lang="zh-TW" altLang="en-US" dirty="0">
                <a:solidFill>
                  <a:srgbClr val="7030A0"/>
                </a:solidFill>
              </a:rPr>
              <a:t> </a:t>
            </a:r>
            <a:r>
              <a:rPr lang="en-US" altLang="zh-TW" dirty="0"/>
              <a:t>+</a:t>
            </a:r>
            <a:r>
              <a:rPr lang="zh-TW" altLang="en-US" dirty="0"/>
              <a:t> </a:t>
            </a:r>
            <a:r>
              <a:rPr lang="en-US" altLang="zh-TW" dirty="0">
                <a:solidFill>
                  <a:srgbClr val="00B050"/>
                </a:solidFill>
              </a:rPr>
              <a:t>1</a:t>
            </a:r>
            <a:r>
              <a:rPr lang="en-US" altLang="zh-TW" dirty="0"/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dirty="0"/>
              <a:t>Compare: </a:t>
            </a:r>
            <a:r>
              <a:rPr lang="en-US" altLang="zh-TW" dirty="0">
                <a:solidFill>
                  <a:srgbClr val="00B050"/>
                </a:solidFill>
              </a:rPr>
              <a:t>5</a:t>
            </a:r>
            <a:r>
              <a:rPr lang="zh-TW" altLang="en-US" dirty="0">
                <a:solidFill>
                  <a:srgbClr val="00B050"/>
                </a:solidFill>
              </a:rPr>
              <a:t> </a:t>
            </a:r>
            <a:r>
              <a:rPr lang="en-US" altLang="zh-TW" dirty="0"/>
              <a:t>&gt;</a:t>
            </a:r>
            <a:r>
              <a:rPr lang="zh-TW" altLang="en-US" dirty="0"/>
              <a:t> </a:t>
            </a:r>
            <a:r>
              <a:rPr lang="en-US" altLang="zh-TW" dirty="0">
                <a:solidFill>
                  <a:srgbClr val="00B050"/>
                </a:solidFill>
              </a:rPr>
              <a:t>1</a:t>
            </a:r>
            <a:r>
              <a:rPr lang="en-US" altLang="zh-TW" dirty="0"/>
              <a:t> </a:t>
            </a:r>
            <a:r>
              <a:rPr lang="en-US" altLang="zh-TW" dirty="0">
                <a:sym typeface="Wingdings" panose="05000000000000000000" pitchFamily="2" charset="2"/>
              </a:rPr>
              <a:t> Shift </a:t>
            </a:r>
            <a:r>
              <a:rPr lang="en-US" altLang="zh-TW" dirty="0">
                <a:solidFill>
                  <a:srgbClr val="00B050"/>
                </a:solidFill>
                <a:sym typeface="Wingdings" panose="05000000000000000000" pitchFamily="2" charset="2"/>
              </a:rPr>
              <a:t>5 </a:t>
            </a:r>
            <a:r>
              <a:rPr lang="en-US" altLang="zh-TW" dirty="0">
                <a:sym typeface="Wingdings" panose="05000000000000000000" pitchFamily="2" charset="2"/>
              </a:rPr>
              <a:t>(</a:t>
            </a:r>
            <a:r>
              <a:rPr lang="en-US" altLang="zh-TW" dirty="0" err="1">
                <a:solidFill>
                  <a:srgbClr val="7030A0"/>
                </a:solidFill>
              </a:rPr>
              <a:t>shift_cnt</a:t>
            </a:r>
            <a:r>
              <a:rPr lang="zh-TW" altLang="en-US" dirty="0">
                <a:solidFill>
                  <a:srgbClr val="7030A0"/>
                </a:solidFill>
              </a:rPr>
              <a:t> </a:t>
            </a:r>
            <a:r>
              <a:rPr lang="en-US" altLang="zh-TW" dirty="0"/>
              <a:t>+</a:t>
            </a:r>
            <a:r>
              <a:rPr lang="zh-TW" altLang="en-US" dirty="0"/>
              <a:t> </a:t>
            </a:r>
            <a:r>
              <a:rPr lang="en-US" altLang="zh-TW" dirty="0">
                <a:solidFill>
                  <a:srgbClr val="00B050"/>
                </a:solidFill>
              </a:rPr>
              <a:t>1</a:t>
            </a:r>
            <a:r>
              <a:rPr lang="en-US" altLang="zh-TW" dirty="0"/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dirty="0"/>
              <a:t>Compare: </a:t>
            </a:r>
            <a:r>
              <a:rPr lang="en-US" altLang="zh-TW" dirty="0">
                <a:solidFill>
                  <a:srgbClr val="00B050"/>
                </a:solidFill>
              </a:rPr>
              <a:t>4</a:t>
            </a:r>
            <a:r>
              <a:rPr lang="zh-TW" altLang="en-US" dirty="0">
                <a:solidFill>
                  <a:srgbClr val="00B050"/>
                </a:solidFill>
              </a:rPr>
              <a:t> </a:t>
            </a:r>
            <a:r>
              <a:rPr lang="en-US" altLang="zh-TW" dirty="0"/>
              <a:t>&gt;</a:t>
            </a:r>
            <a:r>
              <a:rPr lang="zh-TW" altLang="en-US" dirty="0"/>
              <a:t> </a:t>
            </a:r>
            <a:r>
              <a:rPr lang="en-US" altLang="zh-TW" dirty="0">
                <a:solidFill>
                  <a:srgbClr val="00B050"/>
                </a:solidFill>
              </a:rPr>
              <a:t>1</a:t>
            </a:r>
            <a:r>
              <a:rPr lang="en-US" altLang="zh-TW" dirty="0"/>
              <a:t> </a:t>
            </a:r>
            <a:r>
              <a:rPr lang="en-US" altLang="zh-TW" dirty="0">
                <a:sym typeface="Wingdings" panose="05000000000000000000" pitchFamily="2" charset="2"/>
              </a:rPr>
              <a:t> Shift </a:t>
            </a:r>
            <a:r>
              <a:rPr lang="en-US" altLang="zh-TW" dirty="0">
                <a:solidFill>
                  <a:srgbClr val="00B050"/>
                </a:solidFill>
                <a:sym typeface="Wingdings" panose="05000000000000000000" pitchFamily="2" charset="2"/>
              </a:rPr>
              <a:t>4 </a:t>
            </a:r>
            <a:r>
              <a:rPr lang="en-US" altLang="zh-TW" dirty="0">
                <a:sym typeface="Wingdings" panose="05000000000000000000" pitchFamily="2" charset="2"/>
              </a:rPr>
              <a:t>(</a:t>
            </a:r>
            <a:r>
              <a:rPr lang="en-US" altLang="zh-TW" dirty="0" err="1">
                <a:solidFill>
                  <a:srgbClr val="7030A0"/>
                </a:solidFill>
              </a:rPr>
              <a:t>shift_cnt</a:t>
            </a:r>
            <a:r>
              <a:rPr lang="zh-TW" altLang="en-US" dirty="0">
                <a:solidFill>
                  <a:srgbClr val="7030A0"/>
                </a:solidFill>
              </a:rPr>
              <a:t> </a:t>
            </a:r>
            <a:r>
              <a:rPr lang="en-US" altLang="zh-TW" dirty="0"/>
              <a:t>+</a:t>
            </a:r>
            <a:r>
              <a:rPr lang="zh-TW" altLang="en-US" dirty="0"/>
              <a:t> </a:t>
            </a:r>
            <a:r>
              <a:rPr lang="en-US" altLang="zh-TW" dirty="0">
                <a:solidFill>
                  <a:srgbClr val="00B050"/>
                </a:solidFill>
              </a:rPr>
              <a:t>1</a:t>
            </a:r>
            <a:r>
              <a:rPr lang="en-US" altLang="zh-TW" dirty="0"/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dirty="0"/>
              <a:t>Compare: </a:t>
            </a:r>
            <a:r>
              <a:rPr lang="en-US" altLang="zh-TW" dirty="0">
                <a:solidFill>
                  <a:srgbClr val="00B050"/>
                </a:solidFill>
              </a:rPr>
              <a:t>2</a:t>
            </a:r>
            <a:r>
              <a:rPr lang="zh-TW" altLang="en-US" dirty="0">
                <a:solidFill>
                  <a:srgbClr val="00B050"/>
                </a:solidFill>
              </a:rPr>
              <a:t> </a:t>
            </a:r>
            <a:r>
              <a:rPr lang="en-US" altLang="zh-TW" dirty="0"/>
              <a:t>&gt;</a:t>
            </a:r>
            <a:r>
              <a:rPr lang="zh-TW" altLang="en-US" dirty="0"/>
              <a:t> </a:t>
            </a:r>
            <a:r>
              <a:rPr lang="en-US" altLang="zh-TW" dirty="0">
                <a:solidFill>
                  <a:srgbClr val="00B050"/>
                </a:solidFill>
              </a:rPr>
              <a:t>1</a:t>
            </a:r>
            <a:r>
              <a:rPr lang="en-US" altLang="zh-TW" dirty="0"/>
              <a:t> </a:t>
            </a:r>
            <a:r>
              <a:rPr lang="en-US" altLang="zh-TW" dirty="0">
                <a:sym typeface="Wingdings" panose="05000000000000000000" pitchFamily="2" charset="2"/>
              </a:rPr>
              <a:t> Shift </a:t>
            </a:r>
            <a:r>
              <a:rPr lang="en-US" altLang="zh-TW" dirty="0">
                <a:solidFill>
                  <a:srgbClr val="00B050"/>
                </a:solidFill>
                <a:sym typeface="Wingdings" panose="05000000000000000000" pitchFamily="2" charset="2"/>
              </a:rPr>
              <a:t>2 </a:t>
            </a:r>
            <a:r>
              <a:rPr lang="en-US" altLang="zh-TW" dirty="0">
                <a:sym typeface="Wingdings" panose="05000000000000000000" pitchFamily="2" charset="2"/>
              </a:rPr>
              <a:t>(</a:t>
            </a:r>
            <a:r>
              <a:rPr lang="en-US" altLang="zh-TW" dirty="0" err="1">
                <a:solidFill>
                  <a:srgbClr val="7030A0"/>
                </a:solidFill>
              </a:rPr>
              <a:t>shift_cnt</a:t>
            </a:r>
            <a:r>
              <a:rPr lang="zh-TW" altLang="en-US" dirty="0">
                <a:solidFill>
                  <a:srgbClr val="7030A0"/>
                </a:solidFill>
              </a:rPr>
              <a:t> </a:t>
            </a:r>
            <a:r>
              <a:rPr lang="en-US" altLang="zh-TW" dirty="0"/>
              <a:t>+</a:t>
            </a:r>
            <a:r>
              <a:rPr lang="zh-TW" altLang="en-US" dirty="0"/>
              <a:t> </a:t>
            </a:r>
            <a:r>
              <a:rPr lang="en-US" altLang="zh-TW" dirty="0">
                <a:solidFill>
                  <a:srgbClr val="00B050"/>
                </a:solidFill>
              </a:rPr>
              <a:t>1</a:t>
            </a:r>
            <a:r>
              <a:rPr lang="en-US" altLang="zh-TW" dirty="0"/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dirty="0"/>
              <a:t>Insert:</a:t>
            </a:r>
            <a:r>
              <a:rPr lang="zh-TW" altLang="en-US" dirty="0"/>
              <a:t> </a:t>
            </a:r>
            <a:r>
              <a:rPr lang="en-US" altLang="zh-TW" dirty="0">
                <a:solidFill>
                  <a:srgbClr val="00B050"/>
                </a:solidFill>
              </a:rPr>
              <a:t>1</a:t>
            </a:r>
            <a:r>
              <a:rPr lang="zh-TW" altLang="en-US" dirty="0"/>
              <a:t> </a:t>
            </a:r>
            <a:r>
              <a:rPr lang="en-US" altLang="zh-TW" dirty="0"/>
              <a:t>insert to </a:t>
            </a:r>
            <a:r>
              <a:rPr lang="en-US" altLang="zh-TW" dirty="0">
                <a:solidFill>
                  <a:srgbClr val="0070C0"/>
                </a:solidFill>
              </a:rPr>
              <a:t>A</a:t>
            </a:r>
            <a:r>
              <a:rPr lang="en-US" altLang="zh-TW" dirty="0"/>
              <a:t>[</a:t>
            </a:r>
            <a:r>
              <a:rPr lang="en-US" altLang="zh-TW" dirty="0">
                <a:solidFill>
                  <a:srgbClr val="00B050"/>
                </a:solidFill>
              </a:rPr>
              <a:t>0</a:t>
            </a:r>
            <a:r>
              <a:rPr lang="en-US" altLang="zh-TW" dirty="0"/>
              <a:t>]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dirty="0"/>
              <a:t>Finish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3B7C42A4-24FE-3276-DC1C-B8894E9EEE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1989080"/>
              </p:ext>
            </p:extLst>
          </p:nvPr>
        </p:nvGraphicFramePr>
        <p:xfrm>
          <a:off x="7552652" y="5054173"/>
          <a:ext cx="4309806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09806">
                  <a:extLst>
                    <a:ext uri="{9D8B030D-6E8A-4147-A177-3AD203B41FA5}">
                      <a16:colId xmlns:a16="http://schemas.microsoft.com/office/drawing/2014/main" val="10494832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bg1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Result</a:t>
                      </a:r>
                      <a:endParaRPr lang="zh-TW" altLang="en-US" dirty="0">
                        <a:solidFill>
                          <a:schemeClr val="bg1"/>
                        </a:solidFill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24067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Sorted array: </a:t>
                      </a:r>
                      <a:r>
                        <a:rPr lang="en-US" altLang="zh-TW" dirty="0">
                          <a:solidFill>
                            <a:srgbClr val="00B050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[1, 2, 4, 5, 6]</a:t>
                      </a:r>
                      <a:endParaRPr lang="zh-TW" altLang="en-US" dirty="0">
                        <a:solidFill>
                          <a:srgbClr val="00B050"/>
                        </a:solidFill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40465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err="1">
                          <a:solidFill>
                            <a:srgbClr val="7030A0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shift_cnt</a:t>
                      </a:r>
                      <a:r>
                        <a:rPr lang="en-US" altLang="zh-TW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:</a:t>
                      </a:r>
                      <a:r>
                        <a:rPr lang="en-US" altLang="zh-TW" dirty="0">
                          <a:solidFill>
                            <a:srgbClr val="0070C0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 </a:t>
                      </a:r>
                      <a:r>
                        <a:rPr lang="en-US" altLang="zh-TW" b="0" dirty="0">
                          <a:solidFill>
                            <a:srgbClr val="00B050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6</a:t>
                      </a:r>
                      <a:endParaRPr lang="zh-TW" altLang="en-US" b="0" dirty="0">
                        <a:solidFill>
                          <a:srgbClr val="00B050"/>
                        </a:solidFill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3911669"/>
                  </a:ext>
                </a:extLst>
              </a:tr>
            </a:tbl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243CCD14-9ECF-0282-EDFB-2688D8139300}"/>
              </a:ext>
            </a:extLst>
          </p:cNvPr>
          <p:cNvSpPr/>
          <p:nvPr/>
        </p:nvSpPr>
        <p:spPr>
          <a:xfrm>
            <a:off x="8493973" y="2160987"/>
            <a:ext cx="600376" cy="673756"/>
          </a:xfrm>
          <a:prstGeom prst="rect">
            <a:avLst/>
          </a:prstGeom>
          <a:noFill/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2</a:t>
            </a:r>
            <a:endParaRPr lang="zh-TW" altLang="en-US" sz="3200" dirty="0">
              <a:solidFill>
                <a:schemeClr val="tx1">
                  <a:lumMod val="65000"/>
                  <a:lumOff val="35000"/>
                </a:schemeClr>
              </a:solidFill>
              <a:effectLst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CA94177-C222-8697-F082-8C73A166B05E}"/>
              </a:ext>
            </a:extLst>
          </p:cNvPr>
          <p:cNvSpPr/>
          <p:nvPr/>
        </p:nvSpPr>
        <p:spPr>
          <a:xfrm>
            <a:off x="9094060" y="2160986"/>
            <a:ext cx="600376" cy="673756"/>
          </a:xfrm>
          <a:prstGeom prst="rect">
            <a:avLst/>
          </a:prstGeom>
          <a:noFill/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4</a:t>
            </a:r>
            <a:endParaRPr lang="zh-TW" altLang="en-US" sz="3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2B5D050-13B5-1C5F-36ED-B60589EA709B}"/>
              </a:ext>
            </a:extLst>
          </p:cNvPr>
          <p:cNvSpPr/>
          <p:nvPr/>
        </p:nvSpPr>
        <p:spPr>
          <a:xfrm>
            <a:off x="9693891" y="2160986"/>
            <a:ext cx="597104" cy="673756"/>
          </a:xfrm>
          <a:prstGeom prst="rect">
            <a:avLst/>
          </a:prstGeom>
          <a:noFill/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5</a:t>
            </a:r>
            <a:endParaRPr lang="zh-TW" altLang="en-US" sz="3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7339CFB-05A4-4E0F-E9BC-8C28E5D1AB79}"/>
              </a:ext>
            </a:extLst>
          </p:cNvPr>
          <p:cNvSpPr/>
          <p:nvPr/>
        </p:nvSpPr>
        <p:spPr>
          <a:xfrm>
            <a:off x="10290995" y="2160985"/>
            <a:ext cx="600377" cy="673757"/>
          </a:xfrm>
          <a:prstGeom prst="rect">
            <a:avLst/>
          </a:prstGeom>
          <a:noFill/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6</a:t>
            </a:r>
            <a:endParaRPr lang="zh-TW" altLang="en-US" sz="3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73CE07F-AD5D-66A5-F604-A98203570D5C}"/>
              </a:ext>
            </a:extLst>
          </p:cNvPr>
          <p:cNvSpPr/>
          <p:nvPr/>
        </p:nvSpPr>
        <p:spPr>
          <a:xfrm>
            <a:off x="10894100" y="2160986"/>
            <a:ext cx="600377" cy="673757"/>
          </a:xfrm>
          <a:prstGeom prst="rect">
            <a:avLst/>
          </a:prstGeom>
          <a:noFill/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  <a:endParaRPr lang="zh-TW" altLang="en-US" sz="3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0DBEF33-E87C-CB35-B7C6-14EE9E665B1D}"/>
              </a:ext>
            </a:extLst>
          </p:cNvPr>
          <p:cNvSpPr/>
          <p:nvPr/>
        </p:nvSpPr>
        <p:spPr>
          <a:xfrm>
            <a:off x="7804277" y="2930704"/>
            <a:ext cx="600376" cy="673756"/>
          </a:xfrm>
          <a:prstGeom prst="rect">
            <a:avLst/>
          </a:prstGeom>
          <a:noFill/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  <a:endParaRPr lang="zh-TW" altLang="en-US" sz="3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28" name="接點: 肘形 27">
            <a:extLst>
              <a:ext uri="{FF2B5EF4-FFF2-40B4-BE49-F238E27FC236}">
                <a16:creationId xmlns:a16="http://schemas.microsoft.com/office/drawing/2014/main" id="{797A73A6-D10D-6742-8DDE-095CF304F318}"/>
              </a:ext>
            </a:extLst>
          </p:cNvPr>
          <p:cNvCxnSpPr>
            <a:cxnSpLocks/>
            <a:stCxn id="26" idx="3"/>
            <a:endCxn id="30" idx="0"/>
          </p:cNvCxnSpPr>
          <p:nvPr/>
        </p:nvCxnSpPr>
        <p:spPr>
          <a:xfrm>
            <a:off x="8404653" y="3267582"/>
            <a:ext cx="389508" cy="434931"/>
          </a:xfrm>
          <a:prstGeom prst="bentConnector2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矩形 29">
            <a:extLst>
              <a:ext uri="{FF2B5EF4-FFF2-40B4-BE49-F238E27FC236}">
                <a16:creationId xmlns:a16="http://schemas.microsoft.com/office/drawing/2014/main" id="{1560D4C0-626D-C9CF-961A-EAA343682207}"/>
              </a:ext>
            </a:extLst>
          </p:cNvPr>
          <p:cNvSpPr/>
          <p:nvPr/>
        </p:nvSpPr>
        <p:spPr>
          <a:xfrm>
            <a:off x="8493973" y="3702513"/>
            <a:ext cx="600376" cy="673756"/>
          </a:xfrm>
          <a:prstGeom prst="rect">
            <a:avLst/>
          </a:prstGeom>
          <a:noFill/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</a:t>
            </a:r>
            <a:endParaRPr lang="zh-TW" altLang="en-US" sz="3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EBEEC4B9-C483-C70A-F883-E80E0C5F677E}"/>
              </a:ext>
            </a:extLst>
          </p:cNvPr>
          <p:cNvSpPr/>
          <p:nvPr/>
        </p:nvSpPr>
        <p:spPr>
          <a:xfrm>
            <a:off x="9094060" y="3702512"/>
            <a:ext cx="597600" cy="673756"/>
          </a:xfrm>
          <a:prstGeom prst="rect">
            <a:avLst/>
          </a:prstGeom>
          <a:noFill/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4</a:t>
            </a:r>
            <a:endParaRPr lang="zh-TW" altLang="en-US" sz="3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04E80851-C304-9627-5071-36E492CBE2EF}"/>
              </a:ext>
            </a:extLst>
          </p:cNvPr>
          <p:cNvSpPr/>
          <p:nvPr/>
        </p:nvSpPr>
        <p:spPr>
          <a:xfrm>
            <a:off x="9691165" y="3702511"/>
            <a:ext cx="600376" cy="673756"/>
          </a:xfrm>
          <a:prstGeom prst="rect">
            <a:avLst/>
          </a:prstGeom>
          <a:noFill/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5</a:t>
            </a:r>
            <a:endParaRPr lang="zh-TW" altLang="en-US" sz="3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EE429098-2D88-B7B3-3149-FDC3161E52AB}"/>
              </a:ext>
            </a:extLst>
          </p:cNvPr>
          <p:cNvSpPr/>
          <p:nvPr/>
        </p:nvSpPr>
        <p:spPr>
          <a:xfrm>
            <a:off x="10894100" y="3702510"/>
            <a:ext cx="600377" cy="673757"/>
          </a:xfrm>
          <a:prstGeom prst="rect">
            <a:avLst/>
          </a:prstGeom>
          <a:noFill/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  <a:endParaRPr lang="zh-TW" altLang="en-US" sz="3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9" name="文字方塊 38">
            <a:extLst>
              <a:ext uri="{FF2B5EF4-FFF2-40B4-BE49-F238E27FC236}">
                <a16:creationId xmlns:a16="http://schemas.microsoft.com/office/drawing/2014/main" id="{7056289D-34CF-6F0D-441B-081463C3FEFA}"/>
              </a:ext>
            </a:extLst>
          </p:cNvPr>
          <p:cNvSpPr txBox="1"/>
          <p:nvPr/>
        </p:nvSpPr>
        <p:spPr>
          <a:xfrm>
            <a:off x="8643317" y="180788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chemeClr val="bg2">
                    <a:lumMod val="75000"/>
                  </a:schemeClr>
                </a:solidFill>
              </a:rPr>
              <a:t>0</a:t>
            </a:r>
            <a:endParaRPr lang="zh-TW" alt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628AA9E0-8DB5-798A-60D3-93DF98317056}"/>
              </a:ext>
            </a:extLst>
          </p:cNvPr>
          <p:cNvSpPr txBox="1"/>
          <p:nvPr/>
        </p:nvSpPr>
        <p:spPr>
          <a:xfrm>
            <a:off x="9241785" y="180788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chemeClr val="bg2">
                    <a:lumMod val="75000"/>
                  </a:schemeClr>
                </a:solidFill>
              </a:rPr>
              <a:t>1</a:t>
            </a:r>
            <a:endParaRPr lang="zh-TW" alt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D2FFC1CE-5F63-06D3-0D81-8DEADEBDAE42}"/>
              </a:ext>
            </a:extLst>
          </p:cNvPr>
          <p:cNvSpPr txBox="1"/>
          <p:nvPr/>
        </p:nvSpPr>
        <p:spPr>
          <a:xfrm>
            <a:off x="9848130" y="180788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chemeClr val="bg2">
                    <a:lumMod val="75000"/>
                  </a:schemeClr>
                </a:solidFill>
              </a:rPr>
              <a:t>2</a:t>
            </a:r>
            <a:endParaRPr lang="zh-TW" alt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9EDA948F-9E21-F5D9-D82A-1A537CF93384}"/>
              </a:ext>
            </a:extLst>
          </p:cNvPr>
          <p:cNvSpPr txBox="1"/>
          <p:nvPr/>
        </p:nvSpPr>
        <p:spPr>
          <a:xfrm>
            <a:off x="10438925" y="180788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chemeClr val="bg2">
                    <a:lumMod val="75000"/>
                  </a:schemeClr>
                </a:solidFill>
              </a:rPr>
              <a:t>3</a:t>
            </a:r>
            <a:endParaRPr lang="zh-TW" alt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6073CBC5-E6B5-1E5A-8A16-4FD00B1153B6}"/>
              </a:ext>
            </a:extLst>
          </p:cNvPr>
          <p:cNvSpPr txBox="1"/>
          <p:nvPr/>
        </p:nvSpPr>
        <p:spPr>
          <a:xfrm>
            <a:off x="11038758" y="180788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chemeClr val="bg2">
                    <a:lumMod val="75000"/>
                  </a:schemeClr>
                </a:solidFill>
              </a:rPr>
              <a:t>4</a:t>
            </a:r>
            <a:endParaRPr lang="zh-TW" alt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031DF01-4E88-C271-7554-5B28C1C7A689}"/>
              </a:ext>
            </a:extLst>
          </p:cNvPr>
          <p:cNvSpPr/>
          <p:nvPr/>
        </p:nvSpPr>
        <p:spPr>
          <a:xfrm>
            <a:off x="8489322" y="3702510"/>
            <a:ext cx="600376" cy="673756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  <a:endParaRPr lang="zh-TW" altLang="en-US" sz="3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12" name="接點: 肘形 11">
            <a:extLst>
              <a:ext uri="{FF2B5EF4-FFF2-40B4-BE49-F238E27FC236}">
                <a16:creationId xmlns:a16="http://schemas.microsoft.com/office/drawing/2014/main" id="{E7B83FE2-4985-CE74-4B5E-069511CA56BB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0895793" y="4076222"/>
            <a:ext cx="1" cy="600087"/>
          </a:xfrm>
          <a:prstGeom prst="bentConnector3">
            <a:avLst>
              <a:gd name="adj1" fmla="val -22860000000"/>
            </a:avLst>
          </a:prstGeom>
          <a:ln w="2857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接點: 肘形 12">
            <a:extLst>
              <a:ext uri="{FF2B5EF4-FFF2-40B4-BE49-F238E27FC236}">
                <a16:creationId xmlns:a16="http://schemas.microsoft.com/office/drawing/2014/main" id="{EB364B8D-7089-357A-5D3A-5E2866370659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0295912" y="4076220"/>
            <a:ext cx="1" cy="600087"/>
          </a:xfrm>
          <a:prstGeom prst="bentConnector3">
            <a:avLst>
              <a:gd name="adj1" fmla="val -22860000000"/>
            </a:avLst>
          </a:prstGeom>
          <a:ln w="2857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接點: 肘形 13">
            <a:extLst>
              <a:ext uri="{FF2B5EF4-FFF2-40B4-BE49-F238E27FC236}">
                <a16:creationId xmlns:a16="http://schemas.microsoft.com/office/drawing/2014/main" id="{4340F778-E5B5-317A-4D11-27F5FDDDB2C2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9695825" y="4076215"/>
            <a:ext cx="1" cy="600087"/>
          </a:xfrm>
          <a:prstGeom prst="bentConnector3">
            <a:avLst>
              <a:gd name="adj1" fmla="val -22860000000"/>
            </a:avLst>
          </a:prstGeom>
          <a:ln w="2857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接點: 肘形 14">
            <a:extLst>
              <a:ext uri="{FF2B5EF4-FFF2-40B4-BE49-F238E27FC236}">
                <a16:creationId xmlns:a16="http://schemas.microsoft.com/office/drawing/2014/main" id="{879D400B-5034-F4F9-6153-76FBCD8DBD0E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9095959" y="4076205"/>
            <a:ext cx="1" cy="600087"/>
          </a:xfrm>
          <a:prstGeom prst="bentConnector3">
            <a:avLst>
              <a:gd name="adj1" fmla="val -22860000000"/>
            </a:avLst>
          </a:prstGeom>
          <a:ln w="2857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群組 15">
            <a:extLst>
              <a:ext uri="{FF2B5EF4-FFF2-40B4-BE49-F238E27FC236}">
                <a16:creationId xmlns:a16="http://schemas.microsoft.com/office/drawing/2014/main" id="{BBA58E06-764D-A961-8033-2DBB693C63D1}"/>
              </a:ext>
            </a:extLst>
          </p:cNvPr>
          <p:cNvGrpSpPr/>
          <p:nvPr/>
        </p:nvGrpSpPr>
        <p:grpSpPr>
          <a:xfrm>
            <a:off x="11031260" y="3002798"/>
            <a:ext cx="319318" cy="706207"/>
            <a:chOff x="9222410" y="2605142"/>
            <a:chExt cx="319318" cy="706207"/>
          </a:xfrm>
        </p:grpSpPr>
        <p:cxnSp>
          <p:nvCxnSpPr>
            <p:cNvPr id="17" name="直線單箭頭接點 16">
              <a:extLst>
                <a:ext uri="{FF2B5EF4-FFF2-40B4-BE49-F238E27FC236}">
                  <a16:creationId xmlns:a16="http://schemas.microsoft.com/office/drawing/2014/main" id="{78050195-A78A-3505-9D42-3E474A5BDF5F}"/>
                </a:ext>
              </a:extLst>
            </p:cNvPr>
            <p:cNvCxnSpPr>
              <a:cxnSpLocks/>
            </p:cNvCxnSpPr>
            <p:nvPr/>
          </p:nvCxnSpPr>
          <p:spPr>
            <a:xfrm>
              <a:off x="9393712" y="2986455"/>
              <a:ext cx="0" cy="324894"/>
            </a:xfrm>
            <a:prstGeom prst="straightConnector1">
              <a:avLst/>
            </a:prstGeom>
            <a:ln w="19050">
              <a:solidFill>
                <a:srgbClr val="0070C0"/>
              </a:solidFill>
              <a:headEnd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文字方塊 17">
              <a:extLst>
                <a:ext uri="{FF2B5EF4-FFF2-40B4-BE49-F238E27FC236}">
                  <a16:creationId xmlns:a16="http://schemas.microsoft.com/office/drawing/2014/main" id="{5DA9F744-ADC9-6540-26FE-6D64FBC8C6B7}"/>
                </a:ext>
              </a:extLst>
            </p:cNvPr>
            <p:cNvSpPr txBox="1"/>
            <p:nvPr/>
          </p:nvSpPr>
          <p:spPr>
            <a:xfrm>
              <a:off x="9222410" y="2605142"/>
              <a:ext cx="3193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err="1">
                  <a:solidFill>
                    <a:srgbClr val="0070C0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i</a:t>
              </a:r>
              <a:endParaRPr lang="zh-TW" altLang="en-US" dirty="0">
                <a:solidFill>
                  <a:srgbClr val="0070C0"/>
                </a:solidFill>
                <a:latin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</p:grpSp>
      <p:grpSp>
        <p:nvGrpSpPr>
          <p:cNvPr id="19" name="群組 18">
            <a:extLst>
              <a:ext uri="{FF2B5EF4-FFF2-40B4-BE49-F238E27FC236}">
                <a16:creationId xmlns:a16="http://schemas.microsoft.com/office/drawing/2014/main" id="{50A1F4BB-1E9B-F2BE-5A57-67CD27D02A76}"/>
              </a:ext>
            </a:extLst>
          </p:cNvPr>
          <p:cNvGrpSpPr/>
          <p:nvPr/>
        </p:nvGrpSpPr>
        <p:grpSpPr>
          <a:xfrm>
            <a:off x="10427007" y="3000691"/>
            <a:ext cx="319318" cy="708314"/>
            <a:chOff x="8646099" y="2603035"/>
            <a:chExt cx="319318" cy="708314"/>
          </a:xfrm>
        </p:grpSpPr>
        <p:sp>
          <p:nvSpPr>
            <p:cNvPr id="20" name="文字方塊 19">
              <a:extLst>
                <a:ext uri="{FF2B5EF4-FFF2-40B4-BE49-F238E27FC236}">
                  <a16:creationId xmlns:a16="http://schemas.microsoft.com/office/drawing/2014/main" id="{ACF9E2D0-550A-ED55-4ABA-EABC15C3871D}"/>
                </a:ext>
              </a:extLst>
            </p:cNvPr>
            <p:cNvSpPr txBox="1"/>
            <p:nvPr/>
          </p:nvSpPr>
          <p:spPr>
            <a:xfrm>
              <a:off x="8646099" y="2603035"/>
              <a:ext cx="3193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>
                  <a:solidFill>
                    <a:srgbClr val="0070C0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j</a:t>
              </a:r>
              <a:endParaRPr lang="zh-TW" altLang="en-US" dirty="0">
                <a:solidFill>
                  <a:srgbClr val="0070C0"/>
                </a:solidFill>
                <a:latin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  <p:cxnSp>
          <p:nvCxnSpPr>
            <p:cNvPr id="21" name="直線單箭頭接點 20">
              <a:extLst>
                <a:ext uri="{FF2B5EF4-FFF2-40B4-BE49-F238E27FC236}">
                  <a16:creationId xmlns:a16="http://schemas.microsoft.com/office/drawing/2014/main" id="{4A58D249-D47B-51CB-7CDB-EA53654FC3D2}"/>
                </a:ext>
              </a:extLst>
            </p:cNvPr>
            <p:cNvCxnSpPr>
              <a:cxnSpLocks/>
            </p:cNvCxnSpPr>
            <p:nvPr/>
          </p:nvCxnSpPr>
          <p:spPr>
            <a:xfrm>
              <a:off x="8812571" y="2986455"/>
              <a:ext cx="0" cy="324894"/>
            </a:xfrm>
            <a:prstGeom prst="straightConnector1">
              <a:avLst/>
            </a:prstGeom>
            <a:ln w="19050">
              <a:solidFill>
                <a:srgbClr val="0070C0"/>
              </a:solidFill>
              <a:headEnd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4" name="投影片編號版面配置區 53">
            <a:extLst>
              <a:ext uri="{FF2B5EF4-FFF2-40B4-BE49-F238E27FC236}">
                <a16:creationId xmlns:a16="http://schemas.microsoft.com/office/drawing/2014/main" id="{F3277FA4-1C7E-2014-BBDC-1A2BBF8BB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3C46D-CB0F-4644-9DD9-8F746F034205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629737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75E-6 1.11111E-6 L 0.04922 -0.00046 " pathEditMode="relative" rAng="0" ptsTypes="AA">
                                      <p:cBhvr>
                                        <p:cTn id="27" dur="10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61" y="-23"/>
                                    </p:animMotion>
                                  </p:childTnLst>
                                </p:cTn>
                              </p:par>
                              <p:par>
                                <p:cTn id="2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-3.7037E-7 L -0.04922 -0.00046 " pathEditMode="relative" rAng="0" ptsTypes="AA">
                                      <p:cBhvr>
                                        <p:cTn id="3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461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1.11111E-6 L 0.04922 1.11111E-6 " pathEditMode="relative" rAng="0" ptsTypes="AA">
                                      <p:cBhvr>
                                        <p:cTn id="49" dur="10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6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000"/>
                            </p:stCondLst>
                            <p:childTnLst>
                              <p:par>
                                <p:cTn id="51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4922 -0.00046 L -0.09792 -0.00046 " pathEditMode="relative" rAng="0" ptsTypes="AA">
                                      <p:cBhvr>
                                        <p:cTn id="5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43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25E-6 1.11111E-6 L 0.04896 1.11111E-6 " pathEditMode="relative" rAng="0" ptsTypes="AA">
                                      <p:cBhvr>
                                        <p:cTn id="68" dur="10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4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000"/>
                            </p:stCondLst>
                            <p:childTnLst>
                              <p:par>
                                <p:cTn id="70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9792 -0.00046 L -0.14688 -0.00046 " pathEditMode="relative" rAng="0" ptsTypes="AA">
                                      <p:cBhvr>
                                        <p:cTn id="7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44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00"/>
                            </p:stCondLst>
                            <p:childTnLst>
                              <p:par>
                                <p:cTn id="7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7 1.11111E-6 L 0.04922 1.11111E-6 " pathEditMode="relative" rAng="0" ptsTypes="AA">
                                      <p:cBhvr>
                                        <p:cTn id="87" dur="10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6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000"/>
                            </p:stCondLst>
                            <p:childTnLst>
                              <p:par>
                                <p:cTn id="89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4688 -0.00046 L -0.19349 -0.00093 " pathEditMode="relative" rAng="0" ptsTypes="AA">
                                      <p:cBhvr>
                                        <p:cTn id="9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331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1500"/>
                            </p:stCondLst>
                            <p:childTnLst>
                              <p:par>
                                <p:cTn id="92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500"/>
                            </p:stCondLst>
                            <p:childTnLst>
                              <p:par>
                                <p:cTn id="104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500"/>
                            </p:stCondLst>
                            <p:childTnLst>
                              <p:par>
                                <p:cTn id="1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uiExpand="1" build="p"/>
      <p:bldP spid="26" grpId="0" animBg="1"/>
      <p:bldP spid="32" grpId="0" uiExpand="1" build="p"/>
      <p:bldP spid="1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710EA143-48BC-7857-51DD-C1EB20BFC421}"/>
              </a:ext>
            </a:extLst>
          </p:cNvPr>
          <p:cNvSpPr/>
          <p:nvPr/>
        </p:nvSpPr>
        <p:spPr>
          <a:xfrm>
            <a:off x="5010150" y="2257425"/>
            <a:ext cx="638175" cy="2442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5590513-B18A-5641-C0B5-5A5588D79FE0}"/>
              </a:ext>
            </a:extLst>
          </p:cNvPr>
          <p:cNvSpPr/>
          <p:nvPr/>
        </p:nvSpPr>
        <p:spPr>
          <a:xfrm>
            <a:off x="4610100" y="2594385"/>
            <a:ext cx="977900" cy="2442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88BED4A-ABA5-8303-0BA9-CD575C3B1BA0}"/>
              </a:ext>
            </a:extLst>
          </p:cNvPr>
          <p:cNvSpPr/>
          <p:nvPr/>
        </p:nvSpPr>
        <p:spPr>
          <a:xfrm>
            <a:off x="4351337" y="2931345"/>
            <a:ext cx="1296988" cy="2442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AC2B339A-25C6-A80B-060B-7978EB85C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Problem 2. Binary Search (30%)</a:t>
            </a:r>
            <a:br>
              <a:rPr lang="en-US" altLang="zh-TW" b="1" dirty="0"/>
            </a:br>
            <a:r>
              <a:rPr lang="en-US" altLang="zh-TW" sz="3200" b="1" dirty="0">
                <a:solidFill>
                  <a:schemeClr val="bg1"/>
                </a:solidFill>
              </a:rPr>
              <a:t>.</a:t>
            </a:r>
            <a:endParaRPr lang="zh-TW" altLang="en-US" b="1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CCAEDC5-85CC-96AE-A0FE-1CF1EE74B4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96128"/>
            <a:ext cx="10515600" cy="4351338"/>
          </a:xfrm>
        </p:spPr>
        <p:txBody>
          <a:bodyPr>
            <a:normAutofit/>
          </a:bodyPr>
          <a:lstStyle/>
          <a:p>
            <a:r>
              <a:rPr lang="en-US" altLang="zh-TW" sz="2400" dirty="0"/>
              <a:t>Input: </a:t>
            </a:r>
          </a:p>
          <a:p>
            <a:pPr lvl="1"/>
            <a:r>
              <a:rPr lang="en-US" altLang="zh-TW" sz="2000" dirty="0"/>
              <a:t>The first line contains an integer, target, to search for in the array.</a:t>
            </a:r>
          </a:p>
          <a:p>
            <a:pPr lvl="1"/>
            <a:r>
              <a:rPr lang="en-US" altLang="zh-TW" sz="2000" dirty="0"/>
              <a:t>The second line contains the array size filled by Problem 1. </a:t>
            </a:r>
          </a:p>
          <a:p>
            <a:pPr lvl="1"/>
            <a:r>
              <a:rPr lang="en-US" altLang="zh-TW" sz="2000" dirty="0"/>
              <a:t>The third line contains the sorted array filled by Problem 1.</a:t>
            </a:r>
          </a:p>
          <a:p>
            <a:r>
              <a:rPr lang="en-US" altLang="zh-TW" sz="2400" dirty="0"/>
              <a:t>Output: </a:t>
            </a:r>
          </a:p>
          <a:p>
            <a:pPr lvl="1"/>
            <a:r>
              <a:rPr lang="en-US" altLang="zh-TW" sz="2000" dirty="0"/>
              <a:t>A single integer representing the index of the target in the array, or -1 if the target is not found.</a:t>
            </a:r>
            <a:endParaRPr lang="zh-TW" altLang="en-US" sz="20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25A7DD5-987A-43DE-F41A-36DD709E6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3C46D-CB0F-4644-9DD9-8F746F034205}" type="slidenum">
              <a:rPr lang="zh-TW" altLang="en-US" smtClean="0"/>
              <a:t>12</a:t>
            </a:fld>
            <a:endParaRPr lang="zh-TW" alt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D9299492-A1C2-67F3-E365-8AE8FEB30D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1095" y="4310782"/>
            <a:ext cx="6878010" cy="2314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10505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1BAC680-8548-B40C-23C8-AF765EB53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Problem 2. Binary Search</a:t>
            </a:r>
            <a:r>
              <a:rPr lang="zh-TW" altLang="en-US" b="1" dirty="0"/>
              <a:t> </a:t>
            </a:r>
            <a:r>
              <a:rPr lang="en-US" altLang="zh-TW" b="1" dirty="0"/>
              <a:t>(Cont.)</a:t>
            </a:r>
            <a:br>
              <a:rPr lang="en-US" altLang="zh-TW" b="1" dirty="0"/>
            </a:br>
            <a:r>
              <a:rPr lang="en-US" altLang="zh-TW" sz="3200" b="1" dirty="0">
                <a:solidFill>
                  <a:schemeClr val="bg1"/>
                </a:solidFill>
              </a:rPr>
              <a:t>.</a:t>
            </a:r>
            <a:endParaRPr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49F6329A-C466-4EC7-AC6B-A1DB71E6D7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" b="63"/>
          <a:stretch/>
        </p:blipFill>
        <p:spPr>
          <a:xfrm>
            <a:off x="838200" y="1873192"/>
            <a:ext cx="4707766" cy="4500000"/>
          </a:xfrm>
          <a:prstGeom prst="rect">
            <a:avLst/>
          </a:prstGeom>
        </p:spPr>
      </p:pic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FA13FE75-5180-3F88-F932-0AAF85C39B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0091804"/>
              </p:ext>
            </p:extLst>
          </p:nvPr>
        </p:nvGraphicFramePr>
        <p:xfrm>
          <a:off x="5991076" y="1873192"/>
          <a:ext cx="5362723" cy="29157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62723">
                  <a:extLst>
                    <a:ext uri="{9D8B030D-6E8A-4147-A177-3AD203B41FA5}">
                      <a16:colId xmlns:a16="http://schemas.microsoft.com/office/drawing/2014/main" val="1049483232"/>
                    </a:ext>
                  </a:extLst>
                </a:gridCol>
              </a:tblGrid>
              <a:tr h="400269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altLang="zh-TW" dirty="0"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Inputs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2406759"/>
                  </a:ext>
                </a:extLst>
              </a:tr>
              <a:tr h="400269"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target: </a:t>
                      </a:r>
                      <a:r>
                        <a:rPr lang="en-US" altLang="zh-TW" dirty="0">
                          <a:solidFill>
                            <a:srgbClr val="00B050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4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4046559"/>
                  </a:ext>
                </a:extLst>
              </a:tr>
              <a:tr h="40026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Array size: </a:t>
                      </a:r>
                      <a:r>
                        <a:rPr lang="en-US" altLang="zh-TW" dirty="0">
                          <a:solidFill>
                            <a:srgbClr val="00B050"/>
                          </a:solidFill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5</a:t>
                      </a:r>
                      <a:endParaRPr lang="zh-TW" altLang="en-US" dirty="0">
                        <a:solidFill>
                          <a:srgbClr val="00B050"/>
                        </a:solidFill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3911669"/>
                  </a:ext>
                </a:extLst>
              </a:tr>
              <a:tr h="40026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Sorted array: </a:t>
                      </a:r>
                      <a:r>
                        <a:rPr lang="en-US" altLang="zh-TW" dirty="0">
                          <a:solidFill>
                            <a:srgbClr val="00B050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[1, 2, 4, 5, 6]</a:t>
                      </a:r>
                      <a:endParaRPr lang="zh-TW" altLang="en-US" dirty="0">
                        <a:solidFill>
                          <a:srgbClr val="00B050"/>
                        </a:solidFill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4284814"/>
                  </a:ext>
                </a:extLst>
              </a:tr>
              <a:tr h="40026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dirty="0">
                        <a:solidFill>
                          <a:srgbClr val="00B050"/>
                        </a:solidFill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1270188"/>
                  </a:ext>
                </a:extLst>
              </a:tr>
              <a:tr h="40026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# Note: The array size (line 2) and</a:t>
                      </a:r>
                      <a:br>
                        <a:rPr lang="en-US" altLang="zh-TW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</a:br>
                      <a:r>
                        <a:rPr lang="en-US" altLang="zh-TW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  the sorted array (line 3) will be</a:t>
                      </a:r>
                      <a:br>
                        <a:rPr lang="en-US" altLang="zh-TW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</a:br>
                      <a:r>
                        <a:rPr lang="en-US" altLang="zh-TW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  filled by Problem 1.</a:t>
                      </a:r>
                      <a:endParaRPr lang="zh-TW" altLang="en-US" dirty="0">
                        <a:solidFill>
                          <a:schemeClr val="bg1">
                            <a:lumMod val="65000"/>
                          </a:schemeClr>
                        </a:solidFill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7184333"/>
                  </a:ext>
                </a:extLst>
              </a:tr>
            </a:tbl>
          </a:graphicData>
        </a:graphic>
      </p:graphicFrame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3A5D3092-1719-A705-8BBF-9E1ACB5A41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8514477"/>
              </p:ext>
            </p:extLst>
          </p:nvPr>
        </p:nvGraphicFramePr>
        <p:xfrm>
          <a:off x="5991077" y="5014081"/>
          <a:ext cx="5362722" cy="8076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62722">
                  <a:extLst>
                    <a:ext uri="{9D8B030D-6E8A-4147-A177-3AD203B41FA5}">
                      <a16:colId xmlns:a16="http://schemas.microsoft.com/office/drawing/2014/main" val="1049483232"/>
                    </a:ext>
                  </a:extLst>
                </a:gridCol>
              </a:tblGrid>
              <a:tr h="325446"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bg1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Result</a:t>
                      </a:r>
                      <a:endParaRPr lang="zh-TW" altLang="en-US" dirty="0">
                        <a:solidFill>
                          <a:schemeClr val="bg1"/>
                        </a:solidFill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2406759"/>
                  </a:ext>
                </a:extLst>
              </a:tr>
              <a:tr h="44185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Index: </a:t>
                      </a:r>
                      <a:r>
                        <a:rPr lang="en-US" altLang="zh-TW" dirty="0">
                          <a:solidFill>
                            <a:srgbClr val="00B050"/>
                          </a:solidFill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2</a:t>
                      </a:r>
                      <a:endParaRPr lang="zh-TW" altLang="en-US" dirty="0">
                        <a:solidFill>
                          <a:srgbClr val="00B050"/>
                        </a:solidFill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4046559"/>
                  </a:ext>
                </a:extLst>
              </a:tr>
            </a:tbl>
          </a:graphicData>
        </a:graphic>
      </p:graphicFrame>
      <p:sp>
        <p:nvSpPr>
          <p:cNvPr id="15" name="投影片編號版面配置區 14">
            <a:extLst>
              <a:ext uri="{FF2B5EF4-FFF2-40B4-BE49-F238E27FC236}">
                <a16:creationId xmlns:a16="http://schemas.microsoft.com/office/drawing/2014/main" id="{65675F04-D561-844A-6789-EE1893291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3C46D-CB0F-4644-9DD9-8F746F034205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207787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534AEC20-735F-9782-1BF7-CF8DBDC3C456}"/>
              </a:ext>
            </a:extLst>
          </p:cNvPr>
          <p:cNvSpPr/>
          <p:nvPr/>
        </p:nvSpPr>
        <p:spPr>
          <a:xfrm>
            <a:off x="5614219" y="2939845"/>
            <a:ext cx="517500" cy="25563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BF8DDE6-1469-647F-5DF9-58D04A95E41D}"/>
              </a:ext>
            </a:extLst>
          </p:cNvPr>
          <p:cNvSpPr/>
          <p:nvPr/>
        </p:nvSpPr>
        <p:spPr>
          <a:xfrm>
            <a:off x="6611962" y="2939845"/>
            <a:ext cx="241276" cy="25563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FF30F329-89CE-8DDD-A266-63FC43AAFBD7}"/>
              </a:ext>
            </a:extLst>
          </p:cNvPr>
          <p:cNvSpPr/>
          <p:nvPr/>
        </p:nvSpPr>
        <p:spPr>
          <a:xfrm>
            <a:off x="10529119" y="2939845"/>
            <a:ext cx="517500" cy="25563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A1BF621-2D57-96A3-DFE2-5576E5E5B81D}"/>
              </a:ext>
            </a:extLst>
          </p:cNvPr>
          <p:cNvSpPr/>
          <p:nvPr/>
        </p:nvSpPr>
        <p:spPr>
          <a:xfrm>
            <a:off x="1879613" y="3215148"/>
            <a:ext cx="241276" cy="25563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41BD6B21-9189-E050-41C0-9AAC169F08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Problem 3. Linked-List Cycle (40%)</a:t>
            </a:r>
            <a:br>
              <a:rPr lang="en-US" altLang="zh-TW" b="1" dirty="0"/>
            </a:br>
            <a:r>
              <a:rPr lang="en-US" altLang="zh-TW" sz="3200" b="1" dirty="0">
                <a:solidFill>
                  <a:schemeClr val="bg1"/>
                </a:solidFill>
              </a:rPr>
              <a:t>.</a:t>
            </a:r>
            <a:endParaRPr lang="zh-TW" altLang="en-US" b="1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287CB82-78AB-A011-DFF4-44EB3C33FC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400" dirty="0"/>
              <a:t>Input: </a:t>
            </a:r>
          </a:p>
          <a:p>
            <a:pPr lvl="1"/>
            <a:r>
              <a:rPr lang="en-US" altLang="zh-TW" sz="2000" dirty="0"/>
              <a:t>The first line contains two integers, the </a:t>
            </a:r>
            <a:r>
              <a:rPr lang="en-US" altLang="zh-TW" sz="2000" b="1" dirty="0"/>
              <a:t>number of nodes </a:t>
            </a:r>
            <a:r>
              <a:rPr lang="en-US" altLang="zh-TW" sz="2000" dirty="0"/>
              <a:t>and the </a:t>
            </a:r>
            <a:r>
              <a:rPr lang="en-US" altLang="zh-TW" sz="2000" b="1" dirty="0"/>
              <a:t>number of edges</a:t>
            </a:r>
            <a:r>
              <a:rPr lang="en-US" altLang="zh-TW" sz="2000" dirty="0"/>
              <a:t>.</a:t>
            </a:r>
          </a:p>
          <a:p>
            <a:pPr lvl="1"/>
            <a:r>
              <a:rPr lang="en-US" altLang="zh-TW" sz="2000" dirty="0"/>
              <a:t>The second line contains </a:t>
            </a:r>
            <a:r>
              <a:rPr lang="en-US" altLang="zh-TW" sz="2000" b="1" dirty="0"/>
              <a:t>key values </a:t>
            </a:r>
            <a:r>
              <a:rPr lang="en-US" altLang="zh-TW" sz="2000" dirty="0"/>
              <a:t>of the input nodes.</a:t>
            </a:r>
          </a:p>
          <a:p>
            <a:pPr lvl="1"/>
            <a:r>
              <a:rPr lang="en-US" altLang="zh-TW" sz="2000" dirty="0"/>
              <a:t>Each of the lines contains two integers from and to, representing a directed edge from </a:t>
            </a:r>
            <a:r>
              <a:rPr lang="en-US" altLang="zh-TW" sz="2000" dirty="0" err="1"/>
              <a:t>from</a:t>
            </a:r>
            <a:r>
              <a:rPr lang="en-US" altLang="zh-TW" sz="2000" dirty="0"/>
              <a:t> to </a:t>
            </a:r>
            <a:r>
              <a:rPr lang="en-US" altLang="zh-TW" sz="2000" dirty="0" err="1"/>
              <a:t>to</a:t>
            </a:r>
            <a:r>
              <a:rPr lang="en-US" altLang="zh-TW" sz="2000" dirty="0"/>
              <a:t> (e.g., 1 2 means a directed edge from 1 to 2).</a:t>
            </a:r>
          </a:p>
          <a:p>
            <a:r>
              <a:rPr lang="en-US" altLang="zh-TW" sz="2400" dirty="0"/>
              <a:t>Output: </a:t>
            </a:r>
          </a:p>
          <a:p>
            <a:pPr lvl="1"/>
            <a:r>
              <a:rPr lang="en-US" altLang="zh-TW" sz="2000" dirty="0"/>
              <a:t>The first line contains an integer </a:t>
            </a:r>
            <a:r>
              <a:rPr lang="en-US" altLang="zh-TW" sz="2000" b="1" dirty="0"/>
              <a:t>key value of meet pointer</a:t>
            </a:r>
            <a:r>
              <a:rPr lang="en-US" altLang="zh-TW" sz="2000" dirty="0"/>
              <a:t>.</a:t>
            </a:r>
          </a:p>
          <a:p>
            <a:pPr lvl="1"/>
            <a:r>
              <a:rPr lang="en-US" altLang="zh-TW" sz="2000" dirty="0"/>
              <a:t>The second line contains the result of having cycle or not. (e.g., Has cycle: true; no cycle: false)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34B45FC-B469-84C7-A29A-14B25B750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3C46D-CB0F-4644-9DD9-8F746F034205}" type="slidenum">
              <a:rPr lang="zh-TW" altLang="en-US" smtClean="0"/>
              <a:t>14</a:t>
            </a:fld>
            <a:endParaRPr lang="zh-TW" altLang="en-US"/>
          </a:p>
        </p:txBody>
      </p:sp>
      <p:grpSp>
        <p:nvGrpSpPr>
          <p:cNvPr id="9" name="群組 8">
            <a:extLst>
              <a:ext uri="{FF2B5EF4-FFF2-40B4-BE49-F238E27FC236}">
                <a16:creationId xmlns:a16="http://schemas.microsoft.com/office/drawing/2014/main" id="{63A053CB-5B9B-BFCC-0EB6-9847C1545371}"/>
              </a:ext>
            </a:extLst>
          </p:cNvPr>
          <p:cNvGrpSpPr/>
          <p:nvPr/>
        </p:nvGrpSpPr>
        <p:grpSpPr>
          <a:xfrm>
            <a:off x="1172015" y="4848628"/>
            <a:ext cx="3886337" cy="1644247"/>
            <a:chOff x="481780" y="4673203"/>
            <a:chExt cx="3886337" cy="1644247"/>
          </a:xfrm>
        </p:grpSpPr>
        <p:pic>
          <p:nvPicPr>
            <p:cNvPr id="7" name="圖片 6">
              <a:extLst>
                <a:ext uri="{FF2B5EF4-FFF2-40B4-BE49-F238E27FC236}">
                  <a16:creationId xmlns:a16="http://schemas.microsoft.com/office/drawing/2014/main" id="{EA502335-C7B4-3F85-0313-6B7F19808AD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53112" b="43036"/>
            <a:stretch>
              <a:fillRect/>
            </a:stretch>
          </p:blipFill>
          <p:spPr>
            <a:xfrm>
              <a:off x="481780" y="4673203"/>
              <a:ext cx="3224981" cy="1644247"/>
            </a:xfrm>
            <a:prstGeom prst="rect">
              <a:avLst/>
            </a:prstGeom>
          </p:spPr>
        </p:pic>
        <p:pic>
          <p:nvPicPr>
            <p:cNvPr id="8" name="圖片 7">
              <a:extLst>
                <a:ext uri="{FF2B5EF4-FFF2-40B4-BE49-F238E27FC236}">
                  <a16:creationId xmlns:a16="http://schemas.microsoft.com/office/drawing/2014/main" id="{F92FA30F-087B-56D0-474D-76407AB52F6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85111" b="43036"/>
            <a:stretch>
              <a:fillRect/>
            </a:stretch>
          </p:blipFill>
          <p:spPr>
            <a:xfrm>
              <a:off x="3344066" y="4673203"/>
              <a:ext cx="1024051" cy="1644247"/>
            </a:xfrm>
            <a:prstGeom prst="rect">
              <a:avLst/>
            </a:prstGeom>
          </p:spPr>
        </p:pic>
      </p:grpSp>
      <p:grpSp>
        <p:nvGrpSpPr>
          <p:cNvPr id="11" name="群組 10">
            <a:extLst>
              <a:ext uri="{FF2B5EF4-FFF2-40B4-BE49-F238E27FC236}">
                <a16:creationId xmlns:a16="http://schemas.microsoft.com/office/drawing/2014/main" id="{3D4BCD2A-CFEC-6724-86BF-38CE74713341}"/>
              </a:ext>
            </a:extLst>
          </p:cNvPr>
          <p:cNvGrpSpPr/>
          <p:nvPr/>
        </p:nvGrpSpPr>
        <p:grpSpPr>
          <a:xfrm>
            <a:off x="5330862" y="4848628"/>
            <a:ext cx="3856840" cy="1058603"/>
            <a:chOff x="5950493" y="5118360"/>
            <a:chExt cx="3856840" cy="1058603"/>
          </a:xfrm>
        </p:grpSpPr>
        <p:pic>
          <p:nvPicPr>
            <p:cNvPr id="6" name="圖片 5">
              <a:extLst>
                <a:ext uri="{FF2B5EF4-FFF2-40B4-BE49-F238E27FC236}">
                  <a16:creationId xmlns:a16="http://schemas.microsoft.com/office/drawing/2014/main" id="{23F6EDDF-9533-D0AF-E80E-C5A3279EBAB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63325" r="53112"/>
            <a:stretch>
              <a:fillRect/>
            </a:stretch>
          </p:blipFill>
          <p:spPr>
            <a:xfrm>
              <a:off x="5950493" y="5118360"/>
              <a:ext cx="3224981" cy="1058603"/>
            </a:xfrm>
            <a:prstGeom prst="rect">
              <a:avLst/>
            </a:prstGeom>
          </p:spPr>
        </p:pic>
        <p:pic>
          <p:nvPicPr>
            <p:cNvPr id="10" name="圖片 9">
              <a:extLst>
                <a:ext uri="{FF2B5EF4-FFF2-40B4-BE49-F238E27FC236}">
                  <a16:creationId xmlns:a16="http://schemas.microsoft.com/office/drawing/2014/main" id="{B51A8571-7B1E-8072-4589-DEE5C7A225A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89053" t="63325"/>
            <a:stretch>
              <a:fillRect/>
            </a:stretch>
          </p:blipFill>
          <p:spPr>
            <a:xfrm>
              <a:off x="9054358" y="5118360"/>
              <a:ext cx="752975" cy="105860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930400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40D56DD-5333-28D9-09C7-B113BA19F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b="1" dirty="0"/>
              <a:t>Problem 3. Linked-List Cycle</a:t>
            </a:r>
            <a:r>
              <a:rPr lang="zh-TW" altLang="en-US" b="1" dirty="0"/>
              <a:t> </a:t>
            </a:r>
            <a:r>
              <a:rPr lang="en-US" altLang="zh-TW" b="1" dirty="0"/>
              <a:t>(Cont.) </a:t>
            </a:r>
            <a:br>
              <a:rPr lang="en-US" altLang="zh-TW" b="1" dirty="0"/>
            </a:br>
            <a:r>
              <a:rPr lang="en-US" altLang="zh-TW" sz="3200" dirty="0"/>
              <a:t>The Tortoise and Hare</a:t>
            </a:r>
            <a:r>
              <a:rPr lang="zh-TW" altLang="en-US" sz="3200" dirty="0"/>
              <a:t> </a:t>
            </a:r>
            <a:r>
              <a:rPr lang="en-US" altLang="zh-TW" sz="3200" dirty="0"/>
              <a:t>Algorithm</a:t>
            </a:r>
            <a:endParaRPr lang="zh-TW" altLang="en-US" sz="3200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6C1F458-2457-172B-66EB-270988FE65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4832975" cy="4530725"/>
          </a:xfrm>
        </p:spPr>
        <p:txBody>
          <a:bodyPr/>
          <a:lstStyle/>
          <a:p>
            <a:r>
              <a:rPr lang="en-US" altLang="zh-TW" dirty="0"/>
              <a:t>The </a:t>
            </a:r>
            <a:r>
              <a:rPr lang="en-US" altLang="zh-TW" dirty="0">
                <a:solidFill>
                  <a:schemeClr val="accent2"/>
                </a:solidFill>
              </a:rPr>
              <a:t>tortoise</a:t>
            </a:r>
            <a:r>
              <a:rPr lang="en-US" altLang="zh-TW" dirty="0"/>
              <a:t> moves one step at a time, and the </a:t>
            </a:r>
            <a:r>
              <a:rPr lang="en-US" altLang="zh-TW" dirty="0">
                <a:solidFill>
                  <a:srgbClr val="0070C0"/>
                </a:solidFill>
              </a:rPr>
              <a:t>hare</a:t>
            </a:r>
            <a:r>
              <a:rPr lang="en-US" altLang="zh-TW" dirty="0"/>
              <a:t> moves two steps at a time. </a:t>
            </a:r>
          </a:p>
          <a:p>
            <a:r>
              <a:rPr lang="en-US" altLang="zh-TW" dirty="0"/>
              <a:t>Given a path, we want to determine whether the path contains a cycle. </a:t>
            </a:r>
          </a:p>
          <a:p>
            <a:r>
              <a:rPr lang="en-US" altLang="zh-TW" dirty="0"/>
              <a:t>If so, at which position do the </a:t>
            </a:r>
            <a:r>
              <a:rPr lang="en-US" altLang="zh-TW" dirty="0">
                <a:solidFill>
                  <a:srgbClr val="0070C0"/>
                </a:solidFill>
              </a:rPr>
              <a:t>hare</a:t>
            </a:r>
            <a:r>
              <a:rPr lang="en-US" altLang="zh-TW" dirty="0"/>
              <a:t> and the </a:t>
            </a:r>
            <a:r>
              <a:rPr lang="en-US" altLang="zh-TW" dirty="0">
                <a:solidFill>
                  <a:schemeClr val="accent2"/>
                </a:solidFill>
              </a:rPr>
              <a:t>tortoise</a:t>
            </a:r>
            <a:r>
              <a:rPr lang="en-US" altLang="zh-TW" dirty="0"/>
              <a:t> meet for the first time inside the cycle?</a:t>
            </a:r>
            <a:endParaRPr lang="zh-TW" altLang="en-US" dirty="0"/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341C7D70-A6D3-0C5E-F5BE-3ABD12B6EA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729826"/>
              </p:ext>
            </p:extLst>
          </p:nvPr>
        </p:nvGraphicFramePr>
        <p:xfrm>
          <a:off x="5991077" y="4450900"/>
          <a:ext cx="5362722" cy="19054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62722">
                  <a:extLst>
                    <a:ext uri="{9D8B030D-6E8A-4147-A177-3AD203B41FA5}">
                      <a16:colId xmlns:a16="http://schemas.microsoft.com/office/drawing/2014/main" val="1049483232"/>
                    </a:ext>
                  </a:extLst>
                </a:gridCol>
              </a:tblGrid>
              <a:tr h="381090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altLang="zh-TW" dirty="0"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Inputs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2406759"/>
                  </a:ext>
                </a:extLst>
              </a:tr>
              <a:tr h="381090"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Node count: </a:t>
                      </a:r>
                      <a:r>
                        <a:rPr lang="en-US" altLang="zh-TW" dirty="0">
                          <a:solidFill>
                            <a:srgbClr val="00B050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3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4046559"/>
                  </a:ext>
                </a:extLst>
              </a:tr>
              <a:tr h="381090"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Edge count: </a:t>
                      </a:r>
                      <a:r>
                        <a:rPr lang="en-US" altLang="zh-TW" dirty="0">
                          <a:solidFill>
                            <a:srgbClr val="00B050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3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7332235"/>
                  </a:ext>
                </a:extLst>
              </a:tr>
              <a:tr h="38109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Node: </a:t>
                      </a:r>
                      <a:r>
                        <a:rPr lang="en-US" altLang="zh-TW" dirty="0">
                          <a:solidFill>
                            <a:srgbClr val="00B050"/>
                          </a:solidFill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2, 1, 3</a:t>
                      </a:r>
                      <a:endParaRPr lang="zh-TW" altLang="en-US" dirty="0">
                        <a:solidFill>
                          <a:srgbClr val="00B050"/>
                        </a:solidFill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3911669"/>
                  </a:ext>
                </a:extLst>
              </a:tr>
              <a:tr h="38109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Edge: </a:t>
                      </a:r>
                      <a:r>
                        <a:rPr lang="en-US" altLang="zh-TW" dirty="0">
                          <a:solidFill>
                            <a:srgbClr val="00B050"/>
                          </a:solidFill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(2,1), (1,3), (3,2)</a:t>
                      </a:r>
                      <a:endParaRPr lang="zh-TW" altLang="en-US" dirty="0">
                        <a:solidFill>
                          <a:srgbClr val="00B050"/>
                        </a:solidFill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4284814"/>
                  </a:ext>
                </a:extLst>
              </a:tr>
            </a:tbl>
          </a:graphicData>
        </a:graphic>
      </p:graphicFrame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C06BDB8E-1F32-71ED-2288-A5998A9EEB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6636731"/>
              </p:ext>
            </p:extLst>
          </p:nvPr>
        </p:nvGraphicFramePr>
        <p:xfrm>
          <a:off x="5991078" y="1859921"/>
          <a:ext cx="5362722" cy="23612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62722">
                  <a:extLst>
                    <a:ext uri="{9D8B030D-6E8A-4147-A177-3AD203B41FA5}">
                      <a16:colId xmlns:a16="http://schemas.microsoft.com/office/drawing/2014/main" val="1864138722"/>
                    </a:ext>
                  </a:extLst>
                </a:gridCol>
              </a:tblGrid>
              <a:tr h="290199"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Main list</a:t>
                      </a:r>
                      <a:endParaRPr lang="zh-TW" altLang="en-US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1714300"/>
                  </a:ext>
                </a:extLst>
              </a:tr>
              <a:tr h="1995476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1058671"/>
                  </a:ext>
                </a:extLst>
              </a:tr>
            </a:tbl>
          </a:graphicData>
        </a:graphic>
      </p:graphicFrame>
      <p:grpSp>
        <p:nvGrpSpPr>
          <p:cNvPr id="14" name="群組 13">
            <a:extLst>
              <a:ext uri="{FF2B5EF4-FFF2-40B4-BE49-F238E27FC236}">
                <a16:creationId xmlns:a16="http://schemas.microsoft.com/office/drawing/2014/main" id="{E001876E-6395-1B02-4E6A-A75ADBB711D2}"/>
              </a:ext>
            </a:extLst>
          </p:cNvPr>
          <p:cNvGrpSpPr/>
          <p:nvPr/>
        </p:nvGrpSpPr>
        <p:grpSpPr>
          <a:xfrm>
            <a:off x="6820285" y="2714128"/>
            <a:ext cx="3704303" cy="652821"/>
            <a:chOff x="6735096" y="2556388"/>
            <a:chExt cx="3704303" cy="652821"/>
          </a:xfrm>
        </p:grpSpPr>
        <p:sp>
          <p:nvSpPr>
            <p:cNvPr id="15" name="橢圓 14">
              <a:extLst>
                <a:ext uri="{FF2B5EF4-FFF2-40B4-BE49-F238E27FC236}">
                  <a16:creationId xmlns:a16="http://schemas.microsoft.com/office/drawing/2014/main" id="{C622FF89-441B-5305-B1C0-45967ECAFF28}"/>
                </a:ext>
              </a:extLst>
            </p:cNvPr>
            <p:cNvSpPr/>
            <p:nvPr/>
          </p:nvSpPr>
          <p:spPr>
            <a:xfrm>
              <a:off x="6735096" y="2556388"/>
              <a:ext cx="646471" cy="646471"/>
            </a:xfrm>
            <a:prstGeom prst="ellipse">
              <a:avLst/>
            </a:prstGeom>
            <a:noFill/>
            <a:ln w="2857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32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2</a:t>
              </a:r>
              <a:endParaRPr lang="zh-TW" altLang="en-US" sz="32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16" name="橢圓 15">
              <a:extLst>
                <a:ext uri="{FF2B5EF4-FFF2-40B4-BE49-F238E27FC236}">
                  <a16:creationId xmlns:a16="http://schemas.microsoft.com/office/drawing/2014/main" id="{914FB204-C0D2-FFBE-5F21-ADCC73EBB49D}"/>
                </a:ext>
              </a:extLst>
            </p:cNvPr>
            <p:cNvSpPr/>
            <p:nvPr/>
          </p:nvSpPr>
          <p:spPr>
            <a:xfrm>
              <a:off x="8264012" y="2556388"/>
              <a:ext cx="646471" cy="646471"/>
            </a:xfrm>
            <a:prstGeom prst="ellipse">
              <a:avLst/>
            </a:prstGeom>
            <a:noFill/>
            <a:ln w="2857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32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1</a:t>
              </a:r>
              <a:endParaRPr lang="zh-TW" altLang="en-US" sz="32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17" name="橢圓 16">
              <a:extLst>
                <a:ext uri="{FF2B5EF4-FFF2-40B4-BE49-F238E27FC236}">
                  <a16:creationId xmlns:a16="http://schemas.microsoft.com/office/drawing/2014/main" id="{859B24AF-5716-E5F8-6DF2-0CC9CB5BA7FF}"/>
                </a:ext>
              </a:extLst>
            </p:cNvPr>
            <p:cNvSpPr/>
            <p:nvPr/>
          </p:nvSpPr>
          <p:spPr>
            <a:xfrm>
              <a:off x="9792928" y="2556388"/>
              <a:ext cx="646471" cy="646471"/>
            </a:xfrm>
            <a:prstGeom prst="ellipse">
              <a:avLst/>
            </a:prstGeom>
            <a:noFill/>
            <a:ln w="2857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32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3</a:t>
              </a:r>
              <a:endParaRPr lang="zh-TW" altLang="en-US" sz="32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cxnSp>
          <p:nvCxnSpPr>
            <p:cNvPr id="18" name="直線單箭頭接點 17">
              <a:extLst>
                <a:ext uri="{FF2B5EF4-FFF2-40B4-BE49-F238E27FC236}">
                  <a16:creationId xmlns:a16="http://schemas.microsoft.com/office/drawing/2014/main" id="{4B88BA27-F5A6-52B4-7557-908802697628}"/>
                </a:ext>
              </a:extLst>
            </p:cNvPr>
            <p:cNvCxnSpPr>
              <a:stCxn id="15" idx="6"/>
              <a:endCxn id="16" idx="2"/>
            </p:cNvCxnSpPr>
            <p:nvPr/>
          </p:nvCxnSpPr>
          <p:spPr>
            <a:xfrm flipV="1">
              <a:off x="7381567" y="2879623"/>
              <a:ext cx="882445" cy="1"/>
            </a:xfrm>
            <a:prstGeom prst="straightConnector1">
              <a:avLst/>
            </a:prstGeom>
            <a:ln w="28575">
              <a:solidFill>
                <a:schemeClr val="tx1">
                  <a:lumMod val="65000"/>
                  <a:lumOff val="35000"/>
                </a:schemeClr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線單箭頭接點 18">
              <a:extLst>
                <a:ext uri="{FF2B5EF4-FFF2-40B4-BE49-F238E27FC236}">
                  <a16:creationId xmlns:a16="http://schemas.microsoft.com/office/drawing/2014/main" id="{7FA28CA4-DBFA-E3F7-6039-AC439480D15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10483" y="2879623"/>
              <a:ext cx="882445" cy="1"/>
            </a:xfrm>
            <a:prstGeom prst="straightConnector1">
              <a:avLst/>
            </a:prstGeom>
            <a:ln w="28575">
              <a:solidFill>
                <a:schemeClr val="tx1">
                  <a:lumMod val="65000"/>
                  <a:lumOff val="35000"/>
                </a:schemeClr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接點: 肘形 19">
              <a:extLst>
                <a:ext uri="{FF2B5EF4-FFF2-40B4-BE49-F238E27FC236}">
                  <a16:creationId xmlns:a16="http://schemas.microsoft.com/office/drawing/2014/main" id="{07377D5C-97DF-F6B4-07F4-0FEA0C9D40EE}"/>
                </a:ext>
              </a:extLst>
            </p:cNvPr>
            <p:cNvCxnSpPr>
              <a:cxnSpLocks/>
              <a:stCxn id="17" idx="4"/>
              <a:endCxn id="15" idx="4"/>
            </p:cNvCxnSpPr>
            <p:nvPr/>
          </p:nvCxnSpPr>
          <p:spPr>
            <a:xfrm rot="5400000">
              <a:off x="8587248" y="1673943"/>
              <a:ext cx="12700" cy="3057832"/>
            </a:xfrm>
            <a:prstGeom prst="bentConnector3">
              <a:avLst>
                <a:gd name="adj1" fmla="val 3658063"/>
              </a:avLst>
            </a:prstGeom>
            <a:ln w="28575" cap="flat">
              <a:solidFill>
                <a:schemeClr val="tx1">
                  <a:lumMod val="65000"/>
                  <a:lumOff val="35000"/>
                </a:schemeClr>
              </a:solidFill>
              <a:miter lim="800000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投影片編號版面配置區 22">
            <a:extLst>
              <a:ext uri="{FF2B5EF4-FFF2-40B4-BE49-F238E27FC236}">
                <a16:creationId xmlns:a16="http://schemas.microsoft.com/office/drawing/2014/main" id="{B682CC1A-8C6E-DF93-0510-62F6EB486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3C46D-CB0F-4644-9DD9-8F746F034205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970178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8" name="表格 57">
            <a:extLst>
              <a:ext uri="{FF2B5EF4-FFF2-40B4-BE49-F238E27FC236}">
                <a16:creationId xmlns:a16="http://schemas.microsoft.com/office/drawing/2014/main" id="{E6AD9E40-07BE-CB67-6213-33C65E2DB1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7640602"/>
              </p:ext>
            </p:extLst>
          </p:nvPr>
        </p:nvGraphicFramePr>
        <p:xfrm>
          <a:off x="6469626" y="1530657"/>
          <a:ext cx="5392832" cy="30195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92832">
                  <a:extLst>
                    <a:ext uri="{9D8B030D-6E8A-4147-A177-3AD203B41FA5}">
                      <a16:colId xmlns:a16="http://schemas.microsoft.com/office/drawing/2014/main" val="1864138722"/>
                    </a:ext>
                  </a:extLst>
                </a:gridCol>
              </a:tblGrid>
              <a:tr h="349621"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Main list</a:t>
                      </a:r>
                      <a:endParaRPr lang="zh-TW" altLang="en-US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1714300"/>
                  </a:ext>
                </a:extLst>
              </a:tr>
              <a:tr h="2653831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1058671"/>
                  </a:ext>
                </a:extLst>
              </a:tr>
            </a:tbl>
          </a:graphicData>
        </a:graphic>
      </p:graphicFrame>
      <p:sp>
        <p:nvSpPr>
          <p:cNvPr id="2" name="標題 1">
            <a:extLst>
              <a:ext uri="{FF2B5EF4-FFF2-40B4-BE49-F238E27FC236}">
                <a16:creationId xmlns:a16="http://schemas.microsoft.com/office/drawing/2014/main" id="{4EDE744B-CFA9-AEA0-8026-ABDFD3D7F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b="1" dirty="0"/>
              <a:t>Problem 3. Linked-List Cycle (Cont.)</a:t>
            </a:r>
            <a:br>
              <a:rPr lang="en-US" altLang="zh-TW" b="1" dirty="0"/>
            </a:br>
            <a:r>
              <a:rPr lang="en-US" altLang="zh-TW" sz="3200" dirty="0"/>
              <a:t>The Tortoise and Hare</a:t>
            </a:r>
            <a:r>
              <a:rPr lang="zh-TW" altLang="en-US" sz="3200" dirty="0"/>
              <a:t> </a:t>
            </a:r>
            <a:r>
              <a:rPr lang="en-US" altLang="zh-TW" sz="3200" dirty="0"/>
              <a:t>Algorithm</a:t>
            </a:r>
            <a:endParaRPr lang="zh-TW" altLang="en-US" sz="3200" dirty="0">
              <a:solidFill>
                <a:schemeClr val="bg1"/>
              </a:solidFill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BBB45CB-3A0F-3818-91F1-D72836E411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15793"/>
            <a:ext cx="5060078" cy="4351338"/>
          </a:xfrm>
        </p:spPr>
        <p:txBody>
          <a:bodyPr>
            <a:normAutofit fontScale="92500" lnSpcReduction="20000"/>
          </a:bodyPr>
          <a:lstStyle/>
          <a:p>
            <a:r>
              <a:rPr lang="en-US" altLang="zh-TW" dirty="0"/>
              <a:t>T1:</a:t>
            </a:r>
          </a:p>
          <a:p>
            <a:pPr lvl="1"/>
            <a:r>
              <a:rPr lang="en-US" altLang="zh-TW" dirty="0"/>
              <a:t>The </a:t>
            </a:r>
            <a:r>
              <a:rPr lang="en-US" altLang="zh-TW" dirty="0">
                <a:solidFill>
                  <a:srgbClr val="0070C0"/>
                </a:solidFill>
              </a:rPr>
              <a:t>hare</a:t>
            </a:r>
            <a:r>
              <a:rPr lang="en-US" altLang="zh-TW" dirty="0"/>
              <a:t> moves two steps.</a:t>
            </a:r>
          </a:p>
          <a:p>
            <a:pPr lvl="1"/>
            <a:r>
              <a:rPr lang="en-US" altLang="zh-TW" dirty="0"/>
              <a:t>The </a:t>
            </a:r>
            <a:r>
              <a:rPr lang="en-US" altLang="zh-TW" dirty="0">
                <a:solidFill>
                  <a:schemeClr val="accent2"/>
                </a:solidFill>
              </a:rPr>
              <a:t>tortoise</a:t>
            </a:r>
            <a:r>
              <a:rPr lang="en-US" altLang="zh-TW" dirty="0"/>
              <a:t> moves one step.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en-US" altLang="zh-TW" dirty="0">
                <a:solidFill>
                  <a:srgbClr val="FF4343"/>
                </a:solidFill>
                <a:sym typeface="Wingdings" panose="05000000000000000000" pitchFamily="2" charset="2"/>
              </a:rPr>
              <a:t> Not meet yet.</a:t>
            </a:r>
          </a:p>
          <a:p>
            <a:r>
              <a:rPr lang="en-US" altLang="zh-TW" dirty="0"/>
              <a:t>T2:</a:t>
            </a:r>
          </a:p>
          <a:p>
            <a:pPr lvl="1"/>
            <a:r>
              <a:rPr lang="en-US" altLang="zh-TW" dirty="0"/>
              <a:t>The </a:t>
            </a:r>
            <a:r>
              <a:rPr lang="en-US" altLang="zh-TW" dirty="0">
                <a:solidFill>
                  <a:srgbClr val="0070C0"/>
                </a:solidFill>
              </a:rPr>
              <a:t>hare</a:t>
            </a:r>
            <a:r>
              <a:rPr lang="en-US" altLang="zh-TW" dirty="0"/>
              <a:t> moves two steps.</a:t>
            </a:r>
          </a:p>
          <a:p>
            <a:pPr lvl="1"/>
            <a:r>
              <a:rPr lang="en-US" altLang="zh-TW" dirty="0"/>
              <a:t>The </a:t>
            </a:r>
            <a:r>
              <a:rPr lang="en-US" altLang="zh-TW" dirty="0">
                <a:solidFill>
                  <a:schemeClr val="accent2"/>
                </a:solidFill>
              </a:rPr>
              <a:t>tortoise</a:t>
            </a:r>
            <a:r>
              <a:rPr lang="en-US" altLang="zh-TW" dirty="0"/>
              <a:t> moves one step.</a:t>
            </a:r>
          </a:p>
          <a:p>
            <a:pPr marL="0" indent="0">
              <a:buNone/>
            </a:pPr>
            <a:r>
              <a:rPr lang="en-US" altLang="zh-TW" dirty="0">
                <a:solidFill>
                  <a:srgbClr val="FF4343"/>
                </a:solidFill>
                <a:sym typeface="Wingdings" panose="05000000000000000000" pitchFamily="2" charset="2"/>
              </a:rPr>
              <a:t> Not meet yet.</a:t>
            </a:r>
            <a:endParaRPr lang="en-US" altLang="zh-TW" dirty="0">
              <a:solidFill>
                <a:srgbClr val="FF4343"/>
              </a:solidFill>
            </a:endParaRPr>
          </a:p>
          <a:p>
            <a:r>
              <a:rPr lang="en-US" altLang="zh-TW" dirty="0"/>
              <a:t>T3:</a:t>
            </a:r>
          </a:p>
          <a:p>
            <a:pPr lvl="1"/>
            <a:r>
              <a:rPr lang="en-US" altLang="zh-TW" dirty="0"/>
              <a:t>The </a:t>
            </a:r>
            <a:r>
              <a:rPr lang="en-US" altLang="zh-TW" dirty="0">
                <a:solidFill>
                  <a:srgbClr val="0070C0"/>
                </a:solidFill>
              </a:rPr>
              <a:t>hare</a:t>
            </a:r>
            <a:r>
              <a:rPr lang="en-US" altLang="zh-TW" dirty="0"/>
              <a:t> moves two steps.</a:t>
            </a:r>
          </a:p>
          <a:p>
            <a:pPr lvl="1"/>
            <a:r>
              <a:rPr lang="en-US" altLang="zh-TW" dirty="0"/>
              <a:t>The </a:t>
            </a:r>
            <a:r>
              <a:rPr lang="en-US" altLang="zh-TW" dirty="0">
                <a:solidFill>
                  <a:schemeClr val="accent2"/>
                </a:solidFill>
              </a:rPr>
              <a:t>tortoise</a:t>
            </a:r>
            <a:r>
              <a:rPr lang="en-US" altLang="zh-TW" dirty="0"/>
              <a:t> moves one step.</a:t>
            </a:r>
          </a:p>
          <a:p>
            <a:pPr marL="0" indent="0">
              <a:buNone/>
            </a:pPr>
            <a:r>
              <a:rPr lang="en-US" altLang="zh-TW" dirty="0">
                <a:solidFill>
                  <a:srgbClr val="FF4343"/>
                </a:solidFill>
                <a:sym typeface="Wingdings" panose="05000000000000000000" pitchFamily="2" charset="2"/>
              </a:rPr>
              <a:t> Meet!</a:t>
            </a:r>
            <a:endParaRPr lang="en-US" altLang="zh-TW" dirty="0">
              <a:solidFill>
                <a:srgbClr val="FF4343"/>
              </a:solidFill>
            </a:endParaRPr>
          </a:p>
        </p:txBody>
      </p:sp>
      <p:grpSp>
        <p:nvGrpSpPr>
          <p:cNvPr id="29" name="群組 28">
            <a:extLst>
              <a:ext uri="{FF2B5EF4-FFF2-40B4-BE49-F238E27FC236}">
                <a16:creationId xmlns:a16="http://schemas.microsoft.com/office/drawing/2014/main" id="{59F554C0-8F0D-F28B-EB76-BB4760FE2E7E}"/>
              </a:ext>
            </a:extLst>
          </p:cNvPr>
          <p:cNvGrpSpPr/>
          <p:nvPr/>
        </p:nvGrpSpPr>
        <p:grpSpPr>
          <a:xfrm>
            <a:off x="7340513" y="2939847"/>
            <a:ext cx="3704303" cy="652821"/>
            <a:chOff x="6735096" y="2556388"/>
            <a:chExt cx="3704303" cy="652821"/>
          </a:xfrm>
        </p:grpSpPr>
        <p:sp>
          <p:nvSpPr>
            <p:cNvPr id="4" name="橢圓 3">
              <a:extLst>
                <a:ext uri="{FF2B5EF4-FFF2-40B4-BE49-F238E27FC236}">
                  <a16:creationId xmlns:a16="http://schemas.microsoft.com/office/drawing/2014/main" id="{C7DFF229-3A20-57CF-8E65-56653EAAFC32}"/>
                </a:ext>
              </a:extLst>
            </p:cNvPr>
            <p:cNvSpPr/>
            <p:nvPr/>
          </p:nvSpPr>
          <p:spPr>
            <a:xfrm>
              <a:off x="6735096" y="2556388"/>
              <a:ext cx="646471" cy="646471"/>
            </a:xfrm>
            <a:prstGeom prst="ellipse">
              <a:avLst/>
            </a:prstGeom>
            <a:noFill/>
            <a:ln w="2857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32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2</a:t>
              </a:r>
              <a:endParaRPr lang="zh-TW" altLang="en-US" sz="32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5" name="橢圓 4">
              <a:extLst>
                <a:ext uri="{FF2B5EF4-FFF2-40B4-BE49-F238E27FC236}">
                  <a16:creationId xmlns:a16="http://schemas.microsoft.com/office/drawing/2014/main" id="{E9A14FF5-7F35-2CF1-A075-769A7632C2D6}"/>
                </a:ext>
              </a:extLst>
            </p:cNvPr>
            <p:cNvSpPr/>
            <p:nvPr/>
          </p:nvSpPr>
          <p:spPr>
            <a:xfrm>
              <a:off x="8264012" y="2556388"/>
              <a:ext cx="646471" cy="646471"/>
            </a:xfrm>
            <a:prstGeom prst="ellipse">
              <a:avLst/>
            </a:prstGeom>
            <a:noFill/>
            <a:ln w="2857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32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1</a:t>
              </a:r>
              <a:endParaRPr lang="zh-TW" altLang="en-US" sz="32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6" name="橢圓 5">
              <a:extLst>
                <a:ext uri="{FF2B5EF4-FFF2-40B4-BE49-F238E27FC236}">
                  <a16:creationId xmlns:a16="http://schemas.microsoft.com/office/drawing/2014/main" id="{AD7F133B-6077-F4EC-BF93-A5F9BBDF48AA}"/>
                </a:ext>
              </a:extLst>
            </p:cNvPr>
            <p:cNvSpPr/>
            <p:nvPr/>
          </p:nvSpPr>
          <p:spPr>
            <a:xfrm>
              <a:off x="9792928" y="2556388"/>
              <a:ext cx="646471" cy="646471"/>
            </a:xfrm>
            <a:prstGeom prst="ellipse">
              <a:avLst/>
            </a:prstGeom>
            <a:noFill/>
            <a:ln w="2857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32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3</a:t>
              </a:r>
              <a:endParaRPr lang="zh-TW" altLang="en-US" sz="32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cxnSp>
          <p:nvCxnSpPr>
            <p:cNvPr id="8" name="直線單箭頭接點 7">
              <a:extLst>
                <a:ext uri="{FF2B5EF4-FFF2-40B4-BE49-F238E27FC236}">
                  <a16:creationId xmlns:a16="http://schemas.microsoft.com/office/drawing/2014/main" id="{471BE507-C1A7-2BE6-C317-8B19D7F5B860}"/>
                </a:ext>
              </a:extLst>
            </p:cNvPr>
            <p:cNvCxnSpPr>
              <a:stCxn id="4" idx="6"/>
              <a:endCxn id="5" idx="2"/>
            </p:cNvCxnSpPr>
            <p:nvPr/>
          </p:nvCxnSpPr>
          <p:spPr>
            <a:xfrm flipV="1">
              <a:off x="7381567" y="2879623"/>
              <a:ext cx="882445" cy="1"/>
            </a:xfrm>
            <a:prstGeom prst="straightConnector1">
              <a:avLst/>
            </a:prstGeom>
            <a:ln w="28575">
              <a:solidFill>
                <a:schemeClr val="tx1">
                  <a:lumMod val="65000"/>
                  <a:lumOff val="35000"/>
                </a:schemeClr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線單箭頭接點 8">
              <a:extLst>
                <a:ext uri="{FF2B5EF4-FFF2-40B4-BE49-F238E27FC236}">
                  <a16:creationId xmlns:a16="http://schemas.microsoft.com/office/drawing/2014/main" id="{C4B024FA-D44C-8609-92D0-A36E85691AC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10483" y="2879623"/>
              <a:ext cx="882445" cy="1"/>
            </a:xfrm>
            <a:prstGeom prst="straightConnector1">
              <a:avLst/>
            </a:prstGeom>
            <a:ln w="28575">
              <a:solidFill>
                <a:schemeClr val="tx1">
                  <a:lumMod val="65000"/>
                  <a:lumOff val="35000"/>
                </a:schemeClr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接點: 肘形 11">
              <a:extLst>
                <a:ext uri="{FF2B5EF4-FFF2-40B4-BE49-F238E27FC236}">
                  <a16:creationId xmlns:a16="http://schemas.microsoft.com/office/drawing/2014/main" id="{E546D3C5-991C-E696-590E-6C8A71A65AC2}"/>
                </a:ext>
              </a:extLst>
            </p:cNvPr>
            <p:cNvCxnSpPr>
              <a:cxnSpLocks/>
              <a:stCxn id="6" idx="4"/>
              <a:endCxn id="4" idx="4"/>
            </p:cNvCxnSpPr>
            <p:nvPr/>
          </p:nvCxnSpPr>
          <p:spPr>
            <a:xfrm rot="5400000">
              <a:off x="8587248" y="1673943"/>
              <a:ext cx="12700" cy="3057832"/>
            </a:xfrm>
            <a:prstGeom prst="bentConnector3">
              <a:avLst>
                <a:gd name="adj1" fmla="val 3658063"/>
              </a:avLst>
            </a:prstGeom>
            <a:ln w="28575" cap="flat">
              <a:solidFill>
                <a:schemeClr val="tx1">
                  <a:lumMod val="65000"/>
                  <a:lumOff val="35000"/>
                </a:schemeClr>
              </a:solidFill>
              <a:miter lim="800000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群組 30">
            <a:extLst>
              <a:ext uri="{FF2B5EF4-FFF2-40B4-BE49-F238E27FC236}">
                <a16:creationId xmlns:a16="http://schemas.microsoft.com/office/drawing/2014/main" id="{2F5DFF44-AB3A-0A78-EB2F-7200171D9A87}"/>
              </a:ext>
            </a:extLst>
          </p:cNvPr>
          <p:cNvGrpSpPr/>
          <p:nvPr/>
        </p:nvGrpSpPr>
        <p:grpSpPr>
          <a:xfrm>
            <a:off x="6561523" y="2251971"/>
            <a:ext cx="2204450" cy="694226"/>
            <a:chOff x="7710346" y="2617123"/>
            <a:chExt cx="2204450" cy="694226"/>
          </a:xfrm>
        </p:grpSpPr>
        <p:sp>
          <p:nvSpPr>
            <p:cNvPr id="32" name="文字方塊 31">
              <a:extLst>
                <a:ext uri="{FF2B5EF4-FFF2-40B4-BE49-F238E27FC236}">
                  <a16:creationId xmlns:a16="http://schemas.microsoft.com/office/drawing/2014/main" id="{0776A4A5-29D0-5C1F-38C1-116AE4321B3E}"/>
                </a:ext>
              </a:extLst>
            </p:cNvPr>
            <p:cNvSpPr txBox="1"/>
            <p:nvPr/>
          </p:nvSpPr>
          <p:spPr>
            <a:xfrm>
              <a:off x="7710346" y="2617123"/>
              <a:ext cx="22044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>
                  <a:solidFill>
                    <a:schemeClr val="accent2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tortoise</a:t>
              </a:r>
              <a:r>
                <a:rPr lang="en-US" altLang="zh-TW" dirty="0">
                  <a:solidFill>
                    <a:srgbClr val="0070C0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 </a:t>
              </a:r>
              <a:r>
                <a:rPr lang="en-US" altLang="zh-TW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&amp;</a:t>
              </a:r>
              <a:r>
                <a:rPr lang="en-US" altLang="zh-TW" dirty="0">
                  <a:solidFill>
                    <a:srgbClr val="0070C0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 hare</a:t>
              </a:r>
              <a:endParaRPr lang="zh-TW" altLang="en-US" dirty="0">
                <a:solidFill>
                  <a:srgbClr val="0070C0"/>
                </a:solidFill>
                <a:latin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  <p:cxnSp>
          <p:nvCxnSpPr>
            <p:cNvPr id="33" name="直線單箭頭接點 32">
              <a:extLst>
                <a:ext uri="{FF2B5EF4-FFF2-40B4-BE49-F238E27FC236}">
                  <a16:creationId xmlns:a16="http://schemas.microsoft.com/office/drawing/2014/main" id="{5AB22315-CDBB-AB96-D908-EC74A873D77E}"/>
                </a:ext>
              </a:extLst>
            </p:cNvPr>
            <p:cNvCxnSpPr>
              <a:cxnSpLocks/>
            </p:cNvCxnSpPr>
            <p:nvPr/>
          </p:nvCxnSpPr>
          <p:spPr>
            <a:xfrm>
              <a:off x="8812571" y="2986455"/>
              <a:ext cx="0" cy="324894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6" name="群組 45">
            <a:extLst>
              <a:ext uri="{FF2B5EF4-FFF2-40B4-BE49-F238E27FC236}">
                <a16:creationId xmlns:a16="http://schemas.microsoft.com/office/drawing/2014/main" id="{D09CBD95-CF18-6FD6-58D7-CB0CD47A3254}"/>
              </a:ext>
            </a:extLst>
          </p:cNvPr>
          <p:cNvGrpSpPr/>
          <p:nvPr/>
        </p:nvGrpSpPr>
        <p:grpSpPr>
          <a:xfrm>
            <a:off x="7302110" y="2257817"/>
            <a:ext cx="723275" cy="688380"/>
            <a:chOff x="2850501" y="3002011"/>
            <a:chExt cx="723275" cy="688380"/>
          </a:xfrm>
        </p:grpSpPr>
        <p:sp>
          <p:nvSpPr>
            <p:cNvPr id="44" name="文字方塊 43">
              <a:extLst>
                <a:ext uri="{FF2B5EF4-FFF2-40B4-BE49-F238E27FC236}">
                  <a16:creationId xmlns:a16="http://schemas.microsoft.com/office/drawing/2014/main" id="{07796D4E-AFAC-38DB-A2BB-BFA913C51B7A}"/>
                </a:ext>
              </a:extLst>
            </p:cNvPr>
            <p:cNvSpPr txBox="1"/>
            <p:nvPr/>
          </p:nvSpPr>
          <p:spPr>
            <a:xfrm>
              <a:off x="2850501" y="3002011"/>
              <a:ext cx="72327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>
                  <a:solidFill>
                    <a:srgbClr val="0070C0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hare</a:t>
              </a:r>
              <a:endParaRPr lang="zh-TW" altLang="en-US" dirty="0">
                <a:solidFill>
                  <a:srgbClr val="0070C0"/>
                </a:solidFill>
                <a:latin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  <p:cxnSp>
          <p:nvCxnSpPr>
            <p:cNvPr id="45" name="直線單箭頭接點 44">
              <a:extLst>
                <a:ext uri="{FF2B5EF4-FFF2-40B4-BE49-F238E27FC236}">
                  <a16:creationId xmlns:a16="http://schemas.microsoft.com/office/drawing/2014/main" id="{C4771C20-8DE3-5350-2500-253B6C5481C2}"/>
                </a:ext>
              </a:extLst>
            </p:cNvPr>
            <p:cNvCxnSpPr>
              <a:cxnSpLocks/>
            </p:cNvCxnSpPr>
            <p:nvPr/>
          </p:nvCxnSpPr>
          <p:spPr>
            <a:xfrm>
              <a:off x="3212139" y="3365497"/>
              <a:ext cx="0" cy="324894"/>
            </a:xfrm>
            <a:prstGeom prst="straightConnector1">
              <a:avLst/>
            </a:prstGeom>
            <a:ln w="19050">
              <a:solidFill>
                <a:srgbClr val="0070C0"/>
              </a:solidFill>
              <a:headEnd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" name="群組 47">
            <a:extLst>
              <a:ext uri="{FF2B5EF4-FFF2-40B4-BE49-F238E27FC236}">
                <a16:creationId xmlns:a16="http://schemas.microsoft.com/office/drawing/2014/main" id="{E1E493E7-EC35-B47F-3278-B410555087A7}"/>
              </a:ext>
            </a:extLst>
          </p:cNvPr>
          <p:cNvGrpSpPr/>
          <p:nvPr/>
        </p:nvGrpSpPr>
        <p:grpSpPr>
          <a:xfrm>
            <a:off x="7032805" y="2251971"/>
            <a:ext cx="1261884" cy="694226"/>
            <a:chOff x="8181629" y="2617123"/>
            <a:chExt cx="1261884" cy="694226"/>
          </a:xfrm>
        </p:grpSpPr>
        <p:sp>
          <p:nvSpPr>
            <p:cNvPr id="49" name="文字方塊 48">
              <a:extLst>
                <a:ext uri="{FF2B5EF4-FFF2-40B4-BE49-F238E27FC236}">
                  <a16:creationId xmlns:a16="http://schemas.microsoft.com/office/drawing/2014/main" id="{E9761521-FFFD-D0E0-7275-9D47137FB55D}"/>
                </a:ext>
              </a:extLst>
            </p:cNvPr>
            <p:cNvSpPr txBox="1"/>
            <p:nvPr/>
          </p:nvSpPr>
          <p:spPr>
            <a:xfrm>
              <a:off x="8181629" y="2617123"/>
              <a:ext cx="126188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>
                  <a:solidFill>
                    <a:schemeClr val="accent2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tortoise</a:t>
              </a:r>
              <a:endParaRPr lang="zh-TW" altLang="en-US" dirty="0">
                <a:solidFill>
                  <a:schemeClr val="accent2"/>
                </a:solidFill>
                <a:latin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  <p:cxnSp>
          <p:nvCxnSpPr>
            <p:cNvPr id="50" name="直線單箭頭接點 49">
              <a:extLst>
                <a:ext uri="{FF2B5EF4-FFF2-40B4-BE49-F238E27FC236}">
                  <a16:creationId xmlns:a16="http://schemas.microsoft.com/office/drawing/2014/main" id="{9047241E-95B7-313C-1F43-7FB974F03BF0}"/>
                </a:ext>
              </a:extLst>
            </p:cNvPr>
            <p:cNvCxnSpPr>
              <a:cxnSpLocks/>
            </p:cNvCxnSpPr>
            <p:nvPr/>
          </p:nvCxnSpPr>
          <p:spPr>
            <a:xfrm>
              <a:off x="8812571" y="2986455"/>
              <a:ext cx="0" cy="324894"/>
            </a:xfrm>
            <a:prstGeom prst="straightConnector1">
              <a:avLst/>
            </a:prstGeom>
            <a:ln w="19050">
              <a:solidFill>
                <a:schemeClr val="accent2"/>
              </a:solidFill>
              <a:headEnd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1" name="群組 50">
            <a:extLst>
              <a:ext uri="{FF2B5EF4-FFF2-40B4-BE49-F238E27FC236}">
                <a16:creationId xmlns:a16="http://schemas.microsoft.com/office/drawing/2014/main" id="{973B2C73-B92B-CE4B-DA22-E811940CC659}"/>
              </a:ext>
            </a:extLst>
          </p:cNvPr>
          <p:cNvGrpSpPr/>
          <p:nvPr/>
        </p:nvGrpSpPr>
        <p:grpSpPr>
          <a:xfrm>
            <a:off x="6561523" y="2251971"/>
            <a:ext cx="2204450" cy="694226"/>
            <a:chOff x="7710346" y="2617123"/>
            <a:chExt cx="2204450" cy="694226"/>
          </a:xfrm>
        </p:grpSpPr>
        <p:sp>
          <p:nvSpPr>
            <p:cNvPr id="52" name="文字方塊 51">
              <a:extLst>
                <a:ext uri="{FF2B5EF4-FFF2-40B4-BE49-F238E27FC236}">
                  <a16:creationId xmlns:a16="http://schemas.microsoft.com/office/drawing/2014/main" id="{32EA3FCC-AD1B-F0B2-28DF-7D451BF186AD}"/>
                </a:ext>
              </a:extLst>
            </p:cNvPr>
            <p:cNvSpPr txBox="1"/>
            <p:nvPr/>
          </p:nvSpPr>
          <p:spPr>
            <a:xfrm>
              <a:off x="7710346" y="2617123"/>
              <a:ext cx="22044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>
                  <a:solidFill>
                    <a:schemeClr val="accent2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tortoise</a:t>
              </a:r>
              <a:r>
                <a:rPr lang="en-US" altLang="zh-TW" dirty="0">
                  <a:solidFill>
                    <a:srgbClr val="0070C0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 </a:t>
              </a:r>
              <a:r>
                <a:rPr lang="en-US" altLang="zh-TW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&amp;</a:t>
              </a:r>
              <a:r>
                <a:rPr lang="en-US" altLang="zh-TW" dirty="0">
                  <a:solidFill>
                    <a:srgbClr val="0070C0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 hare</a:t>
              </a:r>
              <a:endParaRPr lang="zh-TW" altLang="en-US" dirty="0">
                <a:solidFill>
                  <a:srgbClr val="0070C0"/>
                </a:solidFill>
                <a:latin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  <p:cxnSp>
          <p:nvCxnSpPr>
            <p:cNvPr id="53" name="直線單箭頭接點 52">
              <a:extLst>
                <a:ext uri="{FF2B5EF4-FFF2-40B4-BE49-F238E27FC236}">
                  <a16:creationId xmlns:a16="http://schemas.microsoft.com/office/drawing/2014/main" id="{89F4B366-765D-3632-85C3-28767AF95A8F}"/>
                </a:ext>
              </a:extLst>
            </p:cNvPr>
            <p:cNvCxnSpPr>
              <a:cxnSpLocks/>
            </p:cNvCxnSpPr>
            <p:nvPr/>
          </p:nvCxnSpPr>
          <p:spPr>
            <a:xfrm>
              <a:off x="8812571" y="2986455"/>
              <a:ext cx="0" cy="324894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57" name="表格 56">
            <a:extLst>
              <a:ext uri="{FF2B5EF4-FFF2-40B4-BE49-F238E27FC236}">
                <a16:creationId xmlns:a16="http://schemas.microsoft.com/office/drawing/2014/main" id="{03ED4CC5-4321-7CEC-8BAF-8C7F6FDC60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9152076"/>
              </p:ext>
            </p:extLst>
          </p:nvPr>
        </p:nvGraphicFramePr>
        <p:xfrm>
          <a:off x="6469627" y="4778703"/>
          <a:ext cx="5392831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92831">
                  <a:extLst>
                    <a:ext uri="{9D8B030D-6E8A-4147-A177-3AD203B41FA5}">
                      <a16:colId xmlns:a16="http://schemas.microsoft.com/office/drawing/2014/main" val="1049483232"/>
                    </a:ext>
                  </a:extLst>
                </a:gridCol>
              </a:tblGrid>
              <a:tr h="365602"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bg1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Result</a:t>
                      </a:r>
                      <a:endParaRPr lang="zh-TW" altLang="en-US" dirty="0">
                        <a:solidFill>
                          <a:schemeClr val="bg1"/>
                        </a:solidFill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2406759"/>
                  </a:ext>
                </a:extLst>
              </a:tr>
              <a:tr h="36560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key: </a:t>
                      </a:r>
                      <a:r>
                        <a:rPr lang="en-US" altLang="zh-TW" dirty="0">
                          <a:solidFill>
                            <a:srgbClr val="00B050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rgbClr val="00B050"/>
                        </a:solidFill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4046559"/>
                  </a:ext>
                </a:extLst>
              </a:tr>
              <a:tr h="365602"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Contains cycle: </a:t>
                      </a:r>
                      <a:r>
                        <a:rPr lang="en-US" altLang="zh-TW" b="0" dirty="0">
                          <a:solidFill>
                            <a:srgbClr val="7030A0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true</a:t>
                      </a:r>
                      <a:endParaRPr lang="zh-TW" altLang="en-US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3911669"/>
                  </a:ext>
                </a:extLst>
              </a:tr>
            </a:tbl>
          </a:graphicData>
        </a:graphic>
      </p:graphicFrame>
      <p:sp>
        <p:nvSpPr>
          <p:cNvPr id="61" name="投影片編號版面配置區 60">
            <a:extLst>
              <a:ext uri="{FF2B5EF4-FFF2-40B4-BE49-F238E27FC236}">
                <a16:creationId xmlns:a16="http://schemas.microsoft.com/office/drawing/2014/main" id="{8B43AD4A-0FCC-CF95-6F35-24F395B86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3C46D-CB0F-4644-9DD9-8F746F034205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42326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375E-6 1.85185E-6 L 0.2513 1.85185E-6 " pathEditMode="relative" rAng="0" ptsTypes="AA">
                                      <p:cBhvr>
                                        <p:cTn id="24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65" y="0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375E-6 4.81481E-6 L 0.12395 4.81481E-6 " pathEditMode="relative" rAng="0" ptsTypes="AA">
                                      <p:cBhvr>
                                        <p:cTn id="26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19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00"/>
                            </p:stCondLst>
                            <p:childTnLst>
                              <p:par>
                                <p:cTn id="28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2395 4.81481E-6 L 0.25143 0.00046 " pathEditMode="relative" rAng="0" ptsTypes="AA">
                                      <p:cBhvr>
                                        <p:cTn id="46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367" y="23"/>
                                    </p:animMotion>
                                  </p:childTnLst>
                                </p:cTn>
                              </p:par>
                              <p:par>
                                <p:cTn id="47" presetID="42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513 1.85185E-6 L 0.2513 0.20972 " pathEditMode="relative" rAng="0" ptsTypes="AA">
                                      <p:cBhvr>
                                        <p:cTn id="4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0486"/>
                                    </p:animMotion>
                                  </p:childTnLst>
                                </p:cTn>
                              </p:par>
                              <p:par>
                                <p:cTn id="49" presetID="50" presetClass="pat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.2513 0.20972 L 0.12565 0.20972 C 0.06953 0.20972 4.375E-6 0.15231 4.375E-6 0.10486 L 4.375E-6 -0.0007 " pathEditMode="relative" rAng="0" ptsTypes="AAAA">
                                      <p:cBhvr>
                                        <p:cTn id="50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565" y="-1053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500"/>
                            </p:stCondLst>
                            <p:childTnLst>
                              <p:par>
                                <p:cTn id="52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375E-6 1.85185E-6 L 0.12396 -0.00047 " pathEditMode="relative" rAng="0" ptsTypes="AA">
                                      <p:cBhvr>
                                        <p:cTn id="5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458" y="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2000"/>
                            </p:stCondLst>
                            <p:childTnLst>
                              <p:par>
                                <p:cTn id="55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2396 -0.00046 L 0.2513 1.85185E-6 " pathEditMode="relative" rAng="0" ptsTypes="AA">
                                      <p:cBhvr>
                                        <p:cTn id="7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107" y="0"/>
                                    </p:animMotion>
                                  </p:childTnLst>
                                </p:cTn>
                              </p:par>
                              <p:par>
                                <p:cTn id="74" presetID="42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513 0.00046 L 0.2513 0.21018 " pathEditMode="relative" rAng="0" ptsTypes="AA">
                                      <p:cBhvr>
                                        <p:cTn id="75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048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000"/>
                            </p:stCondLst>
                            <p:childTnLst>
                              <p:par>
                                <p:cTn id="77" presetID="42" presetClass="pat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5131 -4.81481E-6 L 0.2513 0.20972 " pathEditMode="relative" rAng="0" ptsTypes="AA">
                                      <p:cBhvr>
                                        <p:cTn id="7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" y="10579"/>
                                    </p:animMotion>
                                  </p:childTnLst>
                                </p:cTn>
                              </p:par>
                              <p:par>
                                <p:cTn id="79" presetID="5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513 0.21018 L 0.12513 0.21018 C 0.06901 0.21018 0.00013 0.15138 0.00013 0.10486 L 0.00013 0.00069 " pathEditMode="relative" rAng="0" ptsTypes="AAAA">
                                      <p:cBhvr>
                                        <p:cTn id="80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565" y="-10486"/>
                                    </p:animMotion>
                                  </p:childTnLst>
                                </p:cTn>
                              </p:par>
                              <p:par>
                                <p:cTn id="81" presetID="50" presetClass="pat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.2513 0.20972 L 0.12539 0.20972 C 0.06914 0.20972 0.00013 0.15185 0.00013 0.10532 L 0.00013 0.00069 " pathEditMode="relative" rAng="0" ptsTypes="AAAA">
                                      <p:cBhvr>
                                        <p:cTn id="8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565" y="-1046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2000"/>
                            </p:stCondLst>
                            <p:childTnLst>
                              <p:par>
                                <p:cTn id="84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2000"/>
                            </p:stCondLst>
                            <p:childTnLst>
                              <p:par>
                                <p:cTn id="91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3CA723CC-3DA0-40BD-0CF6-2684C47597B7}"/>
              </a:ext>
            </a:extLst>
          </p:cNvPr>
          <p:cNvSpPr/>
          <p:nvPr/>
        </p:nvSpPr>
        <p:spPr>
          <a:xfrm>
            <a:off x="2133600" y="3237271"/>
            <a:ext cx="1435510" cy="29251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3ED76CF-CBD4-4919-DEAF-4D066BFC5321}"/>
              </a:ext>
            </a:extLst>
          </p:cNvPr>
          <p:cNvSpPr/>
          <p:nvPr/>
        </p:nvSpPr>
        <p:spPr>
          <a:xfrm>
            <a:off x="2133600" y="3624954"/>
            <a:ext cx="2399071" cy="29251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96B44DA6-495E-DBFC-C2E1-4116E78F1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Test Your Assessment</a:t>
            </a:r>
            <a:endParaRPr lang="zh-TW" altLang="en-US" b="1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F202F55-C911-702E-7C6D-1AFC629EB9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altLang="zh-TW" dirty="0"/>
              <a:t>Please use </a:t>
            </a:r>
            <a:r>
              <a:rPr lang="en-US" altLang="zh-TW" b="1" dirty="0"/>
              <a:t>local-judge</a:t>
            </a:r>
            <a:r>
              <a:rPr lang="en-US" altLang="zh-TW" dirty="0"/>
              <a:t> according to the </a:t>
            </a:r>
            <a:r>
              <a:rPr lang="en-US" altLang="zh-TW" b="1" dirty="0"/>
              <a:t>HW0</a:t>
            </a:r>
            <a:r>
              <a:rPr lang="en-US" altLang="zh-TW" dirty="0"/>
              <a:t> instructions to test your program.</a:t>
            </a:r>
          </a:p>
          <a:p>
            <a:pPr fontAlgn="base"/>
            <a:r>
              <a:rPr lang="en-US" altLang="zh-TW" dirty="0"/>
              <a:t>You have two ways to run tests:  </a:t>
            </a:r>
          </a:p>
          <a:p>
            <a:pPr lvl="1" fontAlgn="base"/>
            <a:r>
              <a:rPr lang="en-US" altLang="zh-TW" dirty="0"/>
              <a:t>Use make judge to test all problems.  </a:t>
            </a:r>
          </a:p>
          <a:p>
            <a:pPr lvl="1"/>
            <a:r>
              <a:rPr lang="en-US" altLang="zh-TW" dirty="0"/>
              <a:t>Use judge -c </a:t>
            </a:r>
            <a:r>
              <a:rPr lang="en-US" altLang="zh-TW" dirty="0" err="1"/>
              <a:t>judge.conf</a:t>
            </a:r>
            <a:r>
              <a:rPr lang="en-US" altLang="zh-TW" dirty="0"/>
              <a:t> to test a specific problem.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4CED3F6-ADB6-1D98-9AA4-38662A45B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3C46D-CB0F-4644-9DD9-8F746F034205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149382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430654C0-6ADB-1510-9324-E2F819F107E2}"/>
              </a:ext>
            </a:extLst>
          </p:cNvPr>
          <p:cNvSpPr/>
          <p:nvPr/>
        </p:nvSpPr>
        <p:spPr>
          <a:xfrm>
            <a:off x="929640" y="716280"/>
            <a:ext cx="3086100" cy="59436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DECF841F-60CC-7F46-ABBA-D358DC4723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Consolas" panose="020B06090202040302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make judge</a:t>
            </a:r>
            <a:endParaRPr lang="zh-TW" altLang="en-US" dirty="0">
              <a:latin typeface="Consolas" panose="020B0609020204030204" pitchFamily="49" charset="0"/>
              <a:cs typeface="Cascadia Mono" panose="020B0609020000020004" pitchFamily="49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6B2D24E-A8F6-7D29-A9AC-8A86A4306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909060" cy="4351338"/>
          </a:xfrm>
        </p:spPr>
        <p:txBody>
          <a:bodyPr/>
          <a:lstStyle/>
          <a:p>
            <a:r>
              <a:rPr lang="en-US" altLang="zh-TW" dirty="0"/>
              <a:t>Test all exercises and all public testcases.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FF893D6-102A-543D-5982-9E7605A5C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3C46D-CB0F-4644-9DD9-8F746F034205}" type="slidenum">
              <a:rPr lang="zh-TW" altLang="en-US" smtClean="0"/>
              <a:t>18</a:t>
            </a:fld>
            <a:endParaRPr lang="zh-TW" altLang="en-US"/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CB791C3C-8DF4-714D-3B82-FAB21B0B445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3211" b="15112"/>
          <a:stretch>
            <a:fillRect/>
          </a:stretch>
        </p:blipFill>
        <p:spPr>
          <a:xfrm>
            <a:off x="5996940" y="710101"/>
            <a:ext cx="5356860" cy="5466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25398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7C32ACDA-5493-A17A-0345-6E7E2A40BDD8}"/>
              </a:ext>
            </a:extLst>
          </p:cNvPr>
          <p:cNvSpPr/>
          <p:nvPr/>
        </p:nvSpPr>
        <p:spPr>
          <a:xfrm>
            <a:off x="1844040" y="2377440"/>
            <a:ext cx="754380" cy="36576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BB4EF3D-DA84-A446-F207-ECDD4ACB18AF}"/>
              </a:ext>
            </a:extLst>
          </p:cNvPr>
          <p:cNvSpPr/>
          <p:nvPr/>
        </p:nvSpPr>
        <p:spPr>
          <a:xfrm>
            <a:off x="929640" y="716280"/>
            <a:ext cx="8001000" cy="59436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8317E6DA-F4C4-73B1-2B2E-246341197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Consolas" panose="020B0609020204030204" pitchFamily="49" charset="0"/>
              </a:rPr>
              <a:t>judge –c </a:t>
            </a:r>
            <a:r>
              <a:rPr lang="en-US" altLang="zh-TW" dirty="0" err="1">
                <a:latin typeface="Consolas" panose="020B0609020204030204" pitchFamily="49" charset="0"/>
              </a:rPr>
              <a:t>judge</a:t>
            </a:r>
            <a:r>
              <a:rPr lang="en-US" altLang="zh-TW" dirty="0" err="1">
                <a:solidFill>
                  <a:srgbClr val="00B0F0"/>
                </a:solidFill>
                <a:latin typeface="Consolas" panose="020B0609020204030204" pitchFamily="49" charset="0"/>
              </a:rPr>
              <a:t>$i</a:t>
            </a:r>
            <a:r>
              <a:rPr lang="en-US" altLang="zh-TW" dirty="0" err="1">
                <a:latin typeface="Consolas" panose="020B0609020204030204" pitchFamily="49" charset="0"/>
              </a:rPr>
              <a:t>.conf</a:t>
            </a:r>
            <a:r>
              <a:rPr lang="en-US" altLang="zh-TW" dirty="0">
                <a:latin typeface="Consolas" panose="020B0609020204030204" pitchFamily="49" charset="0"/>
              </a:rPr>
              <a:t> –v 1</a:t>
            </a:r>
            <a:endParaRPr lang="zh-TW" altLang="en-US" dirty="0">
              <a:latin typeface="Consolas" panose="020B0609020204030204" pitchFamily="49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B9F0091-6652-B5DE-598E-F17539175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3C46D-CB0F-4644-9DD9-8F746F034205}" type="slidenum">
              <a:rPr lang="zh-TW" altLang="en-US" smtClean="0"/>
              <a:t>19</a:t>
            </a:fld>
            <a:endParaRPr lang="zh-TW" altLang="en-US"/>
          </a:p>
        </p:txBody>
      </p:sp>
      <p:sp>
        <p:nvSpPr>
          <p:cNvPr id="8" name="內容版面配置區 7">
            <a:extLst>
              <a:ext uri="{FF2B5EF4-FFF2-40B4-BE49-F238E27FC236}">
                <a16:creationId xmlns:a16="http://schemas.microsoft.com/office/drawing/2014/main" id="{43EB2B3F-D60F-41B3-5266-E1BB84DA2A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4198619" cy="4351338"/>
          </a:xfrm>
        </p:spPr>
        <p:txBody>
          <a:bodyPr/>
          <a:lstStyle/>
          <a:p>
            <a:pPr fontAlgn="base"/>
            <a:r>
              <a:rPr lang="en-US" altLang="zh-TW" dirty="0"/>
              <a:t>Test a specific problem.</a:t>
            </a:r>
          </a:p>
          <a:p>
            <a:r>
              <a:rPr lang="en-US" altLang="zh-TW" dirty="0"/>
              <a:t>Add </a:t>
            </a:r>
            <a:r>
              <a:rPr lang="en-US" altLang="zh-TW" dirty="0">
                <a:latin typeface="Consolas" panose="020B0609020204030204" pitchFamily="49" charset="0"/>
              </a:rPr>
              <a:t>-v 1</a:t>
            </a:r>
            <a:r>
              <a:rPr lang="en-US" altLang="zh-TW" dirty="0"/>
              <a:t> to the command if you need more information.</a:t>
            </a:r>
            <a:endParaRPr lang="zh-TW" altLang="en-US" dirty="0"/>
          </a:p>
        </p:txBody>
      </p:sp>
      <p:pic>
        <p:nvPicPr>
          <p:cNvPr id="9" name="內容版面配置區 5">
            <a:extLst>
              <a:ext uri="{FF2B5EF4-FFF2-40B4-BE49-F238E27FC236}">
                <a16:creationId xmlns:a16="http://schemas.microsoft.com/office/drawing/2014/main" id="{9D7D8A65-ED34-9575-D52D-50325DD38A8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" t="1" r="49660" b="37427"/>
          <a:stretch>
            <a:fillRect/>
          </a:stretch>
        </p:blipFill>
        <p:spPr>
          <a:xfrm>
            <a:off x="5130415" y="1825625"/>
            <a:ext cx="622338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59578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8E8123A-1D77-E85B-AFC0-F162CE410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Scoring Criteria</a:t>
            </a:r>
            <a:endParaRPr lang="zh-TW" altLang="en-US" b="1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5D183D0-5439-68B2-2BA4-FFC4AC60A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3C46D-CB0F-4644-9DD9-8F746F034205}" type="slidenum">
              <a:rPr lang="zh-TW" altLang="en-US" smtClean="0"/>
              <a:t>20</a:t>
            </a:fld>
            <a:endParaRPr lang="zh-TW" altLang="en-US"/>
          </a:p>
        </p:txBody>
      </p:sp>
      <p:sp>
        <p:nvSpPr>
          <p:cNvPr id="5" name="內容版面配置區 2">
            <a:extLst>
              <a:ext uri="{FF2B5EF4-FFF2-40B4-BE49-F238E27FC236}">
                <a16:creationId xmlns:a16="http://schemas.microsoft.com/office/drawing/2014/main" id="{6661759A-7887-FD67-5C27-F0F3477300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lnSpcReduction="10000"/>
          </a:bodyPr>
          <a:lstStyle/>
          <a:p>
            <a:pPr fontAlgn="base"/>
            <a:r>
              <a:rPr lang="en-US" altLang="zh-TW" dirty="0"/>
              <a:t>Total score: 100 points</a:t>
            </a:r>
          </a:p>
          <a:p>
            <a:pPr fontAlgn="base"/>
            <a:r>
              <a:rPr lang="en-US" altLang="zh-TW" dirty="0"/>
              <a:t>Problem 1: Insertion Sort, 30%</a:t>
            </a:r>
          </a:p>
          <a:p>
            <a:pPr lvl="1" fontAlgn="base"/>
            <a:r>
              <a:rPr lang="en-US" altLang="zh-TW" dirty="0"/>
              <a:t>2 public testcases (20%)</a:t>
            </a:r>
          </a:p>
          <a:p>
            <a:pPr lvl="1" fontAlgn="base"/>
            <a:r>
              <a:rPr lang="en-US" altLang="zh-TW" b="1" dirty="0"/>
              <a:t>2 hidden testcases (10%)</a:t>
            </a:r>
          </a:p>
          <a:p>
            <a:pPr fontAlgn="base"/>
            <a:r>
              <a:rPr lang="en-US" altLang="zh-TW" dirty="0"/>
              <a:t>Problem 2: Binary Search, 30%</a:t>
            </a:r>
          </a:p>
          <a:p>
            <a:pPr lvl="1" fontAlgn="base"/>
            <a:r>
              <a:rPr lang="en-US" altLang="zh-TW" dirty="0"/>
              <a:t>2 public testcases (20%)</a:t>
            </a:r>
          </a:p>
          <a:p>
            <a:pPr lvl="1" fontAlgn="base"/>
            <a:r>
              <a:rPr lang="en-US" altLang="zh-TW" b="1" dirty="0"/>
              <a:t>2 hidden testcases (10%)</a:t>
            </a:r>
          </a:p>
          <a:p>
            <a:pPr fontAlgn="base"/>
            <a:r>
              <a:rPr lang="en-US" altLang="zh-TW" dirty="0"/>
              <a:t>Problem 3: The Tortoise and the Hare, 40%</a:t>
            </a:r>
          </a:p>
          <a:p>
            <a:pPr lvl="1" fontAlgn="base"/>
            <a:r>
              <a:rPr lang="en-US" altLang="zh-TW" dirty="0"/>
              <a:t>2 public testcases (20%)</a:t>
            </a:r>
          </a:p>
          <a:p>
            <a:pPr lvl="1" fontAlgn="base"/>
            <a:r>
              <a:rPr lang="en-US" altLang="zh-TW" b="1" dirty="0"/>
              <a:t>4 hidden testcases (20%)</a:t>
            </a:r>
          </a:p>
        </p:txBody>
      </p:sp>
    </p:spTree>
    <p:extLst>
      <p:ext uri="{BB962C8B-B14F-4D97-AF65-F5344CB8AC3E}">
        <p14:creationId xmlns:p14="http://schemas.microsoft.com/office/powerpoint/2010/main" val="40176801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FEF7F45-EDA7-00F3-EFCC-3008C27F7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Important</a:t>
            </a:r>
            <a:r>
              <a:rPr lang="zh-TW" altLang="en-US" b="1" dirty="0"/>
              <a:t> </a:t>
            </a:r>
            <a:r>
              <a:rPr lang="en-US" altLang="zh-TW" b="1" dirty="0"/>
              <a:t>Notes</a:t>
            </a:r>
            <a:endParaRPr lang="zh-TW" altLang="en-US" b="1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ED5856B-CB23-DD53-C1EE-759D5EF375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sz="2400" dirty="0"/>
              <a:t>The computers in the exam environment will use </a:t>
            </a:r>
            <a:r>
              <a:rPr lang="en-US" altLang="zh-TW" sz="2400" b="1" dirty="0"/>
              <a:t>Ubuntu</a:t>
            </a:r>
            <a:r>
              <a:rPr lang="en-US" altLang="zh-TW" sz="2400" dirty="0"/>
              <a:t>. We will provide </a:t>
            </a:r>
            <a:r>
              <a:rPr lang="en-US" altLang="zh-TW" sz="2400" b="1" dirty="0" err="1"/>
              <a:t>VSCode</a:t>
            </a:r>
            <a:r>
              <a:rPr lang="en-US" altLang="zh-TW" sz="2400" dirty="0"/>
              <a:t> for students to use, the </a:t>
            </a:r>
            <a:r>
              <a:rPr lang="en-US" altLang="zh-TW" sz="2400" b="1" dirty="0"/>
              <a:t>container</a:t>
            </a:r>
            <a:r>
              <a:rPr lang="en-US" altLang="zh-TW" sz="2400" dirty="0"/>
              <a:t> will be pre-loaded, and no additional extensions will be installed.</a:t>
            </a:r>
          </a:p>
          <a:p>
            <a:r>
              <a:rPr lang="en-US" altLang="zh-TW" sz="2400" dirty="0"/>
              <a:t>During the computer-based exam:</a:t>
            </a:r>
          </a:p>
          <a:p>
            <a:pPr lvl="1"/>
            <a:r>
              <a:rPr lang="en-US" altLang="zh-TW" dirty="0"/>
              <a:t>No entry is allowed </a:t>
            </a:r>
            <a:r>
              <a:rPr lang="en-US" altLang="zh-TW" b="1" dirty="0"/>
              <a:t>15 minutes</a:t>
            </a:r>
            <a:r>
              <a:rPr lang="en-US" altLang="zh-TW" dirty="0"/>
              <a:t> after the Quiz1 and PA1 begins.</a:t>
            </a:r>
          </a:p>
          <a:p>
            <a:pPr lvl="1"/>
            <a:r>
              <a:rPr lang="en-US" altLang="zh-TW" dirty="0"/>
              <a:t>The network need to be completely disconnected.</a:t>
            </a:r>
          </a:p>
          <a:p>
            <a:pPr lvl="1"/>
            <a:r>
              <a:rPr lang="en-US" altLang="zh-TW" dirty="0"/>
              <a:t>You may only access the NCKU Moodle while uploading your submission.</a:t>
            </a:r>
          </a:p>
          <a:p>
            <a:pPr lvl="1"/>
            <a:r>
              <a:rPr lang="en-US" altLang="zh-TW" sz="2400" dirty="0"/>
              <a:t>The use of USB/external devices, cheat sheets, paper notes, or any AI tools is strictly prohibited.</a:t>
            </a:r>
          </a:p>
          <a:p>
            <a:pPr lvl="1"/>
            <a:r>
              <a:rPr lang="en-US" altLang="zh-TW" sz="2400" dirty="0">
                <a:solidFill>
                  <a:srgbClr val="FF0000"/>
                </a:solidFill>
              </a:rPr>
              <a:t>Violations of the above rules will be regarded as cheating, and the exam score will be recorded as </a:t>
            </a:r>
            <a:r>
              <a:rPr lang="en-US" altLang="zh-TW" sz="2400" b="1" u="sng" dirty="0">
                <a:solidFill>
                  <a:srgbClr val="FF0000"/>
                </a:solidFill>
              </a:rPr>
              <a:t>0</a:t>
            </a:r>
            <a:r>
              <a:rPr lang="en-US" altLang="zh-TW" sz="2400" dirty="0">
                <a:solidFill>
                  <a:srgbClr val="FF0000"/>
                </a:solidFill>
              </a:rPr>
              <a:t>.</a:t>
            </a:r>
          </a:p>
          <a:p>
            <a:pPr lvl="1"/>
            <a:r>
              <a:rPr lang="en-US" altLang="zh-TW" sz="2400" dirty="0"/>
              <a:t>There will be </a:t>
            </a:r>
            <a:r>
              <a:rPr lang="en-US" altLang="zh-TW" sz="2400"/>
              <a:t>no hint </a:t>
            </a:r>
            <a:r>
              <a:rPr lang="en-US" altLang="zh-TW" sz="2400" dirty="0"/>
              <a:t>provided during the exam.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35F6B32-DDED-2219-D81B-1DB7EDA70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3C46D-CB0F-4644-9DD9-8F746F034205}" type="slidenum">
              <a:rPr lang="zh-TW" altLang="en-US" smtClean="0"/>
              <a:t>21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7970802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>
            <a:extLst>
              <a:ext uri="{FF2B5EF4-FFF2-40B4-BE49-F238E27FC236}">
                <a16:creationId xmlns:a16="http://schemas.microsoft.com/office/drawing/2014/main" id="{A842FA65-9ADB-CA39-2DCD-9C0223A2AF81}"/>
              </a:ext>
            </a:extLst>
          </p:cNvPr>
          <p:cNvSpPr/>
          <p:nvPr/>
        </p:nvSpPr>
        <p:spPr>
          <a:xfrm>
            <a:off x="2764354" y="1884381"/>
            <a:ext cx="3728809" cy="26709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57061CA5-CD3F-BEA3-478D-2B963E69F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Contact Information</a:t>
            </a:r>
            <a:endParaRPr lang="zh-TW" altLang="en-US" b="1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2333E19-7257-F3D1-1EDD-0608598D2A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400" dirty="0"/>
              <a:t>Please email asrlab@mail.csie.ncku.edu.tw with any assessment issue or grading question before </a:t>
            </a:r>
            <a:r>
              <a:rPr lang="en-US" altLang="zh-TW" sz="2400" b="1" dirty="0"/>
              <a:t>12:00PM on March 24, 2026</a:t>
            </a:r>
            <a:r>
              <a:rPr lang="en-US" altLang="zh-TW" sz="2400" dirty="0"/>
              <a:t>, email subject starts with [Comp2026].</a:t>
            </a:r>
          </a:p>
          <a:p>
            <a:r>
              <a:rPr lang="en-US" altLang="zh-TW" sz="2400" dirty="0"/>
              <a:t>Office Hours: Wednesdays 11:30–13:00, Room 65704, </a:t>
            </a:r>
            <a:r>
              <a:rPr lang="en-US" altLang="zh-TW" sz="2400" dirty="0" err="1"/>
              <a:t>ASRLab</a:t>
            </a:r>
            <a:r>
              <a:rPr lang="en-US" altLang="zh-TW" sz="2400" dirty="0"/>
              <a:t>.</a:t>
            </a:r>
            <a:endParaRPr lang="zh-TW" altLang="en-US" sz="24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535D262-F830-8E3B-E413-D667E02E3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3C46D-CB0F-4644-9DD9-8F746F034205}" type="slidenum">
              <a:rPr lang="zh-TW" altLang="en-US" smtClean="0"/>
              <a:t>22</a:t>
            </a:fld>
            <a:endParaRPr lang="zh-TW" altLang="en-US"/>
          </a:p>
        </p:txBody>
      </p:sp>
      <p:grpSp>
        <p:nvGrpSpPr>
          <p:cNvPr id="23" name="群組 22">
            <a:extLst>
              <a:ext uri="{FF2B5EF4-FFF2-40B4-BE49-F238E27FC236}">
                <a16:creationId xmlns:a16="http://schemas.microsoft.com/office/drawing/2014/main" id="{94820829-4F3B-BA10-69EA-66B65F3A0363}"/>
              </a:ext>
            </a:extLst>
          </p:cNvPr>
          <p:cNvGrpSpPr/>
          <p:nvPr/>
        </p:nvGrpSpPr>
        <p:grpSpPr>
          <a:xfrm>
            <a:off x="838200" y="4001294"/>
            <a:ext cx="10504708" cy="1645750"/>
            <a:chOff x="838200" y="4962676"/>
            <a:chExt cx="10504708" cy="1645750"/>
          </a:xfrm>
        </p:grpSpPr>
        <p:cxnSp>
          <p:nvCxnSpPr>
            <p:cNvPr id="26" name="直線接點 25">
              <a:extLst>
                <a:ext uri="{FF2B5EF4-FFF2-40B4-BE49-F238E27FC236}">
                  <a16:creationId xmlns:a16="http://schemas.microsoft.com/office/drawing/2014/main" id="{D95C2F1B-3C47-A369-10BA-B52A34CDAF2F}"/>
                </a:ext>
              </a:extLst>
            </p:cNvPr>
            <p:cNvCxnSpPr>
              <a:cxnSpLocks/>
            </p:cNvCxnSpPr>
            <p:nvPr/>
          </p:nvCxnSpPr>
          <p:spPr>
            <a:xfrm>
              <a:off x="980020" y="5355409"/>
              <a:ext cx="0" cy="777263"/>
            </a:xfrm>
            <a:prstGeom prst="line">
              <a:avLst/>
            </a:prstGeom>
            <a:ln w="19050" cap="rnd">
              <a:solidFill>
                <a:srgbClr val="FFD54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線接點 32">
              <a:extLst>
                <a:ext uri="{FF2B5EF4-FFF2-40B4-BE49-F238E27FC236}">
                  <a16:creationId xmlns:a16="http://schemas.microsoft.com/office/drawing/2014/main" id="{2A356031-C57E-8DB9-C992-5CB2CF23364D}"/>
                </a:ext>
              </a:extLst>
            </p:cNvPr>
            <p:cNvCxnSpPr>
              <a:cxnSpLocks/>
            </p:cNvCxnSpPr>
            <p:nvPr/>
          </p:nvCxnSpPr>
          <p:spPr>
            <a:xfrm>
              <a:off x="5015820" y="5355409"/>
              <a:ext cx="0" cy="777263"/>
            </a:xfrm>
            <a:prstGeom prst="line">
              <a:avLst/>
            </a:prstGeom>
            <a:ln w="19050" cap="rnd">
              <a:solidFill>
                <a:srgbClr val="FFD54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矩形: 圓角 4">
              <a:extLst>
                <a:ext uri="{FF2B5EF4-FFF2-40B4-BE49-F238E27FC236}">
                  <a16:creationId xmlns:a16="http://schemas.microsoft.com/office/drawing/2014/main" id="{32FDCED2-E619-1E55-248D-26C70A53C967}"/>
                </a:ext>
              </a:extLst>
            </p:cNvPr>
            <p:cNvSpPr/>
            <p:nvPr/>
          </p:nvSpPr>
          <p:spPr>
            <a:xfrm>
              <a:off x="838200" y="5590261"/>
              <a:ext cx="4326213" cy="277830"/>
            </a:xfrm>
            <a:prstGeom prst="roundRect">
              <a:avLst>
                <a:gd name="adj" fmla="val 50000"/>
              </a:avLst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grpSp>
          <p:nvGrpSpPr>
            <p:cNvPr id="9" name="群組 8">
              <a:extLst>
                <a:ext uri="{FF2B5EF4-FFF2-40B4-BE49-F238E27FC236}">
                  <a16:creationId xmlns:a16="http://schemas.microsoft.com/office/drawing/2014/main" id="{9309BB48-5BBF-AD5B-08E1-9C94C214D99D}"/>
                </a:ext>
              </a:extLst>
            </p:cNvPr>
            <p:cNvGrpSpPr/>
            <p:nvPr/>
          </p:nvGrpSpPr>
          <p:grpSpPr>
            <a:xfrm>
              <a:off x="879819" y="5628297"/>
              <a:ext cx="201758" cy="201758"/>
              <a:chOff x="1722543" y="4976495"/>
              <a:chExt cx="135890" cy="135890"/>
            </a:xfrm>
          </p:grpSpPr>
          <p:sp>
            <p:nvSpPr>
              <p:cNvPr id="8" name="橢圓 7">
                <a:extLst>
                  <a:ext uri="{FF2B5EF4-FFF2-40B4-BE49-F238E27FC236}">
                    <a16:creationId xmlns:a16="http://schemas.microsoft.com/office/drawing/2014/main" id="{9A36913A-B6C9-CCC6-B9BC-5BE06ABCBC58}"/>
                  </a:ext>
                </a:extLst>
              </p:cNvPr>
              <p:cNvSpPr/>
              <p:nvPr/>
            </p:nvSpPr>
            <p:spPr>
              <a:xfrm>
                <a:off x="1722543" y="4976495"/>
                <a:ext cx="135890" cy="135890"/>
              </a:xfrm>
              <a:prstGeom prst="ellipse">
                <a:avLst/>
              </a:prstGeom>
              <a:solidFill>
                <a:srgbClr val="FFD54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sp>
            <p:nvSpPr>
              <p:cNvPr id="7" name="橢圓 6">
                <a:extLst>
                  <a:ext uri="{FF2B5EF4-FFF2-40B4-BE49-F238E27FC236}">
                    <a16:creationId xmlns:a16="http://schemas.microsoft.com/office/drawing/2014/main" id="{117D5D11-2E7B-3D9B-E22D-282F19C74E31}"/>
                  </a:ext>
                </a:extLst>
              </p:cNvPr>
              <p:cNvSpPr/>
              <p:nvPr/>
            </p:nvSpPr>
            <p:spPr>
              <a:xfrm>
                <a:off x="1750773" y="5004725"/>
                <a:ext cx="79430" cy="7943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</p:grpSp>
        <p:grpSp>
          <p:nvGrpSpPr>
            <p:cNvPr id="19" name="群組 18">
              <a:extLst>
                <a:ext uri="{FF2B5EF4-FFF2-40B4-BE49-F238E27FC236}">
                  <a16:creationId xmlns:a16="http://schemas.microsoft.com/office/drawing/2014/main" id="{8C9BE674-EC8A-4A22-C2B5-02C4194B8005}"/>
                </a:ext>
              </a:extLst>
            </p:cNvPr>
            <p:cNvGrpSpPr/>
            <p:nvPr/>
          </p:nvGrpSpPr>
          <p:grpSpPr>
            <a:xfrm>
              <a:off x="4915899" y="5628297"/>
              <a:ext cx="201758" cy="201758"/>
              <a:chOff x="1722543" y="4976495"/>
              <a:chExt cx="135890" cy="135890"/>
            </a:xfrm>
          </p:grpSpPr>
          <p:sp>
            <p:nvSpPr>
              <p:cNvPr id="20" name="橢圓 19">
                <a:extLst>
                  <a:ext uri="{FF2B5EF4-FFF2-40B4-BE49-F238E27FC236}">
                    <a16:creationId xmlns:a16="http://schemas.microsoft.com/office/drawing/2014/main" id="{0B1B4C7F-7ADE-E0B3-476D-AF0ABCCA6D11}"/>
                  </a:ext>
                </a:extLst>
              </p:cNvPr>
              <p:cNvSpPr/>
              <p:nvPr/>
            </p:nvSpPr>
            <p:spPr>
              <a:xfrm>
                <a:off x="1722543" y="4976495"/>
                <a:ext cx="135890" cy="135890"/>
              </a:xfrm>
              <a:prstGeom prst="ellipse">
                <a:avLst/>
              </a:prstGeom>
              <a:solidFill>
                <a:srgbClr val="FFD54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sp>
            <p:nvSpPr>
              <p:cNvPr id="21" name="橢圓 20">
                <a:extLst>
                  <a:ext uri="{FF2B5EF4-FFF2-40B4-BE49-F238E27FC236}">
                    <a16:creationId xmlns:a16="http://schemas.microsoft.com/office/drawing/2014/main" id="{B09AAE4A-DA22-BD3B-AF4F-C5471617342F}"/>
                  </a:ext>
                </a:extLst>
              </p:cNvPr>
              <p:cNvSpPr/>
              <p:nvPr/>
            </p:nvSpPr>
            <p:spPr>
              <a:xfrm>
                <a:off x="1750773" y="5004725"/>
                <a:ext cx="79430" cy="7943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</p:grpSp>
        <p:sp>
          <p:nvSpPr>
            <p:cNvPr id="6" name="矩形: 圓角 5">
              <a:extLst>
                <a:ext uri="{FF2B5EF4-FFF2-40B4-BE49-F238E27FC236}">
                  <a16:creationId xmlns:a16="http://schemas.microsoft.com/office/drawing/2014/main" id="{825A2735-F7F8-B9C3-1A79-7C72555425FB}"/>
                </a:ext>
              </a:extLst>
            </p:cNvPr>
            <p:cNvSpPr/>
            <p:nvPr/>
          </p:nvSpPr>
          <p:spPr>
            <a:xfrm>
              <a:off x="5264331" y="5590261"/>
              <a:ext cx="3220905" cy="277830"/>
            </a:xfrm>
            <a:prstGeom prst="roundRect">
              <a:avLst>
                <a:gd name="adj" fmla="val 50000"/>
              </a:avLst>
            </a:prstGeom>
            <a:solidFill>
              <a:srgbClr val="FFE5E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41" name="橢圓 40">
              <a:extLst>
                <a:ext uri="{FF2B5EF4-FFF2-40B4-BE49-F238E27FC236}">
                  <a16:creationId xmlns:a16="http://schemas.microsoft.com/office/drawing/2014/main" id="{3E3BD506-869E-AEC0-EF46-FB4D65E0803D}"/>
                </a:ext>
              </a:extLst>
            </p:cNvPr>
            <p:cNvSpPr/>
            <p:nvPr/>
          </p:nvSpPr>
          <p:spPr>
            <a:xfrm>
              <a:off x="921731" y="6187245"/>
              <a:ext cx="119846" cy="119846"/>
            </a:xfrm>
            <a:prstGeom prst="ellipse">
              <a:avLst/>
            </a:prstGeom>
            <a:solidFill>
              <a:srgbClr val="FFD54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b="1" dirty="0"/>
            </a:p>
          </p:txBody>
        </p:sp>
        <p:sp>
          <p:nvSpPr>
            <p:cNvPr id="46" name="橢圓 45">
              <a:extLst>
                <a:ext uri="{FF2B5EF4-FFF2-40B4-BE49-F238E27FC236}">
                  <a16:creationId xmlns:a16="http://schemas.microsoft.com/office/drawing/2014/main" id="{9CB438B2-E2D8-6361-48ED-3B8CD4243E2E}"/>
                </a:ext>
              </a:extLst>
            </p:cNvPr>
            <p:cNvSpPr/>
            <p:nvPr/>
          </p:nvSpPr>
          <p:spPr>
            <a:xfrm>
              <a:off x="921731" y="5177111"/>
              <a:ext cx="119846" cy="119846"/>
            </a:xfrm>
            <a:prstGeom prst="ellipse">
              <a:avLst/>
            </a:prstGeom>
            <a:solidFill>
              <a:srgbClr val="FFD54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47" name="橢圓 46">
              <a:extLst>
                <a:ext uri="{FF2B5EF4-FFF2-40B4-BE49-F238E27FC236}">
                  <a16:creationId xmlns:a16="http://schemas.microsoft.com/office/drawing/2014/main" id="{67DAA96C-87EE-5945-DF71-F36F11885BE5}"/>
                </a:ext>
              </a:extLst>
            </p:cNvPr>
            <p:cNvSpPr/>
            <p:nvPr/>
          </p:nvSpPr>
          <p:spPr>
            <a:xfrm>
              <a:off x="4955898" y="5177111"/>
              <a:ext cx="119846" cy="119846"/>
            </a:xfrm>
            <a:prstGeom prst="ellipse">
              <a:avLst/>
            </a:prstGeom>
            <a:solidFill>
              <a:srgbClr val="FFD54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48" name="橢圓 47">
              <a:extLst>
                <a:ext uri="{FF2B5EF4-FFF2-40B4-BE49-F238E27FC236}">
                  <a16:creationId xmlns:a16="http://schemas.microsoft.com/office/drawing/2014/main" id="{857DCC47-39CF-30C4-C646-253C9352E79B}"/>
                </a:ext>
              </a:extLst>
            </p:cNvPr>
            <p:cNvSpPr/>
            <p:nvPr/>
          </p:nvSpPr>
          <p:spPr>
            <a:xfrm>
              <a:off x="4955898" y="6187245"/>
              <a:ext cx="119846" cy="119846"/>
            </a:xfrm>
            <a:prstGeom prst="ellipse">
              <a:avLst/>
            </a:prstGeom>
            <a:solidFill>
              <a:srgbClr val="FFD54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b="1" dirty="0"/>
            </a:p>
          </p:txBody>
        </p:sp>
        <p:sp>
          <p:nvSpPr>
            <p:cNvPr id="49" name="文字方塊 48">
              <a:extLst>
                <a:ext uri="{FF2B5EF4-FFF2-40B4-BE49-F238E27FC236}">
                  <a16:creationId xmlns:a16="http://schemas.microsoft.com/office/drawing/2014/main" id="{7EA7EE82-143F-B7DD-7B46-8FB35E50864D}"/>
                </a:ext>
              </a:extLst>
            </p:cNvPr>
            <p:cNvSpPr txBox="1"/>
            <p:nvPr/>
          </p:nvSpPr>
          <p:spPr>
            <a:xfrm>
              <a:off x="1038029" y="4962679"/>
              <a:ext cx="156004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400" b="1" dirty="0"/>
                <a:t>3/19 09:00</a:t>
              </a:r>
              <a:endParaRPr lang="zh-TW" altLang="en-US" sz="2400" b="1" dirty="0"/>
            </a:p>
          </p:txBody>
        </p:sp>
        <p:sp>
          <p:nvSpPr>
            <p:cNvPr id="50" name="文字方塊 49">
              <a:extLst>
                <a:ext uri="{FF2B5EF4-FFF2-40B4-BE49-F238E27FC236}">
                  <a16:creationId xmlns:a16="http://schemas.microsoft.com/office/drawing/2014/main" id="{3E01BF7B-3401-3884-2459-4AA84DACDE56}"/>
                </a:ext>
              </a:extLst>
            </p:cNvPr>
            <p:cNvSpPr txBox="1"/>
            <p:nvPr/>
          </p:nvSpPr>
          <p:spPr>
            <a:xfrm>
              <a:off x="1037814" y="6085206"/>
              <a:ext cx="139236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400" b="1" dirty="0"/>
                <a:t>Problem release</a:t>
              </a:r>
              <a:endParaRPr lang="zh-TW" altLang="en-US" sz="1400" b="1" dirty="0"/>
            </a:p>
          </p:txBody>
        </p:sp>
        <p:sp>
          <p:nvSpPr>
            <p:cNvPr id="51" name="文字方塊 50">
              <a:extLst>
                <a:ext uri="{FF2B5EF4-FFF2-40B4-BE49-F238E27FC236}">
                  <a16:creationId xmlns:a16="http://schemas.microsoft.com/office/drawing/2014/main" id="{640A1930-2A6A-832D-7ABC-1664DF92C036}"/>
                </a:ext>
              </a:extLst>
            </p:cNvPr>
            <p:cNvSpPr txBox="1"/>
            <p:nvPr/>
          </p:nvSpPr>
          <p:spPr>
            <a:xfrm>
              <a:off x="5073830" y="4962676"/>
              <a:ext cx="251383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400" b="1" dirty="0"/>
                <a:t>3/26 &amp; 3/27 09:00</a:t>
              </a:r>
              <a:endParaRPr lang="zh-TW" altLang="en-US" sz="2400" b="1" dirty="0"/>
            </a:p>
          </p:txBody>
        </p:sp>
        <p:sp>
          <p:nvSpPr>
            <p:cNvPr id="52" name="文字方塊 51">
              <a:extLst>
                <a:ext uri="{FF2B5EF4-FFF2-40B4-BE49-F238E27FC236}">
                  <a16:creationId xmlns:a16="http://schemas.microsoft.com/office/drawing/2014/main" id="{4BB8D250-BDBF-68B2-F776-5A25670B893E}"/>
                </a:ext>
              </a:extLst>
            </p:cNvPr>
            <p:cNvSpPr txBox="1"/>
            <p:nvPr/>
          </p:nvSpPr>
          <p:spPr>
            <a:xfrm>
              <a:off x="5073828" y="6085206"/>
              <a:ext cx="185980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400" b="1" dirty="0"/>
                <a:t>09:00 – 09:30 Quiz1 &amp;</a:t>
              </a:r>
            </a:p>
            <a:p>
              <a:r>
                <a:rPr lang="en-US" altLang="zh-TW" sz="1400" b="1" dirty="0"/>
                <a:t>09:30 – 13:00 PA1</a:t>
              </a:r>
            </a:p>
          </p:txBody>
        </p:sp>
        <p:sp>
          <p:nvSpPr>
            <p:cNvPr id="12" name="矩形: 圓角 11">
              <a:extLst>
                <a:ext uri="{FF2B5EF4-FFF2-40B4-BE49-F238E27FC236}">
                  <a16:creationId xmlns:a16="http://schemas.microsoft.com/office/drawing/2014/main" id="{99F38B0B-D76B-D9A2-1BA7-3B46E3DFD54F}"/>
                </a:ext>
              </a:extLst>
            </p:cNvPr>
            <p:cNvSpPr/>
            <p:nvPr/>
          </p:nvSpPr>
          <p:spPr>
            <a:xfrm>
              <a:off x="8585154" y="5586255"/>
              <a:ext cx="2757754" cy="277830"/>
            </a:xfrm>
            <a:prstGeom prst="roundRect">
              <a:avLst>
                <a:gd name="adj" fmla="val 50000"/>
              </a:avLst>
            </a:prstGeom>
            <a:solidFill>
              <a:srgbClr val="EBDAF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cxnSp>
          <p:nvCxnSpPr>
            <p:cNvPr id="24" name="直線接點 23">
              <a:extLst>
                <a:ext uri="{FF2B5EF4-FFF2-40B4-BE49-F238E27FC236}">
                  <a16:creationId xmlns:a16="http://schemas.microsoft.com/office/drawing/2014/main" id="{65EFAF66-E232-7524-0D97-ED76D0BE3D0C}"/>
                </a:ext>
              </a:extLst>
            </p:cNvPr>
            <p:cNvCxnSpPr>
              <a:cxnSpLocks/>
            </p:cNvCxnSpPr>
            <p:nvPr/>
          </p:nvCxnSpPr>
          <p:spPr>
            <a:xfrm>
              <a:off x="8342544" y="5355409"/>
              <a:ext cx="0" cy="777263"/>
            </a:xfrm>
            <a:prstGeom prst="line">
              <a:avLst/>
            </a:prstGeom>
            <a:ln w="19050" cap="rnd">
              <a:solidFill>
                <a:srgbClr val="FF717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5" name="群組 24">
              <a:extLst>
                <a:ext uri="{FF2B5EF4-FFF2-40B4-BE49-F238E27FC236}">
                  <a16:creationId xmlns:a16="http://schemas.microsoft.com/office/drawing/2014/main" id="{B299D605-EE04-F843-2E64-34529FEA5F4D}"/>
                </a:ext>
              </a:extLst>
            </p:cNvPr>
            <p:cNvGrpSpPr/>
            <p:nvPr/>
          </p:nvGrpSpPr>
          <p:grpSpPr>
            <a:xfrm>
              <a:off x="8242623" y="5628297"/>
              <a:ext cx="201758" cy="201758"/>
              <a:chOff x="1722543" y="4976495"/>
              <a:chExt cx="135890" cy="135890"/>
            </a:xfrm>
          </p:grpSpPr>
          <p:sp>
            <p:nvSpPr>
              <p:cNvPr id="27" name="橢圓 26">
                <a:extLst>
                  <a:ext uri="{FF2B5EF4-FFF2-40B4-BE49-F238E27FC236}">
                    <a16:creationId xmlns:a16="http://schemas.microsoft.com/office/drawing/2014/main" id="{12BE6446-F1BD-2040-1861-810A8B2FB6CA}"/>
                  </a:ext>
                </a:extLst>
              </p:cNvPr>
              <p:cNvSpPr/>
              <p:nvPr/>
            </p:nvSpPr>
            <p:spPr>
              <a:xfrm>
                <a:off x="1722543" y="4976495"/>
                <a:ext cx="135890" cy="135890"/>
              </a:xfrm>
              <a:prstGeom prst="ellipse">
                <a:avLst/>
              </a:prstGeom>
              <a:solidFill>
                <a:srgbClr val="FF717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sp>
            <p:nvSpPr>
              <p:cNvPr id="29" name="橢圓 28">
                <a:extLst>
                  <a:ext uri="{FF2B5EF4-FFF2-40B4-BE49-F238E27FC236}">
                    <a16:creationId xmlns:a16="http://schemas.microsoft.com/office/drawing/2014/main" id="{D491BF5A-355C-B6D8-210A-3DB0B55A8685}"/>
                  </a:ext>
                </a:extLst>
              </p:cNvPr>
              <p:cNvSpPr/>
              <p:nvPr/>
            </p:nvSpPr>
            <p:spPr>
              <a:xfrm>
                <a:off x="1750773" y="5004725"/>
                <a:ext cx="79430" cy="7943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</p:grpSp>
        <p:sp>
          <p:nvSpPr>
            <p:cNvPr id="30" name="橢圓 29">
              <a:extLst>
                <a:ext uri="{FF2B5EF4-FFF2-40B4-BE49-F238E27FC236}">
                  <a16:creationId xmlns:a16="http://schemas.microsoft.com/office/drawing/2014/main" id="{69CE732C-5F2A-F348-A93B-75901A03C700}"/>
                </a:ext>
              </a:extLst>
            </p:cNvPr>
            <p:cNvSpPr/>
            <p:nvPr/>
          </p:nvSpPr>
          <p:spPr>
            <a:xfrm>
              <a:off x="8282622" y="5177111"/>
              <a:ext cx="119846" cy="119846"/>
            </a:xfrm>
            <a:prstGeom prst="ellipse">
              <a:avLst/>
            </a:prstGeom>
            <a:solidFill>
              <a:srgbClr val="FF717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32" name="橢圓 31">
              <a:extLst>
                <a:ext uri="{FF2B5EF4-FFF2-40B4-BE49-F238E27FC236}">
                  <a16:creationId xmlns:a16="http://schemas.microsoft.com/office/drawing/2014/main" id="{C177CA6D-E5A0-7006-D52B-2C12314264CC}"/>
                </a:ext>
              </a:extLst>
            </p:cNvPr>
            <p:cNvSpPr/>
            <p:nvPr/>
          </p:nvSpPr>
          <p:spPr>
            <a:xfrm>
              <a:off x="8282622" y="6187245"/>
              <a:ext cx="119846" cy="119846"/>
            </a:xfrm>
            <a:prstGeom prst="ellipse">
              <a:avLst/>
            </a:prstGeom>
            <a:solidFill>
              <a:srgbClr val="FF717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b="1" dirty="0"/>
            </a:p>
          </p:txBody>
        </p:sp>
        <p:sp>
          <p:nvSpPr>
            <p:cNvPr id="35" name="文字方塊 34">
              <a:extLst>
                <a:ext uri="{FF2B5EF4-FFF2-40B4-BE49-F238E27FC236}">
                  <a16:creationId xmlns:a16="http://schemas.microsoft.com/office/drawing/2014/main" id="{C5FD9187-BC52-4E0F-3C29-8755BA2F8A6B}"/>
                </a:ext>
              </a:extLst>
            </p:cNvPr>
            <p:cNvSpPr txBox="1"/>
            <p:nvPr/>
          </p:nvSpPr>
          <p:spPr>
            <a:xfrm>
              <a:off x="8400552" y="6080238"/>
              <a:ext cx="103823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400" b="1" dirty="0"/>
                <a:t>Post grades</a:t>
              </a:r>
            </a:p>
          </p:txBody>
        </p:sp>
        <p:sp>
          <p:nvSpPr>
            <p:cNvPr id="36" name="文字方塊 35">
              <a:extLst>
                <a:ext uri="{FF2B5EF4-FFF2-40B4-BE49-F238E27FC236}">
                  <a16:creationId xmlns:a16="http://schemas.microsoft.com/office/drawing/2014/main" id="{5FBCCB54-0964-6B77-9749-2B8EE6A7387D}"/>
                </a:ext>
              </a:extLst>
            </p:cNvPr>
            <p:cNvSpPr txBox="1"/>
            <p:nvPr/>
          </p:nvSpPr>
          <p:spPr>
            <a:xfrm>
              <a:off x="8400552" y="4962676"/>
              <a:ext cx="156004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400" b="1" dirty="0"/>
                <a:t>4/23 23:59</a:t>
              </a:r>
              <a:endParaRPr lang="zh-TW" altLang="en-US" sz="2400" b="1" dirty="0"/>
            </a:p>
          </p:txBody>
        </p:sp>
        <p:cxnSp>
          <p:nvCxnSpPr>
            <p:cNvPr id="10" name="直線接點 9">
              <a:extLst>
                <a:ext uri="{FF2B5EF4-FFF2-40B4-BE49-F238E27FC236}">
                  <a16:creationId xmlns:a16="http://schemas.microsoft.com/office/drawing/2014/main" id="{1132D06E-E523-AA5D-31DA-B0F3E35EC3AF}"/>
                </a:ext>
              </a:extLst>
            </p:cNvPr>
            <p:cNvCxnSpPr>
              <a:cxnSpLocks/>
            </p:cNvCxnSpPr>
            <p:nvPr/>
          </p:nvCxnSpPr>
          <p:spPr>
            <a:xfrm>
              <a:off x="3215336" y="5355409"/>
              <a:ext cx="0" cy="777263"/>
            </a:xfrm>
            <a:prstGeom prst="line">
              <a:avLst/>
            </a:prstGeom>
            <a:ln w="19050" cap="rnd">
              <a:solidFill>
                <a:srgbClr val="FFD54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" name="群組 10">
              <a:extLst>
                <a:ext uri="{FF2B5EF4-FFF2-40B4-BE49-F238E27FC236}">
                  <a16:creationId xmlns:a16="http://schemas.microsoft.com/office/drawing/2014/main" id="{1DEE6E26-51D0-2EF2-9356-E268EB6383D8}"/>
                </a:ext>
              </a:extLst>
            </p:cNvPr>
            <p:cNvGrpSpPr/>
            <p:nvPr/>
          </p:nvGrpSpPr>
          <p:grpSpPr>
            <a:xfrm>
              <a:off x="3115415" y="5628297"/>
              <a:ext cx="201758" cy="201758"/>
              <a:chOff x="1722543" y="4976495"/>
              <a:chExt cx="135890" cy="135890"/>
            </a:xfrm>
          </p:grpSpPr>
          <p:sp>
            <p:nvSpPr>
              <p:cNvPr id="13" name="橢圓 12">
                <a:extLst>
                  <a:ext uri="{FF2B5EF4-FFF2-40B4-BE49-F238E27FC236}">
                    <a16:creationId xmlns:a16="http://schemas.microsoft.com/office/drawing/2014/main" id="{9D8113AC-3EBF-AFF7-C835-8226EA038AFE}"/>
                  </a:ext>
                </a:extLst>
              </p:cNvPr>
              <p:cNvSpPr/>
              <p:nvPr/>
            </p:nvSpPr>
            <p:spPr>
              <a:xfrm>
                <a:off x="1722543" y="4976495"/>
                <a:ext cx="135890" cy="135890"/>
              </a:xfrm>
              <a:prstGeom prst="ellipse">
                <a:avLst/>
              </a:prstGeom>
              <a:solidFill>
                <a:srgbClr val="FFD54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sp>
            <p:nvSpPr>
              <p:cNvPr id="14" name="橢圓 13">
                <a:extLst>
                  <a:ext uri="{FF2B5EF4-FFF2-40B4-BE49-F238E27FC236}">
                    <a16:creationId xmlns:a16="http://schemas.microsoft.com/office/drawing/2014/main" id="{3BC6C429-3706-308F-F2B5-B809C24DA2B7}"/>
                  </a:ext>
                </a:extLst>
              </p:cNvPr>
              <p:cNvSpPr/>
              <p:nvPr/>
            </p:nvSpPr>
            <p:spPr>
              <a:xfrm>
                <a:off x="1750773" y="5004725"/>
                <a:ext cx="79430" cy="7943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</p:grpSp>
        <p:sp>
          <p:nvSpPr>
            <p:cNvPr id="15" name="橢圓 14">
              <a:extLst>
                <a:ext uri="{FF2B5EF4-FFF2-40B4-BE49-F238E27FC236}">
                  <a16:creationId xmlns:a16="http://schemas.microsoft.com/office/drawing/2014/main" id="{339B7AD0-3219-8D64-27EC-2A3BF4199EE4}"/>
                </a:ext>
              </a:extLst>
            </p:cNvPr>
            <p:cNvSpPr/>
            <p:nvPr/>
          </p:nvSpPr>
          <p:spPr>
            <a:xfrm>
              <a:off x="3155414" y="5177111"/>
              <a:ext cx="119846" cy="119846"/>
            </a:xfrm>
            <a:prstGeom prst="ellipse">
              <a:avLst/>
            </a:prstGeom>
            <a:solidFill>
              <a:srgbClr val="FFD54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16" name="橢圓 15">
              <a:extLst>
                <a:ext uri="{FF2B5EF4-FFF2-40B4-BE49-F238E27FC236}">
                  <a16:creationId xmlns:a16="http://schemas.microsoft.com/office/drawing/2014/main" id="{4DA12C12-CD74-AA3C-5EF1-504D2D4081CF}"/>
                </a:ext>
              </a:extLst>
            </p:cNvPr>
            <p:cNvSpPr/>
            <p:nvPr/>
          </p:nvSpPr>
          <p:spPr>
            <a:xfrm>
              <a:off x="3155414" y="6187245"/>
              <a:ext cx="119846" cy="119846"/>
            </a:xfrm>
            <a:prstGeom prst="ellipse">
              <a:avLst/>
            </a:prstGeom>
            <a:solidFill>
              <a:srgbClr val="FFD54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b="1" dirty="0"/>
            </a:p>
          </p:txBody>
        </p:sp>
        <p:sp>
          <p:nvSpPr>
            <p:cNvPr id="18" name="文字方塊 17">
              <a:extLst>
                <a:ext uri="{FF2B5EF4-FFF2-40B4-BE49-F238E27FC236}">
                  <a16:creationId xmlns:a16="http://schemas.microsoft.com/office/drawing/2014/main" id="{F796F233-0CB5-DF5F-B131-AD134470EDAD}"/>
                </a:ext>
              </a:extLst>
            </p:cNvPr>
            <p:cNvSpPr txBox="1"/>
            <p:nvPr/>
          </p:nvSpPr>
          <p:spPr>
            <a:xfrm>
              <a:off x="3267113" y="4962676"/>
              <a:ext cx="156004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400" b="1" dirty="0"/>
                <a:t>3/24</a:t>
              </a:r>
              <a:r>
                <a:rPr lang="zh-TW" altLang="en-US" sz="2400" b="1" dirty="0"/>
                <a:t> </a:t>
              </a:r>
              <a:r>
                <a:rPr lang="en-US" altLang="zh-TW" sz="2400" b="1" dirty="0"/>
                <a:t>12:00</a:t>
              </a:r>
              <a:endParaRPr lang="zh-TW" altLang="en-US" sz="2400" b="1" dirty="0"/>
            </a:p>
          </p:txBody>
        </p:sp>
        <p:sp>
          <p:nvSpPr>
            <p:cNvPr id="22" name="文字方塊 21">
              <a:extLst>
                <a:ext uri="{FF2B5EF4-FFF2-40B4-BE49-F238E27FC236}">
                  <a16:creationId xmlns:a16="http://schemas.microsoft.com/office/drawing/2014/main" id="{E21A38EC-9A93-2C61-6F68-B2DFF44B5626}"/>
                </a:ext>
              </a:extLst>
            </p:cNvPr>
            <p:cNvSpPr txBox="1"/>
            <p:nvPr/>
          </p:nvSpPr>
          <p:spPr>
            <a:xfrm>
              <a:off x="3273129" y="6085206"/>
              <a:ext cx="170674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400" b="1" dirty="0"/>
                <a:t>Email reply deadline</a:t>
              </a:r>
              <a:endParaRPr lang="zh-TW" altLang="en-US" sz="14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42649897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0E2519F6-F9FF-484D-B5D7-425FDDCCC0DE}">
  <we:reference id="wa200010001" version="1.0.0.1" store="en-US" storeType="OMEX"/>
  <we:alternateReferences>
    <we:reference id="WA200010001" version="1.0.0.1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20430</TotalTime>
  <Words>1582</Words>
  <Application>Microsoft Office PowerPoint</Application>
  <PresentationFormat>寬螢幕</PresentationFormat>
  <Paragraphs>300</Paragraphs>
  <Slides>22</Slides>
  <Notes>8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22</vt:i4>
      </vt:variant>
    </vt:vector>
  </HeadingPairs>
  <TitlesOfParts>
    <vt:vector size="29" baseType="lpstr">
      <vt:lpstr>Arial</vt:lpstr>
      <vt:lpstr>Calibri</vt:lpstr>
      <vt:lpstr>Calibri Light</vt:lpstr>
      <vt:lpstr>Cascadia Code</vt:lpstr>
      <vt:lpstr>Consolas</vt:lpstr>
      <vt:lpstr>Wingdings</vt:lpstr>
      <vt:lpstr>Office 佈景主題</vt:lpstr>
      <vt:lpstr>Computer Organization 2026 Quiz 1 &amp; Programming Assessment I</vt:lpstr>
      <vt:lpstr>Quiz1 Overview</vt:lpstr>
      <vt:lpstr>PA1 Overview</vt:lpstr>
      <vt:lpstr>Prerequisite: HW0 – Environment Setup</vt:lpstr>
      <vt:lpstr>Assessment - 3 Coding Problems</vt:lpstr>
      <vt:lpstr>Problem 1. Insertion Sort (30%) .</vt:lpstr>
      <vt:lpstr>Problem 1. Insertion Sort (Cont.) .</vt:lpstr>
      <vt:lpstr>Problem 1. Insertion Sort (Cont.) 1st iteration: Insert 2 (i = 1)</vt:lpstr>
      <vt:lpstr>Problem 1. Insertion Sort (Cont.) 2nd iteration: Insert 4 (i = 2)</vt:lpstr>
      <vt:lpstr>Problem 1. Insertion Sort (Cont.) 3rd iteration: Insert 6 (i = 3)</vt:lpstr>
      <vt:lpstr>Problem 1. Insertion Sort (Cont.) 4th iteration: Insert 1 (i = 4)</vt:lpstr>
      <vt:lpstr>Problem 2. Binary Search (30%) .</vt:lpstr>
      <vt:lpstr>Problem 2. Binary Search (Cont.) .</vt:lpstr>
      <vt:lpstr>Problem 3. Linked-List Cycle (40%) .</vt:lpstr>
      <vt:lpstr>Problem 3. Linked-List Cycle (Cont.)  The Tortoise and Hare Algorithm</vt:lpstr>
      <vt:lpstr>Problem 3. Linked-List Cycle (Cont.) The Tortoise and Hare Algorithm</vt:lpstr>
      <vt:lpstr>Test Your Assessment</vt:lpstr>
      <vt:lpstr>make judge</vt:lpstr>
      <vt:lpstr>judge –c judge$i.conf –v 1</vt:lpstr>
      <vt:lpstr>Scoring Criteria</vt:lpstr>
      <vt:lpstr>Important Notes</vt:lpstr>
      <vt:lpstr>Contact Information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Wei Chieh Yu</dc:creator>
  <cp:lastModifiedBy>Wei Chieh Yu</cp:lastModifiedBy>
  <cp:revision>271</cp:revision>
  <dcterms:created xsi:type="dcterms:W3CDTF">2026-02-10T13:03:00Z</dcterms:created>
  <dcterms:modified xsi:type="dcterms:W3CDTF">2026-03-19T03:01:42Z</dcterms:modified>
</cp:coreProperties>
</file>