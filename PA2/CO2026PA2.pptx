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8" r:id="rId2"/>
    <p:sldId id="283" r:id="rId3"/>
    <p:sldId id="269" r:id="rId4"/>
    <p:sldId id="296" r:id="rId5"/>
    <p:sldId id="270" r:id="rId6"/>
    <p:sldId id="271" r:id="rId7"/>
    <p:sldId id="290" r:id="rId8"/>
    <p:sldId id="295" r:id="rId9"/>
    <p:sldId id="291" r:id="rId10"/>
    <p:sldId id="292" r:id="rId11"/>
    <p:sldId id="293" r:id="rId12"/>
    <p:sldId id="294" r:id="rId13"/>
    <p:sldId id="273" r:id="rId14"/>
    <p:sldId id="289" r:id="rId15"/>
    <p:sldId id="284" r:id="rId16"/>
    <p:sldId id="285" r:id="rId17"/>
    <p:sldId id="267" r:id="rId18"/>
    <p:sldId id="276" r:id="rId19"/>
    <p:sldId id="288" r:id="rId20"/>
    <p:sldId id="280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DAFA"/>
    <a:srgbClr val="E5CFF9"/>
    <a:srgbClr val="FF7171"/>
    <a:srgbClr val="FF8B8B"/>
    <a:srgbClr val="FFC5C5"/>
    <a:srgbClr val="FF9F9F"/>
    <a:srgbClr val="CAFEF0"/>
    <a:srgbClr val="B1FDE9"/>
    <a:srgbClr val="FF4343"/>
    <a:srgbClr val="FFD5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23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16901B-A0DB-4664-B783-CBFFE3CFE2E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99D24CF-14FC-47C9-B1CD-0659C4E21950}">
      <dgm:prSet/>
      <dgm:spPr/>
      <dgm:t>
        <a:bodyPr/>
        <a:lstStyle/>
        <a:p>
          <a:r>
            <a:rPr lang="en-US"/>
            <a:t>Uploading an unexpected filename that causes the judge to be unable to score it automatically will result in </a:t>
          </a:r>
          <a:r>
            <a:rPr lang="en-US" b="1"/>
            <a:t>a loss of 10 points</a:t>
          </a:r>
          <a:r>
            <a:rPr lang="en-US"/>
            <a:t>.</a:t>
          </a:r>
        </a:p>
      </dgm:t>
    </dgm:pt>
    <dgm:pt modelId="{5CCAEB86-A435-443B-93AD-03CF1129159E}" type="parTrans" cxnId="{C186C61B-8244-4AC5-8537-D7EFE92C1B7F}">
      <dgm:prSet/>
      <dgm:spPr/>
      <dgm:t>
        <a:bodyPr/>
        <a:lstStyle/>
        <a:p>
          <a:endParaRPr lang="en-US"/>
        </a:p>
      </dgm:t>
    </dgm:pt>
    <dgm:pt modelId="{18B33778-343E-434A-91E4-DFDC21EEAA08}" type="sibTrans" cxnId="{C186C61B-8244-4AC5-8537-D7EFE92C1B7F}">
      <dgm:prSet/>
      <dgm:spPr/>
      <dgm:t>
        <a:bodyPr/>
        <a:lstStyle/>
        <a:p>
          <a:endParaRPr lang="en-US"/>
        </a:p>
      </dgm:t>
    </dgm:pt>
    <dgm:pt modelId="{02C19068-1A28-447C-AF42-4E169160B33D}">
      <dgm:prSet/>
      <dgm:spPr/>
      <dgm:t>
        <a:bodyPr/>
        <a:lstStyle/>
        <a:p>
          <a:r>
            <a:rPr lang="en-US"/>
            <a:t>Unexpected file content that prevents the judge from continuing will result in </a:t>
          </a:r>
          <a:r>
            <a:rPr lang="en-US" b="1"/>
            <a:t>0 points</a:t>
          </a:r>
          <a:r>
            <a:rPr lang="en-US"/>
            <a:t>.</a:t>
          </a:r>
        </a:p>
      </dgm:t>
    </dgm:pt>
    <dgm:pt modelId="{4278D9B8-3885-41A0-A62B-1C4A1BDF462C}" type="parTrans" cxnId="{22CABCA3-D599-4E4F-9C5A-160EEEF6A618}">
      <dgm:prSet/>
      <dgm:spPr/>
      <dgm:t>
        <a:bodyPr/>
        <a:lstStyle/>
        <a:p>
          <a:endParaRPr lang="en-US"/>
        </a:p>
      </dgm:t>
    </dgm:pt>
    <dgm:pt modelId="{008C02EE-8ADC-4A8C-932E-BE3CEC73E26E}" type="sibTrans" cxnId="{22CABCA3-D599-4E4F-9C5A-160EEEF6A618}">
      <dgm:prSet/>
      <dgm:spPr/>
      <dgm:t>
        <a:bodyPr/>
        <a:lstStyle/>
        <a:p>
          <a:endParaRPr lang="en-US"/>
        </a:p>
      </dgm:t>
    </dgm:pt>
    <dgm:pt modelId="{8398576D-0044-438B-BC8B-FE43CEEDE9EB}">
      <dgm:prSet/>
      <dgm:spPr/>
      <dgm:t>
        <a:bodyPr/>
        <a:lstStyle/>
        <a:p>
          <a:r>
            <a:rPr lang="en-US"/>
            <a:t>Compiling or linking errors that prevent the judge from continuing will result in </a:t>
          </a:r>
          <a:r>
            <a:rPr lang="en-US" b="1"/>
            <a:t>0 points</a:t>
          </a:r>
          <a:r>
            <a:rPr lang="en-US"/>
            <a:t>.</a:t>
          </a:r>
        </a:p>
      </dgm:t>
    </dgm:pt>
    <dgm:pt modelId="{6943614A-EFBF-4796-AC42-98AA279B5049}" type="parTrans" cxnId="{B122C95C-4A2B-49B6-B7B3-56B1AFEDC8B4}">
      <dgm:prSet/>
      <dgm:spPr/>
      <dgm:t>
        <a:bodyPr/>
        <a:lstStyle/>
        <a:p>
          <a:endParaRPr lang="en-US"/>
        </a:p>
      </dgm:t>
    </dgm:pt>
    <dgm:pt modelId="{5A4574DC-7122-4161-AB86-C78EE115E89F}" type="sibTrans" cxnId="{B122C95C-4A2B-49B6-B7B3-56B1AFEDC8B4}">
      <dgm:prSet/>
      <dgm:spPr/>
      <dgm:t>
        <a:bodyPr/>
        <a:lstStyle/>
        <a:p>
          <a:endParaRPr lang="en-US"/>
        </a:p>
      </dgm:t>
    </dgm:pt>
    <dgm:pt modelId="{DE9CA896-FF23-4A11-852F-C2B0F022D1CA}" type="pres">
      <dgm:prSet presAssocID="{A416901B-A0DB-4664-B783-CBFFE3CFE2EC}" presName="vert0" presStyleCnt="0">
        <dgm:presLayoutVars>
          <dgm:dir/>
          <dgm:animOne val="branch"/>
          <dgm:animLvl val="lvl"/>
        </dgm:presLayoutVars>
      </dgm:prSet>
      <dgm:spPr/>
    </dgm:pt>
    <dgm:pt modelId="{6B91C92C-7D17-4D0D-A26C-747F20AD4EE4}" type="pres">
      <dgm:prSet presAssocID="{B99D24CF-14FC-47C9-B1CD-0659C4E21950}" presName="thickLine" presStyleLbl="alignNode1" presStyleIdx="0" presStyleCnt="3"/>
      <dgm:spPr/>
    </dgm:pt>
    <dgm:pt modelId="{6BF6A282-A886-4E26-A543-C10E9B6B82BA}" type="pres">
      <dgm:prSet presAssocID="{B99D24CF-14FC-47C9-B1CD-0659C4E21950}" presName="horz1" presStyleCnt="0"/>
      <dgm:spPr/>
    </dgm:pt>
    <dgm:pt modelId="{A016632E-2209-49F2-9D3F-368812629C17}" type="pres">
      <dgm:prSet presAssocID="{B99D24CF-14FC-47C9-B1CD-0659C4E21950}" presName="tx1" presStyleLbl="revTx" presStyleIdx="0" presStyleCnt="3"/>
      <dgm:spPr/>
    </dgm:pt>
    <dgm:pt modelId="{4FBD73E7-888F-41E0-8587-CE9EBD244E49}" type="pres">
      <dgm:prSet presAssocID="{B99D24CF-14FC-47C9-B1CD-0659C4E21950}" presName="vert1" presStyleCnt="0"/>
      <dgm:spPr/>
    </dgm:pt>
    <dgm:pt modelId="{64FEA30C-C352-47B1-8CE7-42262EB9C79B}" type="pres">
      <dgm:prSet presAssocID="{02C19068-1A28-447C-AF42-4E169160B33D}" presName="thickLine" presStyleLbl="alignNode1" presStyleIdx="1" presStyleCnt="3"/>
      <dgm:spPr/>
    </dgm:pt>
    <dgm:pt modelId="{5B791EAC-CA1F-427E-AE08-D2D565B5DE70}" type="pres">
      <dgm:prSet presAssocID="{02C19068-1A28-447C-AF42-4E169160B33D}" presName="horz1" presStyleCnt="0"/>
      <dgm:spPr/>
    </dgm:pt>
    <dgm:pt modelId="{268784CB-321A-4911-AAE6-DE79D8EA2E5D}" type="pres">
      <dgm:prSet presAssocID="{02C19068-1A28-447C-AF42-4E169160B33D}" presName="tx1" presStyleLbl="revTx" presStyleIdx="1" presStyleCnt="3"/>
      <dgm:spPr/>
    </dgm:pt>
    <dgm:pt modelId="{880B7C56-A981-45A5-8251-78CA6E84D78B}" type="pres">
      <dgm:prSet presAssocID="{02C19068-1A28-447C-AF42-4E169160B33D}" presName="vert1" presStyleCnt="0"/>
      <dgm:spPr/>
    </dgm:pt>
    <dgm:pt modelId="{11131170-9ECF-4BF4-9B27-D602556BCFE6}" type="pres">
      <dgm:prSet presAssocID="{8398576D-0044-438B-BC8B-FE43CEEDE9EB}" presName="thickLine" presStyleLbl="alignNode1" presStyleIdx="2" presStyleCnt="3"/>
      <dgm:spPr/>
    </dgm:pt>
    <dgm:pt modelId="{741E9D3B-05FE-4C49-AF7F-40771C20767E}" type="pres">
      <dgm:prSet presAssocID="{8398576D-0044-438B-BC8B-FE43CEEDE9EB}" presName="horz1" presStyleCnt="0"/>
      <dgm:spPr/>
    </dgm:pt>
    <dgm:pt modelId="{6791D240-F6D3-4C49-AB50-071503511266}" type="pres">
      <dgm:prSet presAssocID="{8398576D-0044-438B-BC8B-FE43CEEDE9EB}" presName="tx1" presStyleLbl="revTx" presStyleIdx="2" presStyleCnt="3"/>
      <dgm:spPr/>
    </dgm:pt>
    <dgm:pt modelId="{25BB8824-F1F8-4F97-B35F-E03B84FEA36E}" type="pres">
      <dgm:prSet presAssocID="{8398576D-0044-438B-BC8B-FE43CEEDE9EB}" presName="vert1" presStyleCnt="0"/>
      <dgm:spPr/>
    </dgm:pt>
  </dgm:ptLst>
  <dgm:cxnLst>
    <dgm:cxn modelId="{C186C61B-8244-4AC5-8537-D7EFE92C1B7F}" srcId="{A416901B-A0DB-4664-B783-CBFFE3CFE2EC}" destId="{B99D24CF-14FC-47C9-B1CD-0659C4E21950}" srcOrd="0" destOrd="0" parTransId="{5CCAEB86-A435-443B-93AD-03CF1129159E}" sibTransId="{18B33778-343E-434A-91E4-DFDC21EEAA08}"/>
    <dgm:cxn modelId="{B122C95C-4A2B-49B6-B7B3-56B1AFEDC8B4}" srcId="{A416901B-A0DB-4664-B783-CBFFE3CFE2EC}" destId="{8398576D-0044-438B-BC8B-FE43CEEDE9EB}" srcOrd="2" destOrd="0" parTransId="{6943614A-EFBF-4796-AC42-98AA279B5049}" sibTransId="{5A4574DC-7122-4161-AB86-C78EE115E89F}"/>
    <dgm:cxn modelId="{8F9A174E-61B4-473D-B00F-BDE6774583C2}" type="presOf" srcId="{8398576D-0044-438B-BC8B-FE43CEEDE9EB}" destId="{6791D240-F6D3-4C49-AB50-071503511266}" srcOrd="0" destOrd="0" presId="urn:microsoft.com/office/officeart/2008/layout/LinedList"/>
    <dgm:cxn modelId="{22CABCA3-D599-4E4F-9C5A-160EEEF6A618}" srcId="{A416901B-A0DB-4664-B783-CBFFE3CFE2EC}" destId="{02C19068-1A28-447C-AF42-4E169160B33D}" srcOrd="1" destOrd="0" parTransId="{4278D9B8-3885-41A0-A62B-1C4A1BDF462C}" sibTransId="{008C02EE-8ADC-4A8C-932E-BE3CEC73E26E}"/>
    <dgm:cxn modelId="{40C12BC6-38BD-424E-A837-7728DB4BEFDE}" type="presOf" srcId="{02C19068-1A28-447C-AF42-4E169160B33D}" destId="{268784CB-321A-4911-AAE6-DE79D8EA2E5D}" srcOrd="0" destOrd="0" presId="urn:microsoft.com/office/officeart/2008/layout/LinedList"/>
    <dgm:cxn modelId="{9B2DC5F0-3516-4AF7-98D5-F9C7199C698C}" type="presOf" srcId="{A416901B-A0DB-4664-B783-CBFFE3CFE2EC}" destId="{DE9CA896-FF23-4A11-852F-C2B0F022D1CA}" srcOrd="0" destOrd="0" presId="urn:microsoft.com/office/officeart/2008/layout/LinedList"/>
    <dgm:cxn modelId="{99F40EF5-4C0C-4E1B-AD3D-4232D5A49D9A}" type="presOf" srcId="{B99D24CF-14FC-47C9-B1CD-0659C4E21950}" destId="{A016632E-2209-49F2-9D3F-368812629C17}" srcOrd="0" destOrd="0" presId="urn:microsoft.com/office/officeart/2008/layout/LinedList"/>
    <dgm:cxn modelId="{406A9C71-E492-4AE6-BC31-202399161619}" type="presParOf" srcId="{DE9CA896-FF23-4A11-852F-C2B0F022D1CA}" destId="{6B91C92C-7D17-4D0D-A26C-747F20AD4EE4}" srcOrd="0" destOrd="0" presId="urn:microsoft.com/office/officeart/2008/layout/LinedList"/>
    <dgm:cxn modelId="{C9804F06-D334-4490-B1C0-BB13158B6951}" type="presParOf" srcId="{DE9CA896-FF23-4A11-852F-C2B0F022D1CA}" destId="{6BF6A282-A886-4E26-A543-C10E9B6B82BA}" srcOrd="1" destOrd="0" presId="urn:microsoft.com/office/officeart/2008/layout/LinedList"/>
    <dgm:cxn modelId="{A67FB75D-9209-43E9-9D58-5DD2B90D7099}" type="presParOf" srcId="{6BF6A282-A886-4E26-A543-C10E9B6B82BA}" destId="{A016632E-2209-49F2-9D3F-368812629C17}" srcOrd="0" destOrd="0" presId="urn:microsoft.com/office/officeart/2008/layout/LinedList"/>
    <dgm:cxn modelId="{62B8F6E5-52AB-42CC-B7FF-BB66D0281197}" type="presParOf" srcId="{6BF6A282-A886-4E26-A543-C10E9B6B82BA}" destId="{4FBD73E7-888F-41E0-8587-CE9EBD244E49}" srcOrd="1" destOrd="0" presId="urn:microsoft.com/office/officeart/2008/layout/LinedList"/>
    <dgm:cxn modelId="{93103E6C-EC79-4DAF-9117-575205057FF8}" type="presParOf" srcId="{DE9CA896-FF23-4A11-852F-C2B0F022D1CA}" destId="{64FEA30C-C352-47B1-8CE7-42262EB9C79B}" srcOrd="2" destOrd="0" presId="urn:microsoft.com/office/officeart/2008/layout/LinedList"/>
    <dgm:cxn modelId="{635C1C77-5171-4DC1-ABCE-7626DFCAC7A7}" type="presParOf" srcId="{DE9CA896-FF23-4A11-852F-C2B0F022D1CA}" destId="{5B791EAC-CA1F-427E-AE08-D2D565B5DE70}" srcOrd="3" destOrd="0" presId="urn:microsoft.com/office/officeart/2008/layout/LinedList"/>
    <dgm:cxn modelId="{F81318C0-A657-4B5B-8343-3755CC514A93}" type="presParOf" srcId="{5B791EAC-CA1F-427E-AE08-D2D565B5DE70}" destId="{268784CB-321A-4911-AAE6-DE79D8EA2E5D}" srcOrd="0" destOrd="0" presId="urn:microsoft.com/office/officeart/2008/layout/LinedList"/>
    <dgm:cxn modelId="{71AD9C50-6109-414C-A7C7-F65357BAD415}" type="presParOf" srcId="{5B791EAC-CA1F-427E-AE08-D2D565B5DE70}" destId="{880B7C56-A981-45A5-8251-78CA6E84D78B}" srcOrd="1" destOrd="0" presId="urn:microsoft.com/office/officeart/2008/layout/LinedList"/>
    <dgm:cxn modelId="{4BD3695C-E5B6-41CA-99D4-6EE335015465}" type="presParOf" srcId="{DE9CA896-FF23-4A11-852F-C2B0F022D1CA}" destId="{11131170-9ECF-4BF4-9B27-D602556BCFE6}" srcOrd="4" destOrd="0" presId="urn:microsoft.com/office/officeart/2008/layout/LinedList"/>
    <dgm:cxn modelId="{640FF8D2-8D90-4A1A-BD0D-03A662454CCE}" type="presParOf" srcId="{DE9CA896-FF23-4A11-852F-C2B0F022D1CA}" destId="{741E9D3B-05FE-4C49-AF7F-40771C20767E}" srcOrd="5" destOrd="0" presId="urn:microsoft.com/office/officeart/2008/layout/LinedList"/>
    <dgm:cxn modelId="{57443B8D-DA50-45D1-A7CC-7EA22F02CB89}" type="presParOf" srcId="{741E9D3B-05FE-4C49-AF7F-40771C20767E}" destId="{6791D240-F6D3-4C49-AB50-071503511266}" srcOrd="0" destOrd="0" presId="urn:microsoft.com/office/officeart/2008/layout/LinedList"/>
    <dgm:cxn modelId="{7B36CA8B-518E-439D-989A-6D3FC6C225E0}" type="presParOf" srcId="{741E9D3B-05FE-4C49-AF7F-40771C20767E}" destId="{25BB8824-F1F8-4F97-B35F-E03B84FEA3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1C92C-7D17-4D0D-A26C-747F20AD4EE4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6632E-2209-49F2-9D3F-368812629C17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Uploading an unexpected filename that causes the judge to be unable to score it automatically will result in </a:t>
          </a:r>
          <a:r>
            <a:rPr lang="en-US" sz="2900" b="1" kern="1200"/>
            <a:t>a loss of 10 points</a:t>
          </a:r>
          <a:r>
            <a:rPr lang="en-US" sz="2900" kern="1200"/>
            <a:t>.</a:t>
          </a:r>
        </a:p>
      </dsp:txBody>
      <dsp:txXfrm>
        <a:off x="0" y="2703"/>
        <a:ext cx="6900512" cy="1843578"/>
      </dsp:txXfrm>
    </dsp:sp>
    <dsp:sp modelId="{64FEA30C-C352-47B1-8CE7-42262EB9C79B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784CB-321A-4911-AAE6-DE79D8EA2E5D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Unexpected file content that prevents the judge from continuing will result in </a:t>
          </a:r>
          <a:r>
            <a:rPr lang="en-US" sz="2900" b="1" kern="1200"/>
            <a:t>0 points</a:t>
          </a:r>
          <a:r>
            <a:rPr lang="en-US" sz="2900" kern="1200"/>
            <a:t>.</a:t>
          </a:r>
        </a:p>
      </dsp:txBody>
      <dsp:txXfrm>
        <a:off x="0" y="1846281"/>
        <a:ext cx="6900512" cy="1843578"/>
      </dsp:txXfrm>
    </dsp:sp>
    <dsp:sp modelId="{11131170-9ECF-4BF4-9B27-D602556BCFE6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1D240-F6D3-4C49-AB50-071503511266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Compiling or linking errors that prevent the judge from continuing will result in </a:t>
          </a:r>
          <a:r>
            <a:rPr lang="en-US" sz="2900" b="1" kern="1200"/>
            <a:t>0 points</a:t>
          </a:r>
          <a:r>
            <a:rPr lang="en-US" sz="2900" kern="1200"/>
            <a:t>.</a:t>
          </a:r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57C7B71-830B-133A-20FE-6E6CA2FE19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F913F3-4DCF-6B5C-EC22-7BDA043B3F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759C9-3757-4E5F-A6FD-4E4D6990A365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7CE81D-910E-518E-A8DA-D067C76168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7C45FB-588D-DC4D-7CD9-1BF76094EC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C46F8-97F8-4354-991C-A92C0DC88A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2817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E3937-A001-4F5F-B9D4-F33635134542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8AD94-21E8-432C-8B8C-B8BFD44753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8493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0871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977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898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747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8AD94-21E8-432C-8B8C-B8BFD44753C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6478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2B07B5-BF61-8B3D-2E55-276267B0F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9745588-9AE0-6FC4-BA27-5D75F1B98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D9F145-5362-7B20-C0AC-D64C735F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17BE-A98A-42E7-AC02-05F869E77ABF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748DFB-5693-FD42-143D-13FE72F5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0A40F5-EE5A-59D2-CDA7-11C992C7A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17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29BCC6-836F-DC89-3791-5F78879C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F58F22-D6DA-F5B1-53D5-0F65A5851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ADEF33-DF5C-F2B5-2330-AEB4EB06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BD0A2-FDEB-4B0A-BD9C-9D3B6A5022D8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AF472E-17E6-855A-2F04-79AC0CB0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2D3847-9512-46EC-3BD1-9F02BCC9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2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70C8BE-CFB5-64A1-A9FA-8C3A136F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257830-705A-17F3-B672-0DE9B1771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090C89-1DAE-4676-C2AB-090D4FB2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FFC4-6B0C-4357-958E-CED705DA512B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58D7F5-DEFD-C1AB-65A6-0EFEBB4F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2DC76B-7CA6-38BB-8FFC-A32F51AA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5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6E7D3E-7B9F-14C9-FD0D-AD99C4DA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34776B-A8E0-EC4E-270C-198AB61E6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D63AC6-B19C-59F7-E06A-2D8EBE545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36E81B-2FE5-6D5A-1F75-A1C9E2D9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518D-55EB-4537-A869-E92CB8F9BA95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15434A-386C-94C8-3A22-3C79606B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753CBE-C062-5BB8-256C-A8498B80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30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A41CC-ECDF-87EA-9DC1-717EE5F0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648156-4D30-5058-98FB-65EFA5EA6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E5A01E-8425-DC27-123C-4665080CB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84DA528-4B15-EEE8-DCF1-675108E12F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870D94-5070-2A14-D596-1F4BE0ABC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CECEC72-340B-7986-DBB6-A9A3FB59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60AF-344E-4DD4-B8B9-66D0398A5022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09F4517-2EAD-71DB-E9D7-84F9D0E3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DC545AF-D8FE-2DB4-E741-CFBF75AE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787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BCD71-7250-BC57-1D20-084E18FA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E677B6-5C8A-DEEC-0D7E-67213C3D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32242-6D76-4574-8848-5FF4C83E0579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70485BB-E922-20CE-C975-CAD70840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449738C-8F5A-086C-F274-D134C48E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594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415C093-C310-FF4B-46BD-5426C765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A962-6748-4761-8010-62AEF2E0E574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04146F3-3A58-85F9-6C60-18FF39CD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5D070D-E8F7-9454-1B1A-114722E7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92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6DF3DD-1E59-DC72-6D5B-F4E4DC73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CC80F2-5782-23A9-7EBC-00B519424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592FA9E-0E18-6BAD-A966-7D6565F77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FC781B-0ABD-D741-BB54-C504A0B9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2B7C-00F1-47EB-8024-1C1C42324D60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ED4BD1F-689A-4BB6-EC1F-20D908DC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A8FF60-E084-6519-01AC-DF8DD643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29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77B67B-3AF5-03CB-13AD-54BEC0FF4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27EB98-DB89-75F3-2EAE-E833FF4D1C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5B9A16-A684-3F09-92BC-FD9972E07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53BDE9-0CC1-E900-76DF-FAC55F72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3510D-07AF-44A2-9FB3-4EE47B47D5AA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AB8157-E7CF-630B-C7CD-99DC2786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DDAFDC-62E3-1F7D-0EF5-2C4935EE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6545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59775-29B0-888F-6DC1-F3B04629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7615A9-6800-3331-E81A-2BD820636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5B5316-F304-6817-16C4-D21E75AF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29F6-5087-4750-9F92-7B6688AE7AE1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B3A64-4956-BEAA-A4ED-F089B8B9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27AC6C-C47A-F915-07AC-0ACBAA40E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28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56B9E9-4925-4966-7F87-B60CE5BC1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F800B33-22D5-2EDF-D274-4BC5E92ED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677E2B-CD5D-D410-5A3B-C9140B8EB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13B-F4B3-4D3B-907E-C8594F6A8854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FC8E9E-A191-5FD8-7DBA-B252AD74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BFC290-E3F2-B756-AA73-8DE633E6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80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99687CD-704D-3D6F-3604-6F51F860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704AB5-D5E2-0156-68BF-29C9F6B35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B5EBDD-E424-B6F4-FE86-3F084E37C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A80B1-CA82-412B-9F9F-CE27FF1607D1}" type="datetime1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39E356-5521-96F0-19B1-A12331B7C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58B251-F9B7-E129-CF76-0FE7A26C6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3C46D-CB0F-4644-9DD9-8F746F0342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677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3E44A1A-1B2D-567C-21A1-F4BAE2065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6281928" cy="4135437"/>
          </a:xfrm>
        </p:spPr>
        <p:txBody>
          <a:bodyPr>
            <a:normAutofit/>
          </a:bodyPr>
          <a:lstStyle/>
          <a:p>
            <a:pPr algn="l"/>
            <a:r>
              <a:rPr lang="en-US" altLang="zh-TW" sz="5600" b="1"/>
              <a:t>Computer Organization 2026</a:t>
            </a:r>
            <a:br>
              <a:rPr lang="en-US" altLang="zh-TW" sz="5600" b="1"/>
            </a:br>
            <a:r>
              <a:rPr lang="en-US" altLang="zh-TW" sz="5600" b="1"/>
              <a:t>Quiz 2 &amp; Programming Assessment II</a:t>
            </a:r>
            <a:endParaRPr lang="zh-TW" altLang="en-US" sz="5600" b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sX0" fmla="*/ 0 w 3647661"/>
              <a:gd name="csY0" fmla="*/ 0 h 4436126"/>
              <a:gd name="csX1" fmla="*/ 498514 w 3647661"/>
              <a:gd name="csY1" fmla="*/ 0 h 4436126"/>
              <a:gd name="csX2" fmla="*/ 1069981 w 3647661"/>
              <a:gd name="csY2" fmla="*/ 0 h 4436126"/>
              <a:gd name="csX3" fmla="*/ 1714401 w 3647661"/>
              <a:gd name="csY3" fmla="*/ 0 h 4436126"/>
              <a:gd name="csX4" fmla="*/ 2285868 w 3647661"/>
              <a:gd name="csY4" fmla="*/ 0 h 4436126"/>
              <a:gd name="csX5" fmla="*/ 2784381 w 3647661"/>
              <a:gd name="csY5" fmla="*/ 0 h 4436126"/>
              <a:gd name="csX6" fmla="*/ 3647661 w 3647661"/>
              <a:gd name="csY6" fmla="*/ 0 h 4436126"/>
              <a:gd name="csX7" fmla="*/ 3647661 w 3647661"/>
              <a:gd name="csY7" fmla="*/ 633732 h 4436126"/>
              <a:gd name="csX8" fmla="*/ 3647661 w 3647661"/>
              <a:gd name="csY8" fmla="*/ 1267465 h 4436126"/>
              <a:gd name="csX9" fmla="*/ 3647661 w 3647661"/>
              <a:gd name="csY9" fmla="*/ 1768113 h 4436126"/>
              <a:gd name="csX10" fmla="*/ 3647661 w 3647661"/>
              <a:gd name="csY10" fmla="*/ 2446207 h 4436126"/>
              <a:gd name="csX11" fmla="*/ 3647661 w 3647661"/>
              <a:gd name="csY11" fmla="*/ 2946855 h 4436126"/>
              <a:gd name="csX12" fmla="*/ 3647661 w 3647661"/>
              <a:gd name="csY12" fmla="*/ 3580587 h 4436126"/>
              <a:gd name="csX13" fmla="*/ 3647661 w 3647661"/>
              <a:gd name="csY13" fmla="*/ 4436126 h 4436126"/>
              <a:gd name="csX14" fmla="*/ 3039718 w 3647661"/>
              <a:gd name="csY14" fmla="*/ 4436126 h 4436126"/>
              <a:gd name="csX15" fmla="*/ 2431774 w 3647661"/>
              <a:gd name="csY15" fmla="*/ 4436126 h 4436126"/>
              <a:gd name="csX16" fmla="*/ 1823831 w 3647661"/>
              <a:gd name="csY16" fmla="*/ 4436126 h 4436126"/>
              <a:gd name="csX17" fmla="*/ 1288840 w 3647661"/>
              <a:gd name="csY17" fmla="*/ 4436126 h 4436126"/>
              <a:gd name="csX18" fmla="*/ 607943 w 3647661"/>
              <a:gd name="csY18" fmla="*/ 4436126 h 4436126"/>
              <a:gd name="csX19" fmla="*/ 0 w 3647661"/>
              <a:gd name="csY19" fmla="*/ 4436126 h 4436126"/>
              <a:gd name="csX20" fmla="*/ 0 w 3647661"/>
              <a:gd name="csY20" fmla="*/ 3758032 h 4436126"/>
              <a:gd name="csX21" fmla="*/ 0 w 3647661"/>
              <a:gd name="csY21" fmla="*/ 3035578 h 4436126"/>
              <a:gd name="csX22" fmla="*/ 0 w 3647661"/>
              <a:gd name="csY22" fmla="*/ 2401845 h 4436126"/>
              <a:gd name="csX23" fmla="*/ 0 w 3647661"/>
              <a:gd name="csY23" fmla="*/ 1768113 h 4436126"/>
              <a:gd name="csX24" fmla="*/ 0 w 3647661"/>
              <a:gd name="csY24" fmla="*/ 1178742 h 4436126"/>
              <a:gd name="csX25" fmla="*/ 0 w 3647661"/>
              <a:gd name="csY25" fmla="*/ 589371 h 4436126"/>
              <a:gd name="csX26" fmla="*/ 0 w 3647661"/>
              <a:gd name="csY26" fmla="*/ 0 h 4436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FB832B64-362A-3128-D764-FE5AF0665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8114" y="1232452"/>
            <a:ext cx="3200400" cy="3850919"/>
          </a:xfrm>
        </p:spPr>
        <p:txBody>
          <a:bodyPr anchor="b">
            <a:normAutofit/>
          </a:bodyPr>
          <a:lstStyle/>
          <a:p>
            <a:pPr algn="l"/>
            <a:r>
              <a:rPr lang="en-US" altLang="zh-TW">
                <a:solidFill>
                  <a:srgbClr val="FFFFFF"/>
                </a:solidFill>
              </a:rPr>
              <a:t>Announce date: 2026.4.10</a:t>
            </a:r>
          </a:p>
          <a:p>
            <a:pPr algn="l"/>
            <a:r>
              <a:rPr lang="en-US" altLang="zh-TW">
                <a:solidFill>
                  <a:srgbClr val="FFFFFF"/>
                </a:solidFill>
              </a:rPr>
              <a:t>Assessment date: 2026.4.23 &amp; 2026.4.24</a:t>
            </a:r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sX0" fmla="*/ 0 w 6281928"/>
              <a:gd name="csY0" fmla="*/ 0 h 18288"/>
              <a:gd name="csX1" fmla="*/ 572353 w 6281928"/>
              <a:gd name="csY1" fmla="*/ 0 h 18288"/>
              <a:gd name="csX2" fmla="*/ 1207526 w 6281928"/>
              <a:gd name="csY2" fmla="*/ 0 h 18288"/>
              <a:gd name="csX3" fmla="*/ 1779880 w 6281928"/>
              <a:gd name="csY3" fmla="*/ 0 h 18288"/>
              <a:gd name="csX4" fmla="*/ 2540691 w 6281928"/>
              <a:gd name="csY4" fmla="*/ 0 h 18288"/>
              <a:gd name="csX5" fmla="*/ 3238683 w 6281928"/>
              <a:gd name="csY5" fmla="*/ 0 h 18288"/>
              <a:gd name="csX6" fmla="*/ 3936675 w 6281928"/>
              <a:gd name="csY6" fmla="*/ 0 h 18288"/>
              <a:gd name="csX7" fmla="*/ 4760305 w 6281928"/>
              <a:gd name="csY7" fmla="*/ 0 h 18288"/>
              <a:gd name="csX8" fmla="*/ 5521117 w 6281928"/>
              <a:gd name="csY8" fmla="*/ 0 h 18288"/>
              <a:gd name="csX9" fmla="*/ 6281928 w 6281928"/>
              <a:gd name="csY9" fmla="*/ 0 h 18288"/>
              <a:gd name="csX10" fmla="*/ 6281928 w 6281928"/>
              <a:gd name="csY10" fmla="*/ 18288 h 18288"/>
              <a:gd name="csX11" fmla="*/ 5772394 w 6281928"/>
              <a:gd name="csY11" fmla="*/ 18288 h 18288"/>
              <a:gd name="csX12" fmla="*/ 5200040 w 6281928"/>
              <a:gd name="csY12" fmla="*/ 18288 h 18288"/>
              <a:gd name="csX13" fmla="*/ 4439229 w 6281928"/>
              <a:gd name="csY13" fmla="*/ 18288 h 18288"/>
              <a:gd name="csX14" fmla="*/ 3615599 w 6281928"/>
              <a:gd name="csY14" fmla="*/ 18288 h 18288"/>
              <a:gd name="csX15" fmla="*/ 2980426 w 6281928"/>
              <a:gd name="csY15" fmla="*/ 18288 h 18288"/>
              <a:gd name="csX16" fmla="*/ 2156795 w 6281928"/>
              <a:gd name="csY16" fmla="*/ 18288 h 18288"/>
              <a:gd name="csX17" fmla="*/ 1584442 w 6281928"/>
              <a:gd name="csY17" fmla="*/ 18288 h 18288"/>
              <a:gd name="csX18" fmla="*/ 1074908 w 6281928"/>
              <a:gd name="csY18" fmla="*/ 18288 h 18288"/>
              <a:gd name="csX19" fmla="*/ 0 w 6281928"/>
              <a:gd name="csY19" fmla="*/ 18288 h 18288"/>
              <a:gd name="csX20" fmla="*/ 0 w 6281928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B23AA5-BFF7-CF2D-B2EC-E473D84B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zh-TW" altLang="en-US" smtClean="0"/>
              <a:pPr>
                <a:spcAft>
                  <a:spcPts val="600"/>
                </a:spcAft>
              </a:pPr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62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B0DD33-2A85-F5D1-F426-314C3B35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Quiz2</a:t>
            </a:r>
            <a:r>
              <a:rPr lang="zh-TW" altLang="en-US" b="1" dirty="0"/>
              <a:t> </a:t>
            </a:r>
            <a:r>
              <a:rPr lang="en-US" altLang="zh-TW" b="1" dirty="0"/>
              <a:t>Overview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FA7A89-0839-28F4-CEAA-C6143BE60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Date: 4/23</a:t>
            </a:r>
          </a:p>
          <a:p>
            <a:r>
              <a:rPr lang="en-US" altLang="zh-TW" dirty="0"/>
              <a:t>Time: 09:00 - 09:30</a:t>
            </a:r>
          </a:p>
          <a:p>
            <a:r>
              <a:rPr lang="en-US" altLang="zh-TW" dirty="0"/>
              <a:t>Rooms: A1302,</a:t>
            </a:r>
            <a:r>
              <a:rPr lang="zh-TW" altLang="en-US" dirty="0"/>
              <a:t> </a:t>
            </a:r>
            <a:r>
              <a:rPr lang="en-US" altLang="zh-TW" dirty="0"/>
              <a:t>65203, 65304</a:t>
            </a:r>
          </a:p>
          <a:p>
            <a:r>
              <a:rPr lang="en-US" altLang="zh-TW" dirty="0"/>
              <a:t>Regardless of whether your PA2 is on 4/23 or 4/24, </a:t>
            </a:r>
            <a:r>
              <a:rPr lang="en-US" altLang="zh-TW" b="1" dirty="0"/>
              <a:t>all must attend Quiz2 on 4/23</a:t>
            </a:r>
            <a:r>
              <a:rPr lang="en-US" altLang="zh-TW" dirty="0"/>
              <a:t>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0F3045-926C-EB5B-F62B-C5E33840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2</a:t>
            </a:fld>
            <a:endParaRPr lang="zh-TW" altLang="en-US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F358A4A4-8E3B-A71B-36B7-9CBC272653A8}"/>
              </a:ext>
            </a:extLst>
          </p:cNvPr>
          <p:cNvGrpSpPr/>
          <p:nvPr/>
        </p:nvGrpSpPr>
        <p:grpSpPr>
          <a:xfrm>
            <a:off x="2678210" y="4631055"/>
            <a:ext cx="6835579" cy="1253648"/>
            <a:chOff x="1187546" y="4985016"/>
            <a:chExt cx="6835579" cy="1253648"/>
          </a:xfrm>
        </p:grpSpPr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AF194D01-591C-6987-2C93-F86F97F7CFBA}"/>
                </a:ext>
              </a:extLst>
            </p:cNvPr>
            <p:cNvSpPr/>
            <p:nvPr/>
          </p:nvSpPr>
          <p:spPr>
            <a:xfrm>
              <a:off x="2672766" y="5533736"/>
              <a:ext cx="516187" cy="10072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4DEAE439-BC01-A415-718C-20D1DC6951F2}"/>
                </a:ext>
              </a:extLst>
            </p:cNvPr>
            <p:cNvSpPr/>
            <p:nvPr/>
          </p:nvSpPr>
          <p:spPr>
            <a:xfrm>
              <a:off x="2068080" y="5533736"/>
              <a:ext cx="516191" cy="110268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4CA3F3D-8A59-D046-87DC-73AFDD7C668A}"/>
                </a:ext>
              </a:extLst>
            </p:cNvPr>
            <p:cNvSpPr txBox="1"/>
            <p:nvPr/>
          </p:nvSpPr>
          <p:spPr>
            <a:xfrm>
              <a:off x="1193690" y="5395921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4/23</a:t>
              </a:r>
              <a:endParaRPr lang="zh-TW" altLang="en-US" b="1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0C2B7EE9-15B9-9015-1FF5-BD9EA6EA363B}"/>
                </a:ext>
              </a:extLst>
            </p:cNvPr>
            <p:cNvSpPr txBox="1"/>
            <p:nvPr/>
          </p:nvSpPr>
          <p:spPr>
            <a:xfrm>
              <a:off x="1187546" y="5807631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4/24</a:t>
              </a:r>
              <a:endParaRPr lang="zh-TW" altLang="en-US" b="1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305C214-6E67-A171-D325-3F18A0F0D3AE}"/>
                </a:ext>
              </a:extLst>
            </p:cNvPr>
            <p:cNvSpPr txBox="1"/>
            <p:nvPr/>
          </p:nvSpPr>
          <p:spPr>
            <a:xfrm>
              <a:off x="2024116" y="4985016"/>
              <a:ext cx="1949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4/23 PA2 Students</a:t>
              </a:r>
              <a:endParaRPr lang="zh-TW" altLang="en-US" b="1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4CD7F0C-207C-8A30-248B-4BA8589B0963}"/>
                </a:ext>
              </a:extLst>
            </p:cNvPr>
            <p:cNvSpPr txBox="1"/>
            <p:nvPr/>
          </p:nvSpPr>
          <p:spPr>
            <a:xfrm>
              <a:off x="4339613" y="4985016"/>
              <a:ext cx="19494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4/24 PA2 Students</a:t>
              </a:r>
              <a:endParaRPr lang="zh-TW" altLang="en-US" b="1" dirty="0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C8D461EE-3A26-3770-E855-78D5CA8520B0}"/>
                </a:ext>
              </a:extLst>
            </p:cNvPr>
            <p:cNvCxnSpPr>
              <a:cxnSpLocks/>
            </p:cNvCxnSpPr>
            <p:nvPr/>
          </p:nvCxnSpPr>
          <p:spPr>
            <a:xfrm>
              <a:off x="1189703" y="5354348"/>
              <a:ext cx="5270090" cy="0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7F9C6FC1-5F9C-CAFC-7C77-2A3645AF3611}"/>
                </a:ext>
              </a:extLst>
            </p:cNvPr>
            <p:cNvCxnSpPr>
              <a:cxnSpLocks/>
            </p:cNvCxnSpPr>
            <p:nvPr/>
          </p:nvCxnSpPr>
          <p:spPr>
            <a:xfrm>
              <a:off x="1828800" y="5049341"/>
              <a:ext cx="0" cy="1189323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68CED20A-2942-7597-81D1-7945E29B6E9D}"/>
                </a:ext>
              </a:extLst>
            </p:cNvPr>
            <p:cNvCxnSpPr>
              <a:cxnSpLocks/>
            </p:cNvCxnSpPr>
            <p:nvPr/>
          </p:nvCxnSpPr>
          <p:spPr>
            <a:xfrm>
              <a:off x="4168876" y="5049341"/>
              <a:ext cx="0" cy="1189323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A47D6A21-BB19-E0E9-64E7-C11462A52410}"/>
                </a:ext>
              </a:extLst>
            </p:cNvPr>
            <p:cNvGrpSpPr/>
            <p:nvPr/>
          </p:nvGrpSpPr>
          <p:grpSpPr>
            <a:xfrm>
              <a:off x="7042356" y="5294066"/>
              <a:ext cx="980769" cy="369332"/>
              <a:chOff x="7005481" y="5049341"/>
              <a:chExt cx="980769" cy="369332"/>
            </a:xfrm>
          </p:grpSpPr>
          <p:sp>
            <p:nvSpPr>
              <p:cNvPr id="22" name="矩形: 圓角 21">
                <a:extLst>
                  <a:ext uri="{FF2B5EF4-FFF2-40B4-BE49-F238E27FC236}">
                    <a16:creationId xmlns:a16="http://schemas.microsoft.com/office/drawing/2014/main" id="{0B2C4824-910D-C058-0763-72A0E3E81F06}"/>
                  </a:ext>
                </a:extLst>
              </p:cNvPr>
              <p:cNvSpPr/>
              <p:nvPr/>
            </p:nvSpPr>
            <p:spPr>
              <a:xfrm>
                <a:off x="7005481" y="5143214"/>
                <a:ext cx="174524" cy="181587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3E4D192-35C5-48DB-1966-33920473616C}"/>
                  </a:ext>
                </a:extLst>
              </p:cNvPr>
              <p:cNvSpPr txBox="1"/>
              <p:nvPr/>
            </p:nvSpPr>
            <p:spPr>
              <a:xfrm>
                <a:off x="7180005" y="5049341"/>
                <a:ext cx="8062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800" b="1" dirty="0"/>
                  <a:t>Quiz2</a:t>
                </a:r>
              </a:p>
            </p:txBody>
          </p:sp>
        </p:grp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3428E5B2-275E-0294-5D02-8B1940832B95}"/>
                </a:ext>
              </a:extLst>
            </p:cNvPr>
            <p:cNvGrpSpPr/>
            <p:nvPr/>
          </p:nvGrpSpPr>
          <p:grpSpPr>
            <a:xfrm>
              <a:off x="7042356" y="5658119"/>
              <a:ext cx="722671" cy="369332"/>
              <a:chOff x="8236972" y="4950189"/>
              <a:chExt cx="722671" cy="369332"/>
            </a:xfrm>
          </p:grpSpPr>
          <p:sp>
            <p:nvSpPr>
              <p:cNvPr id="23" name="矩形: 圓角 22">
                <a:extLst>
                  <a:ext uri="{FF2B5EF4-FFF2-40B4-BE49-F238E27FC236}">
                    <a16:creationId xmlns:a16="http://schemas.microsoft.com/office/drawing/2014/main" id="{58827B9B-4A7E-3A5E-50A2-514518EBCAC9}"/>
                  </a:ext>
                </a:extLst>
              </p:cNvPr>
              <p:cNvSpPr/>
              <p:nvPr/>
            </p:nvSpPr>
            <p:spPr>
              <a:xfrm>
                <a:off x="8236972" y="5044062"/>
                <a:ext cx="174524" cy="181587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C3056ED6-4BCA-290D-BE3B-9276298DAC3B}"/>
                  </a:ext>
                </a:extLst>
              </p:cNvPr>
              <p:cNvSpPr txBox="1"/>
              <p:nvPr/>
            </p:nvSpPr>
            <p:spPr>
              <a:xfrm>
                <a:off x="8411496" y="4950189"/>
                <a:ext cx="5481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800" b="1" dirty="0"/>
                  <a:t>PA2</a:t>
                </a:r>
                <a:endParaRPr lang="zh-TW" altLang="en-US" dirty="0"/>
              </a:p>
            </p:txBody>
          </p:sp>
        </p:grp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02C930AB-69EE-8408-FD77-0C91B768C7E5}"/>
                </a:ext>
              </a:extLst>
            </p:cNvPr>
            <p:cNvSpPr/>
            <p:nvPr/>
          </p:nvSpPr>
          <p:spPr>
            <a:xfrm>
              <a:off x="4385187" y="5533736"/>
              <a:ext cx="516191" cy="110268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6824D647-556D-C130-6C91-76A707257D3C}"/>
                </a:ext>
              </a:extLst>
            </p:cNvPr>
            <p:cNvSpPr/>
            <p:nvPr/>
          </p:nvSpPr>
          <p:spPr>
            <a:xfrm>
              <a:off x="4385187" y="5941937"/>
              <a:ext cx="516187" cy="10072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8A1C4062-DC5E-B2DA-49D2-366A274D619E}"/>
                </a:ext>
              </a:extLst>
            </p:cNvPr>
            <p:cNvCxnSpPr>
              <a:cxnSpLocks/>
            </p:cNvCxnSpPr>
            <p:nvPr/>
          </p:nvCxnSpPr>
          <p:spPr>
            <a:xfrm>
              <a:off x="1189703" y="5798689"/>
              <a:ext cx="5270090" cy="0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1100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275D9D0-BBED-4E5D-FCE8-A87953411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5400" b="1"/>
              <a:t>PA2 Overview</a:t>
            </a:r>
            <a:endParaRPr lang="zh-TW" altLang="en-US" sz="5400" b="1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00DE226E-E5DB-B9D2-CAB5-ACDB9AC3C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zh-TW" sz="2200" dirty="0"/>
              <a:t>Day1: 4/23 09:30 - 13:00</a:t>
            </a:r>
          </a:p>
          <a:p>
            <a:r>
              <a:rPr lang="en-US" altLang="zh-TW" sz="2200" dirty="0"/>
              <a:t>Day2: 4/24 17:30 - 21:00</a:t>
            </a:r>
          </a:p>
          <a:p>
            <a:r>
              <a:rPr lang="en-US" altLang="zh-TW" sz="2200" dirty="0"/>
              <a:t>Rooms: 65203, 65304</a:t>
            </a:r>
          </a:p>
          <a:p>
            <a:pPr fontAlgn="base"/>
            <a:r>
              <a:rPr lang="en-US" altLang="zh-TW" sz="2200" dirty="0"/>
              <a:t>In this assignment, you will implement the core computational kernels of a </a:t>
            </a:r>
            <a:r>
              <a:rPr lang="en-US" altLang="zh-TW" sz="2200" b="1" dirty="0"/>
              <a:t>mel spectrogram</a:t>
            </a:r>
            <a:r>
              <a:rPr lang="en-US" altLang="zh-TW" sz="2200" dirty="0"/>
              <a:t> program in C, targeting the RISC-V architecture. You are expected to use </a:t>
            </a:r>
            <a:r>
              <a:rPr lang="en-US" altLang="zh-TW" sz="2200" b="1" dirty="0"/>
              <a:t>RISC-V Vector (RVV) intrinsics</a:t>
            </a:r>
            <a:r>
              <a:rPr lang="en-US" altLang="zh-TW" sz="2200" dirty="0"/>
              <a:t> to optimize performance.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732313-F659-5A3B-D90A-C5132DD5D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zh-TW" altLang="en-US" smtClean="0"/>
              <a:pPr>
                <a:spcAft>
                  <a:spcPts val="600"/>
                </a:spcAft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286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14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18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3A39CFA-D74B-D91F-0554-665D5DAA4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9147" y="643467"/>
            <a:ext cx="8913705" cy="5571065"/>
          </a:xfrm>
          <a:prstGeom prst="rect">
            <a:avLst/>
          </a:prstGeom>
          <a:ln>
            <a:noFill/>
          </a:ln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587FE3-B9EB-4681-6DE2-E7E2EE14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040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823654D-CAA9-2335-775D-561B03DE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5400" b="1"/>
              <a:t>Prerequisite</a:t>
            </a:r>
            <a:endParaRPr lang="zh-TW" altLang="en-US" sz="5400" b="1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CE5216-CC83-368C-9DEA-102E5D3B6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zh-TW" sz="2200"/>
              <a:t>You have to follow the procedures listed in the </a:t>
            </a:r>
            <a:r>
              <a:rPr lang="en-US" altLang="zh-TW" sz="2200" b="1"/>
              <a:t>Environment Setup </a:t>
            </a:r>
            <a:r>
              <a:rPr lang="en-US" altLang="zh-TW" sz="2200"/>
              <a:t>section in document to set up your environment.</a:t>
            </a:r>
          </a:p>
          <a:p>
            <a:r>
              <a:rPr lang="en-US" altLang="zh-TW" sz="2200"/>
              <a:t>We will use </a:t>
            </a:r>
            <a:r>
              <a:rPr lang="en-US" altLang="zh-TW" sz="2200" b="1"/>
              <a:t>Docker</a:t>
            </a:r>
            <a:r>
              <a:rPr lang="en-US" altLang="zh-TW" sz="2200"/>
              <a:t> for 4/23 &amp; 4/24 programming assessment. Make sure you're familiar with basic Docker operations.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A1EF20-6DB4-CF28-55D6-028CA9A0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zh-TW" altLang="en-US" smtClean="0"/>
              <a:pPr>
                <a:spcAft>
                  <a:spcPts val="600"/>
                </a:spcAft>
              </a:pPr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733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1F459ED-3078-E48B-6354-7089937EF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5400" b="1"/>
              <a:t>Assessment</a:t>
            </a:r>
            <a:r>
              <a:rPr lang="en-US" altLang="zh-TW" sz="5400"/>
              <a:t> – </a:t>
            </a:r>
            <a:r>
              <a:rPr lang="en-US" altLang="zh-TW" sz="5400" b="1"/>
              <a:t>Mel Spectrogram</a:t>
            </a:r>
            <a:endParaRPr lang="zh-TW" altLang="en-US" sz="5400" b="1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9F494D-0C73-C462-032F-98A205CCB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zh-TW" sz="2200"/>
              <a:t>You will implement </a:t>
            </a:r>
            <a:r>
              <a:rPr lang="en-US" altLang="zh-TW" sz="2200" b="1"/>
              <a:t>exactly three functions</a:t>
            </a:r>
            <a:r>
              <a:rPr lang="en-US" altLang="zh-TW" sz="2200"/>
              <a:t> in the src/main.c, which are briefly introduced below.</a:t>
            </a:r>
          </a:p>
          <a:p>
            <a:pPr fontAlgn="base"/>
            <a:r>
              <a:rPr lang="en-US" altLang="zh-TW" sz="2200" b="1"/>
              <a:t>fft</a:t>
            </a:r>
            <a:r>
              <a:rPr lang="en-US" altLang="zh-TW" sz="2200"/>
              <a:t>: Compute the discrete Fourier transform of a complex signal in-place. Any correct algorithm is accepted.</a:t>
            </a:r>
          </a:p>
          <a:p>
            <a:pPr fontAlgn="base"/>
            <a:r>
              <a:rPr lang="en-US" altLang="zh-TW" sz="2200" b="1"/>
              <a:t>power_spectrum</a:t>
            </a:r>
            <a:r>
              <a:rPr lang="en-US" altLang="zh-TW" sz="2200"/>
              <a:t>: Compute the power at each frequency bin from the processed stft data.</a:t>
            </a:r>
          </a:p>
          <a:p>
            <a:pPr fontAlgn="base"/>
            <a:r>
              <a:rPr lang="en-US" altLang="zh-TW" sz="2200" b="1"/>
              <a:t>mel_filter_bank</a:t>
            </a:r>
            <a:r>
              <a:rPr lang="en-US" altLang="zh-TW" sz="2200"/>
              <a:t>: Apply the mel filter bank to the power spectrum.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F72F41-0869-9E79-C8AA-9D8C28C0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zh-TW" altLang="en-US" smtClean="0"/>
              <a:pPr>
                <a:spcAft>
                  <a:spcPts val="600"/>
                </a:spcAft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42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1790DE2-E0F1-1866-96B4-84BFFE7F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https://medium.com/data-science/getting-to-know-the-mel-spectrogram-31bca3e2d9d0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AF528EB-9943-08CC-A074-40FB197C5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718576"/>
            <a:ext cx="10905066" cy="43075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B901B-C0CD-1CE1-B42E-077E8E05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7</a:t>
            </a:fld>
            <a:endParaRPr lang="en-US" altLang="zh-TW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04C2E00-4B6D-B3EC-77F5-7ED95B92A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033" y="1718576"/>
            <a:ext cx="3005767" cy="300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4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D81B56-5DEB-134F-FE60-92FD8E81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8</a:t>
            </a:fld>
            <a:endParaRPr lang="en-US" altLang="zh-TW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81676DD-44D3-31D4-800C-DB1C404AF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214" y="643467"/>
            <a:ext cx="7119572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67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F99D97-F393-F47F-1586-67F890B3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9</a:t>
            </a:fld>
            <a:endParaRPr lang="en-US" altLang="zh-TW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636059FF-D80A-4833-F7DB-1D6720833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7550" y="643467"/>
            <a:ext cx="7096899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4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18AC5F-BD0E-E2E5-31C1-2822DF94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10</a:t>
            </a:fld>
            <a:endParaRPr lang="en-US" altLang="zh-TW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FE637C09-6A32-4366-F1E9-DBC3EDB92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9936" y="643467"/>
            <a:ext cx="6712127" cy="5571065"/>
          </a:xfrm>
          <a:prstGeom prst="rect">
            <a:avLst/>
          </a:prstGeom>
          <a:ln>
            <a:noFill/>
          </a:ln>
        </p:spPr>
      </p:pic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2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1ADB23-7937-BB1D-72C8-7F6D69BA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11</a:t>
            </a:fld>
            <a:endParaRPr lang="en-US" altLang="zh-TW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C7F6F56-B8F0-E2D0-C259-9746BB05F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7372" y="643467"/>
            <a:ext cx="6277256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2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EB80BD-5FA7-7839-9064-B928FFB0C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12</a:t>
            </a:fld>
            <a:endParaRPr lang="en-US" altLang="zh-TW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DB7C5AA-F498-4BFD-743D-CC3F4777D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8247" y="643467"/>
            <a:ext cx="6055506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09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E355A7-EF68-A510-0BB6-F8220DF8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13</a:t>
            </a:fld>
            <a:endParaRPr lang="en-US" altLang="zh-TW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2FDA6E1-8964-3C14-ECC4-0DFC61813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8996" y="643467"/>
            <a:ext cx="8074007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63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8BCF60-E51F-60D9-DADD-6EDC2633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14</a:t>
            </a:fld>
            <a:endParaRPr lang="en-US" altLang="zh-TW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A65BB7F-AD3D-1F09-4FAB-7537D6697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7199" y="643467"/>
            <a:ext cx="10817601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46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56533-B681-58E7-478B-FAC8AF104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643E1-83B8-F76F-08C6-5511466E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15</a:t>
            </a:fld>
            <a:endParaRPr lang="en-US" altLang="zh-TW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3FFA30C-1436-3A89-308E-6BE344D23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9449" y="643467"/>
            <a:ext cx="8473101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27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5CD20-DEEA-D3A3-E613-9D084DF37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97C037-924E-8347-85BC-1C3936950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en-US" altLang="zh-TW" smtClean="0"/>
              <a:pPr>
                <a:spcAft>
                  <a:spcPts val="600"/>
                </a:spcAft>
              </a:pPr>
              <a:t>16</a:t>
            </a:fld>
            <a:endParaRPr lang="en-US" altLang="zh-TW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39786DAC-399A-5450-66D3-B8734F7B2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9511" y="643467"/>
            <a:ext cx="6592977" cy="5571065"/>
          </a:xfrm>
          <a:prstGeom prst="rect">
            <a:avLst/>
          </a:prstGeom>
          <a:ln>
            <a:noFill/>
          </a:ln>
        </p:spPr>
      </p:pic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58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ECF841F-60CC-7F46-ABBA-D358DC472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altLang="zh-TW" sz="5400" b="1"/>
              <a:t>Scoring</a:t>
            </a:r>
            <a:endParaRPr lang="zh-TW" altLang="en-US" sz="5400">
              <a:latin typeface="Consolas" panose="020B0609020204030204" pitchFamily="49" charset="0"/>
              <a:cs typeface="Cascadia Mono" panose="020B0609020000020004" pitchFamily="49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63D5DF8-F361-0689-53AF-A766EAF66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55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B2D24E-A8F6-7D29-A9AC-8A86A4306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altLang="zh-TW" sz="2200"/>
              <a:t>Run </a:t>
            </a:r>
            <a:r>
              <a:rPr lang="en-US" altLang="zh-TW" sz="2200">
                <a:latin typeface="Consolas" panose="020B0609020204030204" pitchFamily="49" charset="0"/>
              </a:rPr>
              <a:t>make judge</a:t>
            </a:r>
            <a:r>
              <a:rPr lang="en-US" altLang="zh-TW" sz="2200"/>
              <a:t> to test your program, and get the total score.</a:t>
            </a:r>
          </a:p>
          <a:p>
            <a:r>
              <a:rPr lang="en-US" altLang="zh-TW" sz="2200"/>
              <a:t>PA2 has a total of </a:t>
            </a:r>
            <a:r>
              <a:rPr lang="en-US" altLang="zh-TW" sz="2200" b="1"/>
              <a:t>140 points</a:t>
            </a:r>
            <a:r>
              <a:rPr lang="en-US" altLang="zh-TW" sz="2200"/>
              <a:t>, 60 points for correctness and 80 points for performance.</a:t>
            </a:r>
          </a:p>
          <a:p>
            <a:r>
              <a:rPr lang="en-US" altLang="zh-TW" sz="2200"/>
              <a:t> Performance points are awarded only if the corresponding correctness test passes.</a:t>
            </a:r>
          </a:p>
          <a:p>
            <a:endParaRPr lang="zh-TW" altLang="en-US" sz="22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F893D6-102A-543D-5982-9E7605A5C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2978" y="6356350"/>
            <a:ext cx="130082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zh-TW" altLang="en-US" smtClean="0"/>
              <a:pPr>
                <a:spcAft>
                  <a:spcPts val="600"/>
                </a:spcAft>
              </a:pPr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539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FEF7F45-EDA7-00F3-EFCC-3008C27F7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5400" b="1"/>
              <a:t>Important</a:t>
            </a:r>
            <a:r>
              <a:rPr lang="zh-TW" altLang="en-US" sz="5400" b="1"/>
              <a:t> </a:t>
            </a:r>
            <a:r>
              <a:rPr lang="en-US" altLang="zh-TW" sz="5400" b="1"/>
              <a:t>Notes</a:t>
            </a:r>
            <a:endParaRPr lang="zh-TW" altLang="en-US" sz="5400" b="1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D5856B-CB23-DD53-C1EE-759D5EF37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zh-TW" sz="2200" dirty="0"/>
              <a:t>The computers in the exam environment will use </a:t>
            </a:r>
            <a:r>
              <a:rPr lang="en-US" altLang="zh-TW" sz="2200" b="1" dirty="0"/>
              <a:t>Ubuntu</a:t>
            </a:r>
            <a:r>
              <a:rPr lang="en-US" altLang="zh-TW" sz="2200" dirty="0"/>
              <a:t>. We will provide </a:t>
            </a:r>
            <a:r>
              <a:rPr lang="en-US" altLang="zh-TW" sz="2200" b="1" dirty="0" err="1"/>
              <a:t>VSCode</a:t>
            </a:r>
            <a:r>
              <a:rPr lang="en-US" altLang="zh-TW" sz="2200" dirty="0"/>
              <a:t> for students to use, the </a:t>
            </a:r>
            <a:r>
              <a:rPr lang="en-US" altLang="zh-TW" sz="2200" b="1" dirty="0"/>
              <a:t>container</a:t>
            </a:r>
            <a:r>
              <a:rPr lang="en-US" altLang="zh-TW" sz="2200" dirty="0"/>
              <a:t> will be pre-loaded, and no additional extensions will be installed.</a:t>
            </a:r>
          </a:p>
          <a:p>
            <a:r>
              <a:rPr lang="en-US" altLang="zh-TW" sz="2200" dirty="0"/>
              <a:t>During the computer-based exam:</a:t>
            </a:r>
          </a:p>
          <a:p>
            <a:pPr lvl="1"/>
            <a:r>
              <a:rPr lang="en-US" altLang="zh-TW" sz="2200" dirty="0"/>
              <a:t>No entry is allowed </a:t>
            </a:r>
            <a:r>
              <a:rPr lang="en-US" altLang="zh-TW" sz="2200" b="1" dirty="0"/>
              <a:t>15 minutes</a:t>
            </a:r>
            <a:r>
              <a:rPr lang="en-US" altLang="zh-TW" sz="2200" dirty="0"/>
              <a:t> after the Quiz2 and PA2 begins.</a:t>
            </a:r>
          </a:p>
          <a:p>
            <a:pPr lvl="1"/>
            <a:r>
              <a:rPr lang="en-US" altLang="zh-TW" sz="2200" dirty="0"/>
              <a:t>The network need to be completely disconnected.</a:t>
            </a:r>
          </a:p>
          <a:p>
            <a:pPr lvl="1"/>
            <a:r>
              <a:rPr lang="en-US" altLang="zh-TW" sz="2200" dirty="0"/>
              <a:t>You may only access the NCKU Moodle while uploading your submission.</a:t>
            </a:r>
          </a:p>
          <a:p>
            <a:pPr lvl="1"/>
            <a:r>
              <a:rPr lang="en-US" altLang="zh-TW" sz="2200" dirty="0"/>
              <a:t>The use of USB/external devices, cheat sheets, paper notes, or any AI tools is strictly prohibited.</a:t>
            </a:r>
          </a:p>
          <a:p>
            <a:pPr lvl="1"/>
            <a:r>
              <a:rPr lang="en-US" altLang="zh-TW" sz="2200" dirty="0"/>
              <a:t>Violations of the above rules will be regarded as cheating, and the exam score will be recorded as </a:t>
            </a:r>
            <a:r>
              <a:rPr lang="en-US" altLang="zh-TW" sz="2200" b="1" u="sng" dirty="0"/>
              <a:t>0</a:t>
            </a:r>
            <a:r>
              <a:rPr lang="en-US" altLang="zh-TW" sz="2200" dirty="0"/>
              <a:t>.</a:t>
            </a:r>
          </a:p>
          <a:p>
            <a:pPr lvl="1"/>
            <a:r>
              <a:rPr lang="en-US" altLang="zh-TW" sz="2200" dirty="0"/>
              <a:t>There will be no hint provided during the exam.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5F6B32-DDED-2219-D81B-1DB7EDA7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zh-TW" altLang="en-US" smtClean="0"/>
              <a:pPr>
                <a:spcAft>
                  <a:spcPts val="600"/>
                </a:spcAft>
              </a:pPr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7080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8D651DB-0464-7CA2-4144-DFB5203A1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altLang="zh-TW" sz="5400" b="1" dirty="0"/>
              <a:t>Submission Rules</a:t>
            </a:r>
            <a:endParaRPr lang="zh-TW" altLang="en-US" sz="54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920E4D-8EE9-579F-F2A6-26ED32D8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B33C46D-CB0F-4644-9DD9-8F746F034205}" type="slidenum">
              <a:rPr lang="zh-TW" altLang="en-US" smtClean="0"/>
              <a:pPr>
                <a:spcAft>
                  <a:spcPts val="600"/>
                </a:spcAft>
              </a:pPr>
              <a:t>19</a:t>
            </a:fld>
            <a:endParaRPr lang="zh-TW" altLang="en-US"/>
          </a:p>
        </p:txBody>
      </p:sp>
      <p:graphicFrame>
        <p:nvGraphicFramePr>
          <p:cNvPr id="16" name="內容版面配置區 2">
            <a:extLst>
              <a:ext uri="{FF2B5EF4-FFF2-40B4-BE49-F238E27FC236}">
                <a16:creationId xmlns:a16="http://schemas.microsoft.com/office/drawing/2014/main" id="{EA59AB59-2870-7162-9DCF-69C17CE8AB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5585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8850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842FA65-9ADB-CA39-2DCD-9C0223A2AF81}"/>
              </a:ext>
            </a:extLst>
          </p:cNvPr>
          <p:cNvSpPr/>
          <p:nvPr/>
        </p:nvSpPr>
        <p:spPr>
          <a:xfrm>
            <a:off x="2764354" y="1884381"/>
            <a:ext cx="3728809" cy="267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7061CA5-CD3F-BEA3-478D-2B963E69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Contact Information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333E19-7257-F3D1-1EDD-0608598D2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Please email asrlab@mail.csie.ncku.edu.tw with any assessment issue or grading question before </a:t>
            </a:r>
            <a:r>
              <a:rPr lang="en-US" altLang="zh-TW" sz="2400" b="1" dirty="0"/>
              <a:t>12:00PM on April 21, 2026</a:t>
            </a:r>
            <a:r>
              <a:rPr lang="en-US" altLang="zh-TW" sz="2400" dirty="0"/>
              <a:t>, email subject starts with [Comp2026].</a:t>
            </a:r>
          </a:p>
          <a:p>
            <a:r>
              <a:rPr lang="en-US" altLang="zh-TW" sz="2400" dirty="0"/>
              <a:t>Office Hours: Wednesdays 11:30–13:00, Room 65704, </a:t>
            </a:r>
            <a:r>
              <a:rPr lang="en-US" altLang="zh-TW" sz="2400" dirty="0" err="1"/>
              <a:t>ASRLab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35D262-F830-8E3B-E413-D667E02E3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3C46D-CB0F-4644-9DD9-8F746F034205}" type="slidenum">
              <a:rPr lang="zh-TW" altLang="en-US" smtClean="0"/>
              <a:t>20</a:t>
            </a:fld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94820829-4F3B-BA10-69EA-66B65F3A0363}"/>
              </a:ext>
            </a:extLst>
          </p:cNvPr>
          <p:cNvGrpSpPr/>
          <p:nvPr/>
        </p:nvGrpSpPr>
        <p:grpSpPr>
          <a:xfrm>
            <a:off x="838200" y="4001294"/>
            <a:ext cx="10504708" cy="1645750"/>
            <a:chOff x="838200" y="4962676"/>
            <a:chExt cx="10504708" cy="1645750"/>
          </a:xfrm>
        </p:grpSpPr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D95C2F1B-3C47-A369-10BA-B52A34CDAF2F}"/>
                </a:ext>
              </a:extLst>
            </p:cNvPr>
            <p:cNvCxnSpPr>
              <a:cxnSpLocks/>
            </p:cNvCxnSpPr>
            <p:nvPr/>
          </p:nvCxnSpPr>
          <p:spPr>
            <a:xfrm>
              <a:off x="980020" y="5355409"/>
              <a:ext cx="0" cy="777263"/>
            </a:xfrm>
            <a:prstGeom prst="line">
              <a:avLst/>
            </a:prstGeom>
            <a:ln w="19050" cap="rnd"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2A356031-C57E-8DB9-C992-5CB2CF23364D}"/>
                </a:ext>
              </a:extLst>
            </p:cNvPr>
            <p:cNvCxnSpPr>
              <a:cxnSpLocks/>
            </p:cNvCxnSpPr>
            <p:nvPr/>
          </p:nvCxnSpPr>
          <p:spPr>
            <a:xfrm>
              <a:off x="5015820" y="5355409"/>
              <a:ext cx="0" cy="777263"/>
            </a:xfrm>
            <a:prstGeom prst="line">
              <a:avLst/>
            </a:prstGeom>
            <a:ln w="19050" cap="rnd"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32FDCED2-E619-1E55-248D-26C70A53C967}"/>
                </a:ext>
              </a:extLst>
            </p:cNvPr>
            <p:cNvSpPr/>
            <p:nvPr/>
          </p:nvSpPr>
          <p:spPr>
            <a:xfrm>
              <a:off x="838200" y="5590261"/>
              <a:ext cx="4326213" cy="27783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309BB48-5BBF-AD5B-08E1-9C94C214D99D}"/>
                </a:ext>
              </a:extLst>
            </p:cNvPr>
            <p:cNvGrpSpPr/>
            <p:nvPr/>
          </p:nvGrpSpPr>
          <p:grpSpPr>
            <a:xfrm>
              <a:off x="879819" y="5628297"/>
              <a:ext cx="201758" cy="201758"/>
              <a:chOff x="1722543" y="4976495"/>
              <a:chExt cx="135890" cy="135890"/>
            </a:xfrm>
          </p:grpSpPr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9A36913A-B6C9-CCC6-B9BC-5BE06ABCBC58}"/>
                  </a:ext>
                </a:extLst>
              </p:cNvPr>
              <p:cNvSpPr/>
              <p:nvPr/>
            </p:nvSpPr>
            <p:spPr>
              <a:xfrm>
                <a:off x="1722543" y="4976495"/>
                <a:ext cx="135890" cy="135890"/>
              </a:xfrm>
              <a:prstGeom prst="ellipse">
                <a:avLst/>
              </a:prstGeom>
              <a:solidFill>
                <a:srgbClr val="FFD54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117D5D11-2E7B-3D9B-E22D-282F19C74E31}"/>
                  </a:ext>
                </a:extLst>
              </p:cNvPr>
              <p:cNvSpPr/>
              <p:nvPr/>
            </p:nvSpPr>
            <p:spPr>
              <a:xfrm>
                <a:off x="1750773" y="5004725"/>
                <a:ext cx="79430" cy="79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8C9BE674-EC8A-4A22-C2B5-02C4194B8005}"/>
                </a:ext>
              </a:extLst>
            </p:cNvPr>
            <p:cNvGrpSpPr/>
            <p:nvPr/>
          </p:nvGrpSpPr>
          <p:grpSpPr>
            <a:xfrm>
              <a:off x="4915899" y="5628297"/>
              <a:ext cx="201758" cy="201758"/>
              <a:chOff x="1722543" y="4976495"/>
              <a:chExt cx="135890" cy="135890"/>
            </a:xfrm>
          </p:grpSpPr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0B1B4C7F-7ADE-E0B3-476D-AF0ABCCA6D11}"/>
                  </a:ext>
                </a:extLst>
              </p:cNvPr>
              <p:cNvSpPr/>
              <p:nvPr/>
            </p:nvSpPr>
            <p:spPr>
              <a:xfrm>
                <a:off x="1722543" y="4976495"/>
                <a:ext cx="135890" cy="135890"/>
              </a:xfrm>
              <a:prstGeom prst="ellipse">
                <a:avLst/>
              </a:prstGeom>
              <a:solidFill>
                <a:srgbClr val="FFD54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1" name="橢圓 20">
                <a:extLst>
                  <a:ext uri="{FF2B5EF4-FFF2-40B4-BE49-F238E27FC236}">
                    <a16:creationId xmlns:a16="http://schemas.microsoft.com/office/drawing/2014/main" id="{B09AAE4A-DA22-BD3B-AF4F-C5471617342F}"/>
                  </a:ext>
                </a:extLst>
              </p:cNvPr>
              <p:cNvSpPr/>
              <p:nvPr/>
            </p:nvSpPr>
            <p:spPr>
              <a:xfrm>
                <a:off x="1750773" y="5004725"/>
                <a:ext cx="79430" cy="79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825A2735-F7F8-B9C3-1A79-7C72555425FB}"/>
                </a:ext>
              </a:extLst>
            </p:cNvPr>
            <p:cNvSpPr/>
            <p:nvPr/>
          </p:nvSpPr>
          <p:spPr>
            <a:xfrm>
              <a:off x="5264331" y="5590261"/>
              <a:ext cx="3220905" cy="277830"/>
            </a:xfrm>
            <a:prstGeom prst="roundRect">
              <a:avLst>
                <a:gd name="adj" fmla="val 50000"/>
              </a:avLst>
            </a:prstGeom>
            <a:solidFill>
              <a:srgbClr val="FFE5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3E3BD506-869E-AEC0-EF46-FB4D65E0803D}"/>
                </a:ext>
              </a:extLst>
            </p:cNvPr>
            <p:cNvSpPr/>
            <p:nvPr/>
          </p:nvSpPr>
          <p:spPr>
            <a:xfrm>
              <a:off x="921731" y="6187245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9CB438B2-E2D8-6361-48ED-3B8CD4243E2E}"/>
                </a:ext>
              </a:extLst>
            </p:cNvPr>
            <p:cNvSpPr/>
            <p:nvPr/>
          </p:nvSpPr>
          <p:spPr>
            <a:xfrm>
              <a:off x="921731" y="5177111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7DAA96C-87EE-5945-DF71-F36F11885BE5}"/>
                </a:ext>
              </a:extLst>
            </p:cNvPr>
            <p:cNvSpPr/>
            <p:nvPr/>
          </p:nvSpPr>
          <p:spPr>
            <a:xfrm>
              <a:off x="4955898" y="5177111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857DCC47-39CF-30C4-C646-253C9352E79B}"/>
                </a:ext>
              </a:extLst>
            </p:cNvPr>
            <p:cNvSpPr/>
            <p:nvPr/>
          </p:nvSpPr>
          <p:spPr>
            <a:xfrm>
              <a:off x="4955898" y="6187245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/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7EA7EE82-143F-B7DD-7B46-8FB35E50864D}"/>
                </a:ext>
              </a:extLst>
            </p:cNvPr>
            <p:cNvSpPr txBox="1"/>
            <p:nvPr/>
          </p:nvSpPr>
          <p:spPr>
            <a:xfrm>
              <a:off x="1038029" y="4962679"/>
              <a:ext cx="1560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/>
                <a:t>4/10 09:00</a:t>
              </a:r>
              <a:endParaRPr lang="zh-TW" altLang="en-US" sz="2400" b="1" dirty="0"/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E01BF7B-3401-3884-2459-4AA84DACDE56}"/>
                </a:ext>
              </a:extLst>
            </p:cNvPr>
            <p:cNvSpPr txBox="1"/>
            <p:nvPr/>
          </p:nvSpPr>
          <p:spPr>
            <a:xfrm>
              <a:off x="1037814" y="6085206"/>
              <a:ext cx="1392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/>
                <a:t>Problem release</a:t>
              </a:r>
              <a:endParaRPr lang="zh-TW" altLang="en-US" sz="1400" b="1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640A1930-2A6A-832D-7ABC-1664DF92C036}"/>
                </a:ext>
              </a:extLst>
            </p:cNvPr>
            <p:cNvSpPr txBox="1"/>
            <p:nvPr/>
          </p:nvSpPr>
          <p:spPr>
            <a:xfrm>
              <a:off x="5073830" y="4962676"/>
              <a:ext cx="32896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/>
                <a:t>4/23 09:00 &amp; 4/24 17:00</a:t>
              </a:r>
              <a:endParaRPr lang="zh-TW" altLang="en-US" sz="2400" b="1" dirty="0"/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4BB8D250-BDBF-68B2-F776-5A25670B893E}"/>
                </a:ext>
              </a:extLst>
            </p:cNvPr>
            <p:cNvSpPr txBox="1"/>
            <p:nvPr/>
          </p:nvSpPr>
          <p:spPr>
            <a:xfrm>
              <a:off x="5073828" y="6085206"/>
              <a:ext cx="18598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/>
                <a:t>09:00 – 09:30 Quiz1 &amp;</a:t>
              </a:r>
            </a:p>
            <a:p>
              <a:r>
                <a:rPr lang="en-US" altLang="zh-TW" sz="1400" b="1" dirty="0"/>
                <a:t>09:30 – 13:00 PA1</a:t>
              </a: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99F38B0B-D76B-D9A2-1BA7-3B46E3DFD54F}"/>
                </a:ext>
              </a:extLst>
            </p:cNvPr>
            <p:cNvSpPr/>
            <p:nvPr/>
          </p:nvSpPr>
          <p:spPr>
            <a:xfrm>
              <a:off x="8585154" y="5586255"/>
              <a:ext cx="2757754" cy="277830"/>
            </a:xfrm>
            <a:prstGeom prst="roundRect">
              <a:avLst>
                <a:gd name="adj" fmla="val 50000"/>
              </a:avLst>
            </a:prstGeom>
            <a:solidFill>
              <a:srgbClr val="EBD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65EFAF66-E232-7524-0D97-ED76D0BE3D0C}"/>
                </a:ext>
              </a:extLst>
            </p:cNvPr>
            <p:cNvCxnSpPr>
              <a:cxnSpLocks/>
            </p:cNvCxnSpPr>
            <p:nvPr/>
          </p:nvCxnSpPr>
          <p:spPr>
            <a:xfrm>
              <a:off x="8342544" y="5355409"/>
              <a:ext cx="0" cy="777263"/>
            </a:xfrm>
            <a:prstGeom prst="line">
              <a:avLst/>
            </a:prstGeom>
            <a:ln w="19050" cap="rnd">
              <a:solidFill>
                <a:srgbClr val="FF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B299D605-EE04-F843-2E64-34529FEA5F4D}"/>
                </a:ext>
              </a:extLst>
            </p:cNvPr>
            <p:cNvGrpSpPr/>
            <p:nvPr/>
          </p:nvGrpSpPr>
          <p:grpSpPr>
            <a:xfrm>
              <a:off x="8242623" y="5628297"/>
              <a:ext cx="201758" cy="201758"/>
              <a:chOff x="1722543" y="4976495"/>
              <a:chExt cx="135890" cy="135890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12BE6446-F1BD-2040-1861-810A8B2FB6CA}"/>
                  </a:ext>
                </a:extLst>
              </p:cNvPr>
              <p:cNvSpPr/>
              <p:nvPr/>
            </p:nvSpPr>
            <p:spPr>
              <a:xfrm>
                <a:off x="1722543" y="4976495"/>
                <a:ext cx="135890" cy="135890"/>
              </a:xfrm>
              <a:prstGeom prst="ellipse">
                <a:avLst/>
              </a:prstGeom>
              <a:solidFill>
                <a:srgbClr val="FF717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D491BF5A-355C-B6D8-210A-3DB0B55A8685}"/>
                  </a:ext>
                </a:extLst>
              </p:cNvPr>
              <p:cNvSpPr/>
              <p:nvPr/>
            </p:nvSpPr>
            <p:spPr>
              <a:xfrm>
                <a:off x="1750773" y="5004725"/>
                <a:ext cx="79430" cy="79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69CE732C-5F2A-F348-A93B-75901A03C700}"/>
                </a:ext>
              </a:extLst>
            </p:cNvPr>
            <p:cNvSpPr/>
            <p:nvPr/>
          </p:nvSpPr>
          <p:spPr>
            <a:xfrm>
              <a:off x="8282622" y="5177111"/>
              <a:ext cx="119846" cy="119846"/>
            </a:xfrm>
            <a:prstGeom prst="ellipse">
              <a:avLst/>
            </a:prstGeom>
            <a:solidFill>
              <a:srgbClr val="FF71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177CA6D-E5A0-7006-D52B-2C12314264CC}"/>
                </a:ext>
              </a:extLst>
            </p:cNvPr>
            <p:cNvSpPr/>
            <p:nvPr/>
          </p:nvSpPr>
          <p:spPr>
            <a:xfrm>
              <a:off x="8282622" y="6187245"/>
              <a:ext cx="119846" cy="119846"/>
            </a:xfrm>
            <a:prstGeom prst="ellipse">
              <a:avLst/>
            </a:prstGeom>
            <a:solidFill>
              <a:srgbClr val="FF71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C5FD9187-BC52-4E0F-3C29-8755BA2F8A6B}"/>
                </a:ext>
              </a:extLst>
            </p:cNvPr>
            <p:cNvSpPr txBox="1"/>
            <p:nvPr/>
          </p:nvSpPr>
          <p:spPr>
            <a:xfrm>
              <a:off x="8400552" y="6080238"/>
              <a:ext cx="10382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/>
                <a:t>Post grades</a:t>
              </a: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5FBCCB54-0964-6B77-9749-2B8EE6A7387D}"/>
                </a:ext>
              </a:extLst>
            </p:cNvPr>
            <p:cNvSpPr txBox="1"/>
            <p:nvPr/>
          </p:nvSpPr>
          <p:spPr>
            <a:xfrm>
              <a:off x="8400552" y="4962676"/>
              <a:ext cx="1560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/>
                <a:t>4/27 12:00</a:t>
              </a:r>
              <a:endParaRPr lang="zh-TW" altLang="en-US" sz="2400" b="1" dirty="0"/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1132D06E-E523-AA5D-31DA-B0F3E35EC3AF}"/>
                </a:ext>
              </a:extLst>
            </p:cNvPr>
            <p:cNvCxnSpPr>
              <a:cxnSpLocks/>
            </p:cNvCxnSpPr>
            <p:nvPr/>
          </p:nvCxnSpPr>
          <p:spPr>
            <a:xfrm>
              <a:off x="3215336" y="5355409"/>
              <a:ext cx="0" cy="777263"/>
            </a:xfrm>
            <a:prstGeom prst="line">
              <a:avLst/>
            </a:prstGeom>
            <a:ln w="19050" cap="rnd"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1DEE6E26-51D0-2EF2-9356-E268EB6383D8}"/>
                </a:ext>
              </a:extLst>
            </p:cNvPr>
            <p:cNvGrpSpPr/>
            <p:nvPr/>
          </p:nvGrpSpPr>
          <p:grpSpPr>
            <a:xfrm>
              <a:off x="3115415" y="5628297"/>
              <a:ext cx="201758" cy="201758"/>
              <a:chOff x="1722543" y="4976495"/>
              <a:chExt cx="135890" cy="135890"/>
            </a:xfrm>
          </p:grpSpPr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9D8113AC-3EBF-AFF7-C835-8226EA038AFE}"/>
                  </a:ext>
                </a:extLst>
              </p:cNvPr>
              <p:cNvSpPr/>
              <p:nvPr/>
            </p:nvSpPr>
            <p:spPr>
              <a:xfrm>
                <a:off x="1722543" y="4976495"/>
                <a:ext cx="135890" cy="135890"/>
              </a:xfrm>
              <a:prstGeom prst="ellipse">
                <a:avLst/>
              </a:prstGeom>
              <a:solidFill>
                <a:srgbClr val="FFD54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4" name="橢圓 13">
                <a:extLst>
                  <a:ext uri="{FF2B5EF4-FFF2-40B4-BE49-F238E27FC236}">
                    <a16:creationId xmlns:a16="http://schemas.microsoft.com/office/drawing/2014/main" id="{3BC6C429-3706-308F-F2B5-B809C24DA2B7}"/>
                  </a:ext>
                </a:extLst>
              </p:cNvPr>
              <p:cNvSpPr/>
              <p:nvPr/>
            </p:nvSpPr>
            <p:spPr>
              <a:xfrm>
                <a:off x="1750773" y="5004725"/>
                <a:ext cx="79430" cy="79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339B7AD0-3219-8D64-27EC-2A3BF4199EE4}"/>
                </a:ext>
              </a:extLst>
            </p:cNvPr>
            <p:cNvSpPr/>
            <p:nvPr/>
          </p:nvSpPr>
          <p:spPr>
            <a:xfrm>
              <a:off x="3155414" y="5177111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4DA12C12-CD74-AA3C-5EF1-504D2D4081CF}"/>
                </a:ext>
              </a:extLst>
            </p:cNvPr>
            <p:cNvSpPr/>
            <p:nvPr/>
          </p:nvSpPr>
          <p:spPr>
            <a:xfrm>
              <a:off x="3155414" y="6187245"/>
              <a:ext cx="119846" cy="119846"/>
            </a:xfrm>
            <a:prstGeom prst="ellipse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F796F233-0CB5-DF5F-B131-AD134470EDAD}"/>
                </a:ext>
              </a:extLst>
            </p:cNvPr>
            <p:cNvSpPr txBox="1"/>
            <p:nvPr/>
          </p:nvSpPr>
          <p:spPr>
            <a:xfrm>
              <a:off x="3267113" y="4962676"/>
              <a:ext cx="1560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b="1" dirty="0"/>
                <a:t>4/21</a:t>
              </a:r>
              <a:r>
                <a:rPr lang="zh-TW" altLang="en-US" sz="2400" b="1" dirty="0"/>
                <a:t> </a:t>
              </a:r>
              <a:r>
                <a:rPr lang="en-US" altLang="zh-TW" sz="2400" b="1" dirty="0"/>
                <a:t>12:00</a:t>
              </a:r>
              <a:endParaRPr lang="zh-TW" altLang="en-US" sz="2400" b="1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21A38EC-9A93-2C61-6F68-B2DFF44B5626}"/>
                </a:ext>
              </a:extLst>
            </p:cNvPr>
            <p:cNvSpPr txBox="1"/>
            <p:nvPr/>
          </p:nvSpPr>
          <p:spPr>
            <a:xfrm>
              <a:off x="3273129" y="6085206"/>
              <a:ext cx="17067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/>
                <a:t>Email reply deadline</a:t>
              </a:r>
              <a:endParaRPr lang="zh-TW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64989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2519F6-F9FF-484D-B5D7-425FDDCCC0DE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20740</TotalTime>
  <Words>578</Words>
  <Application>Microsoft Office PowerPoint</Application>
  <PresentationFormat>寬螢幕</PresentationFormat>
  <Paragraphs>82</Paragraphs>
  <Slides>20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Office 佈景主題</vt:lpstr>
      <vt:lpstr>Computer Organization 2026 Quiz 2 &amp; Programming Assessment II</vt:lpstr>
      <vt:lpstr>Quiz2 Overview</vt:lpstr>
      <vt:lpstr>PA2 Overview</vt:lpstr>
      <vt:lpstr>PowerPoint 簡報</vt:lpstr>
      <vt:lpstr>Prerequisite</vt:lpstr>
      <vt:lpstr>Assessment – Mel Spectrogram</vt:lpstr>
      <vt:lpstr>https://medium.com/data-science/getting-to-know-the-mel-spectrogram-31bca3e2d9d0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Scoring</vt:lpstr>
      <vt:lpstr>Important Notes</vt:lpstr>
      <vt:lpstr>Submission Rules</vt:lpstr>
      <vt:lpstr>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Chieh Yu</dc:creator>
  <cp:lastModifiedBy>黃泓昌 HUANG,HONG-CHANG</cp:lastModifiedBy>
  <cp:revision>276</cp:revision>
  <dcterms:created xsi:type="dcterms:W3CDTF">2026-02-10T13:03:00Z</dcterms:created>
  <dcterms:modified xsi:type="dcterms:W3CDTF">2026-04-09T08:29:32Z</dcterms:modified>
</cp:coreProperties>
</file>